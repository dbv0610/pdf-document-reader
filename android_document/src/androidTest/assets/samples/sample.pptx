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ahianita" charset="1" panose="00000500000000000000"/>
      <p:regular r:id="rId16"/>
    </p:embeddedFont>
    <p:embeddedFont>
      <p:font typeface="Montserrat Bold" charset="1" panose="00000800000000000000"/>
      <p:regular r:id="rId17"/>
    </p:embeddedFont>
    <p:embeddedFont>
      <p:font typeface="Montserrat" charset="1" panose="00000500000000000000"/>
      <p:regular r:id="rId18"/>
    </p:embeddedFont>
    <p:embeddedFont>
      <p:font typeface="Bricolage Grotesque Bold" charset="1" panose="020B0605040402000204"/>
      <p:regular r:id="rId19"/>
    </p:embeddedFont>
    <p:embeddedFont>
      <p:font typeface="Bricolage Grotesque" charset="1" panose="020B060504040200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7333"/>
            </a:stretch>
          </a:blipFill>
        </p:spPr>
      </p:sp>
      <p:sp>
        <p:nvSpPr>
          <p:cNvPr name="TextBox 3" id="3"/>
          <p:cNvSpPr txBox="true"/>
          <p:nvPr/>
        </p:nvSpPr>
        <p:spPr>
          <a:xfrm rot="0">
            <a:off x="1813597" y="133350"/>
            <a:ext cx="10533974" cy="8071291"/>
          </a:xfrm>
          <a:prstGeom prst="rect">
            <a:avLst/>
          </a:prstGeom>
        </p:spPr>
        <p:txBody>
          <a:bodyPr anchor="t" rtlCol="false" tIns="0" lIns="0" bIns="0" rIns="0">
            <a:spAutoFit/>
          </a:bodyPr>
          <a:lstStyle/>
          <a:p>
            <a:pPr algn="l">
              <a:lnSpc>
                <a:spcPts val="65950"/>
              </a:lnSpc>
            </a:pPr>
            <a:r>
              <a:rPr lang="en-US" sz="47107">
                <a:solidFill>
                  <a:srgbClr val="FFFFFF"/>
                </a:solidFill>
                <a:latin typeface="Bahianita"/>
                <a:ea typeface="Bahianita"/>
                <a:cs typeface="Bahianita"/>
                <a:sym typeface="Bahianita"/>
              </a:rPr>
              <a:t>VIỆT </a:t>
            </a:r>
          </a:p>
        </p:txBody>
      </p:sp>
      <p:sp>
        <p:nvSpPr>
          <p:cNvPr name="TextBox 4" id="4"/>
          <p:cNvSpPr txBox="true"/>
          <p:nvPr/>
        </p:nvSpPr>
        <p:spPr>
          <a:xfrm rot="0">
            <a:off x="3622846" y="8651875"/>
            <a:ext cx="11042308" cy="606425"/>
          </a:xfrm>
          <a:prstGeom prst="rect">
            <a:avLst/>
          </a:prstGeom>
        </p:spPr>
        <p:txBody>
          <a:bodyPr anchor="t" rtlCol="false" tIns="0" lIns="0" bIns="0" rIns="0">
            <a:spAutoFit/>
          </a:bodyPr>
          <a:lstStyle/>
          <a:p>
            <a:pPr algn="ctr">
              <a:lnSpc>
                <a:spcPts val="4900"/>
              </a:lnSpc>
              <a:spcBef>
                <a:spcPct val="0"/>
              </a:spcBef>
            </a:pPr>
            <a:r>
              <a:rPr lang="en-US" b="true" sz="3500">
                <a:solidFill>
                  <a:srgbClr val="FFF3B5"/>
                </a:solidFill>
                <a:latin typeface="Montserrat Bold"/>
                <a:ea typeface="Montserrat Bold"/>
                <a:cs typeface="Montserrat Bold"/>
                <a:sym typeface="Montserrat Bold"/>
              </a:rPr>
              <a:t>HÀNH TRÌNH KHÁM PHÁ DI SẢN</a:t>
            </a:r>
          </a:p>
        </p:txBody>
      </p:sp>
      <p:sp>
        <p:nvSpPr>
          <p:cNvPr name="TextBox 5" id="5"/>
          <p:cNvSpPr txBox="true"/>
          <p:nvPr/>
        </p:nvSpPr>
        <p:spPr>
          <a:xfrm rot="0">
            <a:off x="6083300" y="133350"/>
            <a:ext cx="10533974" cy="8071291"/>
          </a:xfrm>
          <a:prstGeom prst="rect">
            <a:avLst/>
          </a:prstGeom>
        </p:spPr>
        <p:txBody>
          <a:bodyPr anchor="t" rtlCol="false" tIns="0" lIns="0" bIns="0" rIns="0">
            <a:spAutoFit/>
          </a:bodyPr>
          <a:lstStyle/>
          <a:p>
            <a:pPr algn="r">
              <a:lnSpc>
                <a:spcPts val="65950"/>
              </a:lnSpc>
            </a:pPr>
            <a:r>
              <a:rPr lang="en-US" sz="47107">
                <a:solidFill>
                  <a:srgbClr val="FFFFFF"/>
                </a:solidFill>
                <a:latin typeface="Bahianita"/>
                <a:ea typeface="Bahianita"/>
                <a:cs typeface="Bahianita"/>
                <a:sym typeface="Bahianita"/>
              </a:rPr>
              <a:t>NAM</a:t>
            </a:r>
          </a:p>
        </p:txBody>
      </p:sp>
      <p:sp>
        <p:nvSpPr>
          <p:cNvPr name="TextBox 6" id="6"/>
          <p:cNvSpPr txBox="true"/>
          <p:nvPr/>
        </p:nvSpPr>
        <p:spPr>
          <a:xfrm rot="0">
            <a:off x="1713508" y="1803400"/>
            <a:ext cx="3915590" cy="412750"/>
          </a:xfrm>
          <a:prstGeom prst="rect">
            <a:avLst/>
          </a:prstGeom>
        </p:spPr>
        <p:txBody>
          <a:bodyPr anchor="t" rtlCol="false" tIns="0" lIns="0" bIns="0" rIns="0">
            <a:spAutoFit/>
          </a:bodyPr>
          <a:lstStyle/>
          <a:p>
            <a:pPr algn="l">
              <a:lnSpc>
                <a:spcPts val="3499"/>
              </a:lnSpc>
              <a:spcBef>
                <a:spcPct val="0"/>
              </a:spcBef>
            </a:pPr>
            <a:r>
              <a:rPr lang="en-US" b="true" sz="2499">
                <a:solidFill>
                  <a:srgbClr val="FFFFFF"/>
                </a:solidFill>
                <a:latin typeface="Montserrat Bold"/>
                <a:ea typeface="Montserrat Bold"/>
                <a:cs typeface="Montserrat Bold"/>
                <a:sym typeface="Montserrat Bold"/>
              </a:rPr>
              <a:t>Cẩm nang du lịch</a:t>
            </a:r>
          </a:p>
        </p:txBody>
      </p:sp>
      <p:sp>
        <p:nvSpPr>
          <p:cNvPr name="TextBox 7" id="7"/>
          <p:cNvSpPr txBox="true"/>
          <p:nvPr/>
        </p:nvSpPr>
        <p:spPr>
          <a:xfrm rot="0">
            <a:off x="12701684" y="1803400"/>
            <a:ext cx="3915590" cy="412750"/>
          </a:xfrm>
          <a:prstGeom prst="rect">
            <a:avLst/>
          </a:prstGeom>
        </p:spPr>
        <p:txBody>
          <a:bodyPr anchor="t" rtlCol="false" tIns="0" lIns="0" bIns="0" rIns="0">
            <a:spAutoFit/>
          </a:bodyPr>
          <a:lstStyle/>
          <a:p>
            <a:pPr algn="r">
              <a:lnSpc>
                <a:spcPts val="3499"/>
              </a:lnSpc>
              <a:spcBef>
                <a:spcPct val="0"/>
              </a:spcBef>
            </a:pPr>
            <a:r>
              <a:rPr lang="en-US" b="true" sz="2499">
                <a:solidFill>
                  <a:srgbClr val="FFFFFF"/>
                </a:solidFill>
                <a:latin typeface="Montserrat Bold"/>
                <a:ea typeface="Montserrat Bold"/>
                <a:cs typeface="Montserrat Bold"/>
                <a:sym typeface="Montserrat Bold"/>
              </a:rPr>
              <a:t>Hoàng Thị Ngọc</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8100" y="3946525"/>
            <a:ext cx="5511800" cy="3454400"/>
            <a:chOff x="0" y="0"/>
            <a:chExt cx="1325326" cy="830619"/>
          </a:xfrm>
        </p:grpSpPr>
        <p:sp>
          <p:nvSpPr>
            <p:cNvPr name="Freeform 3" id="3"/>
            <p:cNvSpPr/>
            <p:nvPr/>
          </p:nvSpPr>
          <p:spPr>
            <a:xfrm flipH="false" flipV="false" rot="0">
              <a:off x="0" y="0"/>
              <a:ext cx="1325326" cy="830619"/>
            </a:xfrm>
            <a:custGeom>
              <a:avLst/>
              <a:gdLst/>
              <a:ahLst/>
              <a:cxnLst/>
              <a:rect r="r" b="b" t="t" l="l"/>
              <a:pathLst>
                <a:path h="830619" w="1325326">
                  <a:moveTo>
                    <a:pt x="0" y="0"/>
                  </a:moveTo>
                  <a:lnTo>
                    <a:pt x="1325326" y="0"/>
                  </a:lnTo>
                  <a:lnTo>
                    <a:pt x="1325326" y="830619"/>
                  </a:lnTo>
                  <a:lnTo>
                    <a:pt x="0" y="830619"/>
                  </a:lnTo>
                  <a:close/>
                </a:path>
              </a:pathLst>
            </a:custGeom>
            <a:blipFill>
              <a:blip r:embed="rId2"/>
              <a:stretch>
                <a:fillRect l="0" t="-9762" r="0" b="-9762"/>
              </a:stretch>
            </a:blipFill>
          </p:spPr>
        </p:sp>
      </p:grpSp>
      <p:grpSp>
        <p:nvGrpSpPr>
          <p:cNvPr name="Group 4" id="4"/>
          <p:cNvGrpSpPr/>
          <p:nvPr/>
        </p:nvGrpSpPr>
        <p:grpSpPr>
          <a:xfrm rot="0">
            <a:off x="12204700" y="3946525"/>
            <a:ext cx="5509413" cy="3454400"/>
            <a:chOff x="0" y="0"/>
            <a:chExt cx="1324752" cy="830619"/>
          </a:xfrm>
        </p:grpSpPr>
        <p:sp>
          <p:nvSpPr>
            <p:cNvPr name="Freeform 5" id="5"/>
            <p:cNvSpPr/>
            <p:nvPr/>
          </p:nvSpPr>
          <p:spPr>
            <a:xfrm flipH="false" flipV="false" rot="0">
              <a:off x="0" y="0"/>
              <a:ext cx="1324752" cy="830619"/>
            </a:xfrm>
            <a:custGeom>
              <a:avLst/>
              <a:gdLst/>
              <a:ahLst/>
              <a:cxnLst/>
              <a:rect r="r" b="b" t="t" l="l"/>
              <a:pathLst>
                <a:path h="830619" w="1324752">
                  <a:moveTo>
                    <a:pt x="0" y="0"/>
                  </a:moveTo>
                  <a:lnTo>
                    <a:pt x="1324752" y="0"/>
                  </a:lnTo>
                  <a:lnTo>
                    <a:pt x="1324752" y="830619"/>
                  </a:lnTo>
                  <a:lnTo>
                    <a:pt x="0" y="830619"/>
                  </a:lnTo>
                  <a:close/>
                </a:path>
              </a:pathLst>
            </a:custGeom>
            <a:blipFill>
              <a:blip r:embed="rId3"/>
              <a:stretch>
                <a:fillRect l="0" t="-3163" r="0" b="-3163"/>
              </a:stretch>
            </a:blipFill>
          </p:spPr>
        </p:sp>
      </p:grpSp>
      <p:grpSp>
        <p:nvGrpSpPr>
          <p:cNvPr name="Group 6" id="6"/>
          <p:cNvGrpSpPr/>
          <p:nvPr/>
        </p:nvGrpSpPr>
        <p:grpSpPr>
          <a:xfrm rot="0">
            <a:off x="571500" y="3946525"/>
            <a:ext cx="5511800" cy="3454400"/>
            <a:chOff x="0" y="0"/>
            <a:chExt cx="1325326" cy="830619"/>
          </a:xfrm>
        </p:grpSpPr>
        <p:sp>
          <p:nvSpPr>
            <p:cNvPr name="Freeform 7" id="7"/>
            <p:cNvSpPr/>
            <p:nvPr/>
          </p:nvSpPr>
          <p:spPr>
            <a:xfrm flipH="false" flipV="false" rot="0">
              <a:off x="0" y="0"/>
              <a:ext cx="1325326" cy="830619"/>
            </a:xfrm>
            <a:custGeom>
              <a:avLst/>
              <a:gdLst/>
              <a:ahLst/>
              <a:cxnLst/>
              <a:rect r="r" b="b" t="t" l="l"/>
              <a:pathLst>
                <a:path h="830619" w="1325326">
                  <a:moveTo>
                    <a:pt x="0" y="0"/>
                  </a:moveTo>
                  <a:lnTo>
                    <a:pt x="1325326" y="0"/>
                  </a:lnTo>
                  <a:lnTo>
                    <a:pt x="1325326" y="830619"/>
                  </a:lnTo>
                  <a:lnTo>
                    <a:pt x="0" y="830619"/>
                  </a:lnTo>
                  <a:close/>
                </a:path>
              </a:pathLst>
            </a:custGeom>
            <a:blipFill>
              <a:blip r:embed="rId4"/>
              <a:stretch>
                <a:fillRect l="-5709" t="0" r="-5709" b="0"/>
              </a:stretch>
            </a:blipFill>
          </p:spPr>
        </p:sp>
      </p:grpSp>
      <p:sp>
        <p:nvSpPr>
          <p:cNvPr name="TextBox 8" id="8"/>
          <p:cNvSpPr txBox="true"/>
          <p:nvPr/>
        </p:nvSpPr>
        <p:spPr>
          <a:xfrm rot="0">
            <a:off x="963231" y="391121"/>
            <a:ext cx="16361537" cy="2605484"/>
          </a:xfrm>
          <a:prstGeom prst="rect">
            <a:avLst/>
          </a:prstGeom>
        </p:spPr>
        <p:txBody>
          <a:bodyPr anchor="t" rtlCol="false" tIns="0" lIns="0" bIns="0" rIns="0">
            <a:spAutoFit/>
          </a:bodyPr>
          <a:lstStyle/>
          <a:p>
            <a:pPr algn="ctr">
              <a:lnSpc>
                <a:spcPts val="21240"/>
              </a:lnSpc>
            </a:pPr>
            <a:r>
              <a:rPr lang="en-US" sz="15171">
                <a:solidFill>
                  <a:srgbClr val="1F48FF"/>
                </a:solidFill>
                <a:latin typeface="Bahianita"/>
                <a:ea typeface="Bahianita"/>
                <a:cs typeface="Bahianita"/>
                <a:sym typeface="Bahianita"/>
              </a:rPr>
              <a:t>LỘ TRÌ</a:t>
            </a:r>
            <a:r>
              <a:rPr lang="en-US" sz="15171">
                <a:solidFill>
                  <a:srgbClr val="1F48FF"/>
                </a:solidFill>
                <a:latin typeface="Bahianita"/>
                <a:ea typeface="Bahianita"/>
                <a:cs typeface="Bahianita"/>
                <a:sym typeface="Bahianita"/>
              </a:rPr>
              <a:t>NH KHÁM PHÁ XUYÊN VIỆT</a:t>
            </a:r>
          </a:p>
        </p:txBody>
      </p:sp>
      <p:sp>
        <p:nvSpPr>
          <p:cNvPr name="TextBox 9" id="9"/>
          <p:cNvSpPr txBox="true"/>
          <p:nvPr/>
        </p:nvSpPr>
        <p:spPr>
          <a:xfrm rot="0">
            <a:off x="613057" y="3340100"/>
            <a:ext cx="2866743" cy="606425"/>
          </a:xfrm>
          <a:prstGeom prst="rect">
            <a:avLst/>
          </a:prstGeom>
        </p:spPr>
        <p:txBody>
          <a:bodyPr anchor="t" rtlCol="false" tIns="0" lIns="0" bIns="0" rIns="0">
            <a:spAutoFit/>
          </a:bodyPr>
          <a:lstStyle/>
          <a:p>
            <a:pPr algn="l">
              <a:lnSpc>
                <a:spcPts val="4900"/>
              </a:lnSpc>
              <a:spcBef>
                <a:spcPct val="0"/>
              </a:spcBef>
            </a:pPr>
            <a:r>
              <a:rPr lang="en-US" b="true" sz="3500">
                <a:solidFill>
                  <a:srgbClr val="1F48FF"/>
                </a:solidFill>
                <a:latin typeface="Montserrat Bold"/>
                <a:ea typeface="Montserrat Bold"/>
                <a:cs typeface="Montserrat Bold"/>
                <a:sym typeface="Montserrat Bold"/>
              </a:rPr>
              <a:t>01.</a:t>
            </a:r>
          </a:p>
        </p:txBody>
      </p:sp>
      <p:sp>
        <p:nvSpPr>
          <p:cNvPr name="TextBox 10" id="10"/>
          <p:cNvSpPr txBox="true"/>
          <p:nvPr/>
        </p:nvSpPr>
        <p:spPr>
          <a:xfrm rot="0">
            <a:off x="649866" y="7591926"/>
            <a:ext cx="5355068"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F48FF"/>
                </a:solidFill>
                <a:latin typeface="Montserrat Bold"/>
                <a:ea typeface="Montserrat Bold"/>
                <a:cs typeface="Montserrat Bold"/>
                <a:sym typeface="Montserrat Bold"/>
              </a:rPr>
              <a:t>KỲ VĨ MIỀN BẮC</a:t>
            </a:r>
          </a:p>
        </p:txBody>
      </p:sp>
      <p:sp>
        <p:nvSpPr>
          <p:cNvPr name="TextBox 11" id="11"/>
          <p:cNvSpPr txBox="true"/>
          <p:nvPr/>
        </p:nvSpPr>
        <p:spPr>
          <a:xfrm rot="0">
            <a:off x="950656" y="8362950"/>
            <a:ext cx="4753489" cy="850900"/>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Montserrat"/>
                <a:ea typeface="Montserrat"/>
                <a:cs typeface="Montserrat"/>
                <a:sym typeface="Montserrat"/>
              </a:rPr>
              <a:t>Biển mây vùng cao và vịnh biển di sản</a:t>
            </a:r>
          </a:p>
        </p:txBody>
      </p:sp>
      <p:sp>
        <p:nvSpPr>
          <p:cNvPr name="TextBox 12" id="12"/>
          <p:cNvSpPr txBox="true"/>
          <p:nvPr/>
        </p:nvSpPr>
        <p:spPr>
          <a:xfrm rot="0">
            <a:off x="6448061" y="3340100"/>
            <a:ext cx="2866743" cy="606425"/>
          </a:xfrm>
          <a:prstGeom prst="rect">
            <a:avLst/>
          </a:prstGeom>
        </p:spPr>
        <p:txBody>
          <a:bodyPr anchor="t" rtlCol="false" tIns="0" lIns="0" bIns="0" rIns="0">
            <a:spAutoFit/>
          </a:bodyPr>
          <a:lstStyle/>
          <a:p>
            <a:pPr algn="l">
              <a:lnSpc>
                <a:spcPts val="4900"/>
              </a:lnSpc>
              <a:spcBef>
                <a:spcPct val="0"/>
              </a:spcBef>
            </a:pPr>
            <a:r>
              <a:rPr lang="en-US" b="true" sz="3500">
                <a:solidFill>
                  <a:srgbClr val="1F48FF"/>
                </a:solidFill>
                <a:latin typeface="Montserrat Bold"/>
                <a:ea typeface="Montserrat Bold"/>
                <a:cs typeface="Montserrat Bold"/>
                <a:sym typeface="Montserrat Bold"/>
              </a:rPr>
              <a:t>02.</a:t>
            </a:r>
          </a:p>
        </p:txBody>
      </p:sp>
      <p:sp>
        <p:nvSpPr>
          <p:cNvPr name="TextBox 13" id="13"/>
          <p:cNvSpPr txBox="true"/>
          <p:nvPr/>
        </p:nvSpPr>
        <p:spPr>
          <a:xfrm rot="0">
            <a:off x="6094508" y="7591926"/>
            <a:ext cx="6135794"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F48FF"/>
                </a:solidFill>
                <a:latin typeface="Montserrat Bold"/>
                <a:ea typeface="Montserrat Bold"/>
                <a:cs typeface="Montserrat Bold"/>
                <a:sym typeface="Montserrat Bold"/>
              </a:rPr>
              <a:t>HOÀI</a:t>
            </a:r>
            <a:r>
              <a:rPr lang="en-US" b="true" sz="3000">
                <a:solidFill>
                  <a:srgbClr val="1F48FF"/>
                </a:solidFill>
                <a:latin typeface="Montserrat Bold"/>
                <a:ea typeface="Montserrat Bold"/>
                <a:cs typeface="Montserrat Bold"/>
                <a:sym typeface="Montserrat Bold"/>
              </a:rPr>
              <a:t> NIỆM MIỀN TRUNG</a:t>
            </a:r>
          </a:p>
        </p:txBody>
      </p:sp>
      <p:sp>
        <p:nvSpPr>
          <p:cNvPr name="TextBox 14" id="14"/>
          <p:cNvSpPr txBox="true"/>
          <p:nvPr/>
        </p:nvSpPr>
        <p:spPr>
          <a:xfrm rot="0">
            <a:off x="6785660" y="8362950"/>
            <a:ext cx="4753489" cy="850900"/>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Montserrat"/>
                <a:ea typeface="Montserrat"/>
                <a:cs typeface="Montserrat"/>
                <a:sym typeface="Montserrat"/>
              </a:rPr>
              <a:t>Ch</a:t>
            </a:r>
            <a:r>
              <a:rPr lang="en-US" sz="2499">
                <a:solidFill>
                  <a:srgbClr val="000000"/>
                </a:solidFill>
                <a:latin typeface="Montserrat"/>
                <a:ea typeface="Montserrat"/>
                <a:cs typeface="Montserrat"/>
                <a:sym typeface="Montserrat"/>
              </a:rPr>
              <a:t>iều sâu văn hóa và những bờ cát trắng</a:t>
            </a:r>
          </a:p>
        </p:txBody>
      </p:sp>
      <p:sp>
        <p:nvSpPr>
          <p:cNvPr name="TextBox 15" id="15"/>
          <p:cNvSpPr txBox="true"/>
          <p:nvPr/>
        </p:nvSpPr>
        <p:spPr>
          <a:xfrm rot="0">
            <a:off x="12283066" y="3340100"/>
            <a:ext cx="2866743" cy="606425"/>
          </a:xfrm>
          <a:prstGeom prst="rect">
            <a:avLst/>
          </a:prstGeom>
        </p:spPr>
        <p:txBody>
          <a:bodyPr anchor="t" rtlCol="false" tIns="0" lIns="0" bIns="0" rIns="0">
            <a:spAutoFit/>
          </a:bodyPr>
          <a:lstStyle/>
          <a:p>
            <a:pPr algn="l">
              <a:lnSpc>
                <a:spcPts val="4900"/>
              </a:lnSpc>
              <a:spcBef>
                <a:spcPct val="0"/>
              </a:spcBef>
            </a:pPr>
            <a:r>
              <a:rPr lang="en-US" b="true" sz="3500">
                <a:solidFill>
                  <a:srgbClr val="1F48FF"/>
                </a:solidFill>
                <a:latin typeface="Montserrat Bold"/>
                <a:ea typeface="Montserrat Bold"/>
                <a:cs typeface="Montserrat Bold"/>
                <a:sym typeface="Montserrat Bold"/>
              </a:rPr>
              <a:t>03.</a:t>
            </a:r>
          </a:p>
        </p:txBody>
      </p:sp>
      <p:sp>
        <p:nvSpPr>
          <p:cNvPr name="TextBox 16" id="16"/>
          <p:cNvSpPr txBox="true"/>
          <p:nvPr/>
        </p:nvSpPr>
        <p:spPr>
          <a:xfrm rot="0">
            <a:off x="12319876" y="7591926"/>
            <a:ext cx="5355068"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F48FF"/>
                </a:solidFill>
                <a:latin typeface="Montserrat Bold"/>
                <a:ea typeface="Montserrat Bold"/>
                <a:cs typeface="Montserrat Bold"/>
                <a:sym typeface="Montserrat Bold"/>
              </a:rPr>
              <a:t>RẠNG</a:t>
            </a:r>
            <a:r>
              <a:rPr lang="en-US" b="true" sz="3000">
                <a:solidFill>
                  <a:srgbClr val="1F48FF"/>
                </a:solidFill>
                <a:latin typeface="Montserrat Bold"/>
                <a:ea typeface="Montserrat Bold"/>
                <a:cs typeface="Montserrat Bold"/>
                <a:sym typeface="Montserrat Bold"/>
              </a:rPr>
              <a:t> RỠ MIỀN NAM</a:t>
            </a:r>
          </a:p>
        </p:txBody>
      </p:sp>
      <p:sp>
        <p:nvSpPr>
          <p:cNvPr name="TextBox 17" id="17"/>
          <p:cNvSpPr txBox="true"/>
          <p:nvPr/>
        </p:nvSpPr>
        <p:spPr>
          <a:xfrm rot="0">
            <a:off x="12620665" y="8362950"/>
            <a:ext cx="4753489" cy="850900"/>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Montserrat"/>
                <a:ea typeface="Montserrat"/>
                <a:cs typeface="Montserrat"/>
                <a:sym typeface="Montserrat"/>
              </a:rPr>
              <a:t>Nhịp</a:t>
            </a:r>
            <a:r>
              <a:rPr lang="en-US" sz="2499">
                <a:solidFill>
                  <a:srgbClr val="000000"/>
                </a:solidFill>
                <a:latin typeface="Montserrat"/>
                <a:ea typeface="Montserrat"/>
                <a:cs typeface="Montserrat"/>
                <a:sym typeface="Montserrat"/>
              </a:rPr>
              <a:t> sống phố thị và sông nước trù phú</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13000" y="0"/>
            <a:ext cx="4146550" cy="10287000"/>
            <a:chOff x="0" y="0"/>
            <a:chExt cx="1092095" cy="2709333"/>
          </a:xfrm>
        </p:grpSpPr>
        <p:sp>
          <p:nvSpPr>
            <p:cNvPr name="Freeform 3" id="3"/>
            <p:cNvSpPr/>
            <p:nvPr/>
          </p:nvSpPr>
          <p:spPr>
            <a:xfrm flipH="false" flipV="false" rot="0">
              <a:off x="0" y="0"/>
              <a:ext cx="1092095" cy="2709333"/>
            </a:xfrm>
            <a:custGeom>
              <a:avLst/>
              <a:gdLst/>
              <a:ahLst/>
              <a:cxnLst/>
              <a:rect r="r" b="b" t="t" l="l"/>
              <a:pathLst>
                <a:path h="2709333" w="1092095">
                  <a:moveTo>
                    <a:pt x="0" y="0"/>
                  </a:moveTo>
                  <a:lnTo>
                    <a:pt x="1092095" y="0"/>
                  </a:lnTo>
                  <a:lnTo>
                    <a:pt x="1092095" y="2709333"/>
                  </a:lnTo>
                  <a:lnTo>
                    <a:pt x="0" y="2709333"/>
                  </a:lnTo>
                  <a:close/>
                </a:path>
              </a:pathLst>
            </a:custGeom>
            <a:solidFill>
              <a:srgbClr val="1F48FF"/>
            </a:solidFill>
          </p:spPr>
        </p:sp>
        <p:sp>
          <p:nvSpPr>
            <p:cNvPr name="TextBox 4" id="4"/>
            <p:cNvSpPr txBox="true"/>
            <p:nvPr/>
          </p:nvSpPr>
          <p:spPr>
            <a:xfrm>
              <a:off x="0" y="-38100"/>
              <a:ext cx="1092095" cy="2747433"/>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12489815" y="571500"/>
            <a:ext cx="5246370" cy="7569200"/>
            <a:chOff x="0" y="0"/>
            <a:chExt cx="812800" cy="1172667"/>
          </a:xfrm>
        </p:grpSpPr>
        <p:sp>
          <p:nvSpPr>
            <p:cNvPr name="Freeform 6" id="6"/>
            <p:cNvSpPr/>
            <p:nvPr/>
          </p:nvSpPr>
          <p:spPr>
            <a:xfrm flipH="false" flipV="false" rot="0">
              <a:off x="0" y="0"/>
              <a:ext cx="812800" cy="1172667"/>
            </a:xfrm>
            <a:custGeom>
              <a:avLst/>
              <a:gdLst/>
              <a:ahLst/>
              <a:cxnLst/>
              <a:rect r="r" b="b" t="t" l="l"/>
              <a:pathLst>
                <a:path h="1172667" w="812800">
                  <a:moveTo>
                    <a:pt x="0" y="0"/>
                  </a:moveTo>
                  <a:lnTo>
                    <a:pt x="812800" y="0"/>
                  </a:lnTo>
                  <a:lnTo>
                    <a:pt x="812800" y="1172667"/>
                  </a:lnTo>
                  <a:lnTo>
                    <a:pt x="0" y="1172667"/>
                  </a:lnTo>
                  <a:close/>
                </a:path>
              </a:pathLst>
            </a:custGeom>
            <a:blipFill>
              <a:blip r:embed="rId2"/>
              <a:stretch>
                <a:fillRect l="0" t="-1936" r="0" b="-1936"/>
              </a:stretch>
            </a:blipFill>
          </p:spPr>
        </p:sp>
      </p:grpSp>
      <p:grpSp>
        <p:nvGrpSpPr>
          <p:cNvPr name="Group 7" id="7"/>
          <p:cNvGrpSpPr/>
          <p:nvPr/>
        </p:nvGrpSpPr>
        <p:grpSpPr>
          <a:xfrm rot="0">
            <a:off x="9042607" y="6505575"/>
            <a:ext cx="6870633" cy="3209925"/>
            <a:chOff x="0" y="0"/>
            <a:chExt cx="1064441" cy="497301"/>
          </a:xfrm>
        </p:grpSpPr>
        <p:sp>
          <p:nvSpPr>
            <p:cNvPr name="Freeform 8" id="8"/>
            <p:cNvSpPr/>
            <p:nvPr/>
          </p:nvSpPr>
          <p:spPr>
            <a:xfrm flipH="false" flipV="false" rot="0">
              <a:off x="0" y="0"/>
              <a:ext cx="1064441" cy="497301"/>
            </a:xfrm>
            <a:custGeom>
              <a:avLst/>
              <a:gdLst/>
              <a:ahLst/>
              <a:cxnLst/>
              <a:rect r="r" b="b" t="t" l="l"/>
              <a:pathLst>
                <a:path h="497301" w="1064441">
                  <a:moveTo>
                    <a:pt x="0" y="0"/>
                  </a:moveTo>
                  <a:lnTo>
                    <a:pt x="1064441" y="0"/>
                  </a:lnTo>
                  <a:lnTo>
                    <a:pt x="1064441" y="497301"/>
                  </a:lnTo>
                  <a:lnTo>
                    <a:pt x="0" y="497301"/>
                  </a:lnTo>
                  <a:close/>
                </a:path>
              </a:pathLst>
            </a:custGeom>
            <a:blipFill>
              <a:blip r:embed="rId3"/>
              <a:stretch>
                <a:fillRect l="0" t="-21303" r="0" b="-21303"/>
              </a:stretch>
            </a:blipFill>
          </p:spPr>
        </p:sp>
      </p:grpSp>
      <p:sp>
        <p:nvSpPr>
          <p:cNvPr name="TextBox 9" id="9"/>
          <p:cNvSpPr txBox="true"/>
          <p:nvPr/>
        </p:nvSpPr>
        <p:spPr>
          <a:xfrm rot="0">
            <a:off x="571500" y="4965700"/>
            <a:ext cx="7642432" cy="30416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Montserrat"/>
                <a:ea typeface="Montserrat"/>
                <a:cs typeface="Montserrat"/>
                <a:sym typeface="Montserrat"/>
              </a:rPr>
              <a:t>V</a:t>
            </a:r>
            <a:r>
              <a:rPr lang="en-US" sz="2499">
                <a:solidFill>
                  <a:srgbClr val="000000"/>
                </a:solidFill>
                <a:latin typeface="Montserrat"/>
                <a:ea typeface="Montserrat"/>
                <a:cs typeface="Montserrat"/>
                <a:sym typeface="Montserrat"/>
              </a:rPr>
              <a:t>iệt Nam đang khẳng định vị thế là một trong những quốc gia có tốc độ phát triển du lịch nhanh nhất khu vực. Sự hòa quyện tuyệt vời giữa địa hình đồi núi kỳ vĩ, đường bờ biển dài thơ mộng cùng kho tàng di sản văn hóa phi vật thể đồ sộ chính là thỏi nam châm thu hút hàng triệu tín đồ đam mê khám phá mỗi năm.</a:t>
            </a:r>
          </a:p>
        </p:txBody>
      </p:sp>
      <p:sp>
        <p:nvSpPr>
          <p:cNvPr name="TextBox 10" id="10"/>
          <p:cNvSpPr txBox="true"/>
          <p:nvPr/>
        </p:nvSpPr>
        <p:spPr>
          <a:xfrm rot="0">
            <a:off x="571500" y="986564"/>
            <a:ext cx="11328400" cy="3243397"/>
          </a:xfrm>
          <a:prstGeom prst="rect">
            <a:avLst/>
          </a:prstGeom>
        </p:spPr>
        <p:txBody>
          <a:bodyPr anchor="t" rtlCol="false" tIns="0" lIns="0" bIns="0" rIns="0">
            <a:spAutoFit/>
          </a:bodyPr>
          <a:lstStyle/>
          <a:p>
            <a:pPr algn="l">
              <a:lnSpc>
                <a:spcPts val="26405"/>
              </a:lnSpc>
            </a:pPr>
            <a:r>
              <a:rPr lang="en-US" sz="18860">
                <a:solidFill>
                  <a:srgbClr val="1F48FF"/>
                </a:solidFill>
                <a:latin typeface="Bahianita"/>
                <a:ea typeface="Bahianita"/>
                <a:cs typeface="Bahianita"/>
                <a:sym typeface="Bahianita"/>
              </a:rPr>
              <a:t>GIỚI THIỆU CHUNG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76715" y="571500"/>
            <a:ext cx="4825265" cy="6299200"/>
            <a:chOff x="0" y="0"/>
            <a:chExt cx="747560" cy="975911"/>
          </a:xfrm>
        </p:grpSpPr>
        <p:sp>
          <p:nvSpPr>
            <p:cNvPr name="Freeform 3" id="3"/>
            <p:cNvSpPr/>
            <p:nvPr/>
          </p:nvSpPr>
          <p:spPr>
            <a:xfrm flipH="false" flipV="false" rot="0">
              <a:off x="0" y="0"/>
              <a:ext cx="747560" cy="975911"/>
            </a:xfrm>
            <a:custGeom>
              <a:avLst/>
              <a:gdLst/>
              <a:ahLst/>
              <a:cxnLst/>
              <a:rect r="r" b="b" t="t" l="l"/>
              <a:pathLst>
                <a:path h="975911" w="747560">
                  <a:moveTo>
                    <a:pt x="0" y="0"/>
                  </a:moveTo>
                  <a:lnTo>
                    <a:pt x="747560" y="0"/>
                  </a:lnTo>
                  <a:lnTo>
                    <a:pt x="747560" y="975911"/>
                  </a:lnTo>
                  <a:lnTo>
                    <a:pt x="0" y="975911"/>
                  </a:lnTo>
                  <a:close/>
                </a:path>
              </a:pathLst>
            </a:custGeom>
            <a:blipFill>
              <a:blip r:embed="rId2"/>
              <a:stretch>
                <a:fillRect l="-64028" t="0" r="-31613" b="0"/>
              </a:stretch>
            </a:blipFill>
          </p:spPr>
        </p:sp>
      </p:grpSp>
      <p:grpSp>
        <p:nvGrpSpPr>
          <p:cNvPr name="Group 4" id="4"/>
          <p:cNvGrpSpPr/>
          <p:nvPr/>
        </p:nvGrpSpPr>
        <p:grpSpPr>
          <a:xfrm rot="0">
            <a:off x="4166335" y="3416300"/>
            <a:ext cx="4825265" cy="3149600"/>
            <a:chOff x="0" y="0"/>
            <a:chExt cx="747560" cy="487955"/>
          </a:xfrm>
        </p:grpSpPr>
        <p:sp>
          <p:nvSpPr>
            <p:cNvPr name="Freeform 5" id="5"/>
            <p:cNvSpPr/>
            <p:nvPr/>
          </p:nvSpPr>
          <p:spPr>
            <a:xfrm flipH="false" flipV="false" rot="0">
              <a:off x="0" y="0"/>
              <a:ext cx="747560" cy="487955"/>
            </a:xfrm>
            <a:custGeom>
              <a:avLst/>
              <a:gdLst/>
              <a:ahLst/>
              <a:cxnLst/>
              <a:rect r="r" b="b" t="t" l="l"/>
              <a:pathLst>
                <a:path h="487955" w="747560">
                  <a:moveTo>
                    <a:pt x="0" y="0"/>
                  </a:moveTo>
                  <a:lnTo>
                    <a:pt x="747560" y="0"/>
                  </a:lnTo>
                  <a:lnTo>
                    <a:pt x="747560" y="487955"/>
                  </a:lnTo>
                  <a:lnTo>
                    <a:pt x="0" y="487955"/>
                  </a:lnTo>
                  <a:close/>
                </a:path>
              </a:pathLst>
            </a:custGeom>
            <a:blipFill>
              <a:blip r:embed="rId3"/>
              <a:stretch>
                <a:fillRect l="0" t="-1113" r="0" b="-1113"/>
              </a:stretch>
            </a:blipFill>
          </p:spPr>
        </p:sp>
      </p:grpSp>
      <p:grpSp>
        <p:nvGrpSpPr>
          <p:cNvPr name="Group 6" id="6"/>
          <p:cNvGrpSpPr/>
          <p:nvPr/>
        </p:nvGrpSpPr>
        <p:grpSpPr>
          <a:xfrm rot="0">
            <a:off x="4166335" y="6870700"/>
            <a:ext cx="4825265" cy="2844800"/>
            <a:chOff x="0" y="0"/>
            <a:chExt cx="747560" cy="440734"/>
          </a:xfrm>
        </p:grpSpPr>
        <p:sp>
          <p:nvSpPr>
            <p:cNvPr name="Freeform 7" id="7"/>
            <p:cNvSpPr/>
            <p:nvPr/>
          </p:nvSpPr>
          <p:spPr>
            <a:xfrm flipH="false" flipV="false" rot="0">
              <a:off x="0" y="0"/>
              <a:ext cx="747560" cy="440734"/>
            </a:xfrm>
            <a:custGeom>
              <a:avLst/>
              <a:gdLst/>
              <a:ahLst/>
              <a:cxnLst/>
              <a:rect r="r" b="b" t="t" l="l"/>
              <a:pathLst>
                <a:path h="440734" w="747560">
                  <a:moveTo>
                    <a:pt x="0" y="0"/>
                  </a:moveTo>
                  <a:lnTo>
                    <a:pt x="747560" y="0"/>
                  </a:lnTo>
                  <a:lnTo>
                    <a:pt x="747560" y="440734"/>
                  </a:lnTo>
                  <a:lnTo>
                    <a:pt x="0" y="440734"/>
                  </a:lnTo>
                  <a:close/>
                </a:path>
              </a:pathLst>
            </a:custGeom>
            <a:blipFill>
              <a:blip r:embed="rId4"/>
              <a:stretch>
                <a:fillRect l="0" t="-13606" r="0" b="-13606"/>
              </a:stretch>
            </a:blipFill>
          </p:spPr>
        </p:sp>
      </p:grpSp>
      <p:sp>
        <p:nvSpPr>
          <p:cNvPr name="TextBox 8" id="8"/>
          <p:cNvSpPr txBox="true"/>
          <p:nvPr/>
        </p:nvSpPr>
        <p:spPr>
          <a:xfrm rot="0">
            <a:off x="14387730" y="3368675"/>
            <a:ext cx="3373889" cy="1589405"/>
          </a:xfrm>
          <a:prstGeom prst="rect">
            <a:avLst/>
          </a:prstGeom>
        </p:spPr>
        <p:txBody>
          <a:bodyPr anchor="t" rtlCol="false" tIns="0" lIns="0" bIns="0" rIns="0">
            <a:spAutoFit/>
          </a:bodyPr>
          <a:lstStyle/>
          <a:p>
            <a:pPr algn="l">
              <a:lnSpc>
                <a:spcPts val="3220"/>
              </a:lnSpc>
              <a:spcBef>
                <a:spcPct val="0"/>
              </a:spcBef>
            </a:pPr>
            <a:r>
              <a:rPr lang="en-US" sz="2300">
                <a:solidFill>
                  <a:srgbClr val="000000"/>
                </a:solidFill>
                <a:latin typeface="Montserrat"/>
                <a:ea typeface="Montserrat"/>
                <a:cs typeface="Montserrat"/>
                <a:sym typeface="Montserrat"/>
              </a:rPr>
              <a:t>H</a:t>
            </a:r>
            <a:r>
              <a:rPr lang="en-US" sz="2300">
                <a:solidFill>
                  <a:srgbClr val="000000"/>
                </a:solidFill>
                <a:latin typeface="Montserrat"/>
                <a:ea typeface="Montserrat"/>
                <a:cs typeface="Montserrat"/>
                <a:sym typeface="Montserrat"/>
              </a:rPr>
              <a:t>ệ thống hang động và vịnh biển kỳ vĩ được công nhận là di sản thiên nhiên thế giới.</a:t>
            </a:r>
          </a:p>
        </p:txBody>
      </p:sp>
      <p:sp>
        <p:nvSpPr>
          <p:cNvPr name="TextBox 9" id="9"/>
          <p:cNvSpPr txBox="true"/>
          <p:nvPr/>
        </p:nvSpPr>
        <p:spPr>
          <a:xfrm rot="0">
            <a:off x="571500" y="4172585"/>
            <a:ext cx="3373889" cy="1989455"/>
          </a:xfrm>
          <a:prstGeom prst="rect">
            <a:avLst/>
          </a:prstGeom>
        </p:spPr>
        <p:txBody>
          <a:bodyPr anchor="t" rtlCol="false" tIns="0" lIns="0" bIns="0" rIns="0">
            <a:spAutoFit/>
          </a:bodyPr>
          <a:lstStyle/>
          <a:p>
            <a:pPr algn="r">
              <a:lnSpc>
                <a:spcPts val="3220"/>
              </a:lnSpc>
              <a:spcBef>
                <a:spcPct val="0"/>
              </a:spcBef>
            </a:pPr>
            <a:r>
              <a:rPr lang="en-US" sz="2300">
                <a:solidFill>
                  <a:srgbClr val="000000"/>
                </a:solidFill>
                <a:latin typeface="Montserrat"/>
                <a:ea typeface="Montserrat"/>
                <a:cs typeface="Montserrat"/>
                <a:sym typeface="Montserrat"/>
              </a:rPr>
              <a:t>T</a:t>
            </a:r>
            <a:r>
              <a:rPr lang="en-US" sz="2300">
                <a:solidFill>
                  <a:srgbClr val="000000"/>
                </a:solidFill>
                <a:latin typeface="Montserrat"/>
                <a:ea typeface="Montserrat"/>
                <a:cs typeface="Montserrat"/>
                <a:sym typeface="Montserrat"/>
              </a:rPr>
              <a:t>hiên đường ẩm thực đường phố phong phú, bùng nổ hương vị với mức chi phí vô cùng hợp lý.</a:t>
            </a:r>
          </a:p>
        </p:txBody>
      </p:sp>
      <p:sp>
        <p:nvSpPr>
          <p:cNvPr name="TextBox 10" id="10"/>
          <p:cNvSpPr txBox="true"/>
          <p:nvPr/>
        </p:nvSpPr>
        <p:spPr>
          <a:xfrm rot="0">
            <a:off x="571500" y="7322185"/>
            <a:ext cx="3373889" cy="1589405"/>
          </a:xfrm>
          <a:prstGeom prst="rect">
            <a:avLst/>
          </a:prstGeom>
        </p:spPr>
        <p:txBody>
          <a:bodyPr anchor="t" rtlCol="false" tIns="0" lIns="0" bIns="0" rIns="0">
            <a:spAutoFit/>
          </a:bodyPr>
          <a:lstStyle/>
          <a:p>
            <a:pPr algn="r">
              <a:lnSpc>
                <a:spcPts val="3220"/>
              </a:lnSpc>
              <a:spcBef>
                <a:spcPct val="0"/>
              </a:spcBef>
            </a:pPr>
            <a:r>
              <a:rPr lang="en-US" sz="2300">
                <a:solidFill>
                  <a:srgbClr val="000000"/>
                </a:solidFill>
                <a:latin typeface="Montserrat"/>
                <a:ea typeface="Montserrat"/>
                <a:cs typeface="Montserrat"/>
                <a:sym typeface="Montserrat"/>
              </a:rPr>
              <a:t>Lòng hiếu khách, sự</a:t>
            </a:r>
            <a:r>
              <a:rPr lang="en-US" sz="2300">
                <a:solidFill>
                  <a:srgbClr val="000000"/>
                </a:solidFill>
                <a:latin typeface="Montserrat"/>
                <a:ea typeface="Montserrat"/>
                <a:cs typeface="Montserrat"/>
                <a:sym typeface="Montserrat"/>
              </a:rPr>
              <a:t> thân thiện và nét cười rạng rỡ đặc trưng của con người bản địa</a:t>
            </a:r>
          </a:p>
        </p:txBody>
      </p:sp>
      <p:sp>
        <p:nvSpPr>
          <p:cNvPr name="TextBox 11" id="11"/>
          <p:cNvSpPr txBox="true"/>
          <p:nvPr/>
        </p:nvSpPr>
        <p:spPr>
          <a:xfrm rot="0">
            <a:off x="723900" y="172903"/>
            <a:ext cx="11328400" cy="3243397"/>
          </a:xfrm>
          <a:prstGeom prst="rect">
            <a:avLst/>
          </a:prstGeom>
        </p:spPr>
        <p:txBody>
          <a:bodyPr anchor="t" rtlCol="false" tIns="0" lIns="0" bIns="0" rIns="0">
            <a:spAutoFit/>
          </a:bodyPr>
          <a:lstStyle/>
          <a:p>
            <a:pPr algn="l">
              <a:lnSpc>
                <a:spcPts val="26405"/>
              </a:lnSpc>
            </a:pPr>
            <a:r>
              <a:rPr lang="en-US" sz="18860">
                <a:solidFill>
                  <a:srgbClr val="1F48FF"/>
                </a:solidFill>
                <a:latin typeface="Bahianita"/>
                <a:ea typeface="Bahianita"/>
                <a:cs typeface="Bahianita"/>
                <a:sym typeface="Bahianita"/>
              </a:rPr>
              <a:t>ĐIỂM THU HÚT</a:t>
            </a:r>
          </a:p>
        </p:txBody>
      </p:sp>
      <p:sp>
        <p:nvSpPr>
          <p:cNvPr name="TextBox 12" id="12"/>
          <p:cNvSpPr txBox="true"/>
          <p:nvPr/>
        </p:nvSpPr>
        <p:spPr>
          <a:xfrm rot="0">
            <a:off x="9144000" y="6637158"/>
            <a:ext cx="8465218" cy="3245209"/>
          </a:xfrm>
          <a:prstGeom prst="rect">
            <a:avLst/>
          </a:prstGeom>
        </p:spPr>
        <p:txBody>
          <a:bodyPr anchor="t" rtlCol="false" tIns="0" lIns="0" bIns="0" rIns="0">
            <a:spAutoFit/>
          </a:bodyPr>
          <a:lstStyle/>
          <a:p>
            <a:pPr algn="r">
              <a:lnSpc>
                <a:spcPts val="26405"/>
              </a:lnSpc>
            </a:pPr>
            <a:r>
              <a:rPr lang="en-US" sz="18860">
                <a:solidFill>
                  <a:srgbClr val="1F48FF"/>
                </a:solidFill>
                <a:latin typeface="Bahianita"/>
                <a:ea typeface="Bahianita"/>
                <a:cs typeface="Bahianita"/>
                <a:sym typeface="Bahianita"/>
              </a:rPr>
              <a:t>DU KHÁCH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72498" y="571500"/>
            <a:ext cx="6479607" cy="9144000"/>
            <a:chOff x="0" y="0"/>
            <a:chExt cx="1003861" cy="1416645"/>
          </a:xfrm>
        </p:grpSpPr>
        <p:sp>
          <p:nvSpPr>
            <p:cNvPr name="Freeform 3" id="3"/>
            <p:cNvSpPr/>
            <p:nvPr/>
          </p:nvSpPr>
          <p:spPr>
            <a:xfrm flipH="false" flipV="false" rot="0">
              <a:off x="0" y="0"/>
              <a:ext cx="1003861" cy="1416645"/>
            </a:xfrm>
            <a:custGeom>
              <a:avLst/>
              <a:gdLst/>
              <a:ahLst/>
              <a:cxnLst/>
              <a:rect r="r" b="b" t="t" l="l"/>
              <a:pathLst>
                <a:path h="1416645" w="1003861">
                  <a:moveTo>
                    <a:pt x="0" y="0"/>
                  </a:moveTo>
                  <a:lnTo>
                    <a:pt x="1003861" y="0"/>
                  </a:lnTo>
                  <a:lnTo>
                    <a:pt x="1003861" y="1416645"/>
                  </a:lnTo>
                  <a:lnTo>
                    <a:pt x="0" y="1416645"/>
                  </a:lnTo>
                  <a:close/>
                </a:path>
              </a:pathLst>
            </a:custGeom>
            <a:blipFill>
              <a:blip r:embed="rId2"/>
              <a:stretch>
                <a:fillRect l="-109772" t="0" r="0" b="0"/>
              </a:stretch>
            </a:blipFill>
          </p:spPr>
        </p:sp>
      </p:grpSp>
      <p:grpSp>
        <p:nvGrpSpPr>
          <p:cNvPr name="Group 4" id="4"/>
          <p:cNvGrpSpPr/>
          <p:nvPr/>
        </p:nvGrpSpPr>
        <p:grpSpPr>
          <a:xfrm rot="0">
            <a:off x="-1725128" y="571500"/>
            <a:ext cx="6479607" cy="9144000"/>
            <a:chOff x="0" y="0"/>
            <a:chExt cx="1003861" cy="1416645"/>
          </a:xfrm>
        </p:grpSpPr>
        <p:sp>
          <p:nvSpPr>
            <p:cNvPr name="Freeform 5" id="5"/>
            <p:cNvSpPr/>
            <p:nvPr/>
          </p:nvSpPr>
          <p:spPr>
            <a:xfrm flipH="false" flipV="false" rot="0">
              <a:off x="0" y="0"/>
              <a:ext cx="1003861" cy="1416645"/>
            </a:xfrm>
            <a:custGeom>
              <a:avLst/>
              <a:gdLst/>
              <a:ahLst/>
              <a:cxnLst/>
              <a:rect r="r" b="b" t="t" l="l"/>
              <a:pathLst>
                <a:path h="1416645" w="1003861">
                  <a:moveTo>
                    <a:pt x="0" y="0"/>
                  </a:moveTo>
                  <a:lnTo>
                    <a:pt x="1003861" y="0"/>
                  </a:lnTo>
                  <a:lnTo>
                    <a:pt x="1003861" y="1416645"/>
                  </a:lnTo>
                  <a:lnTo>
                    <a:pt x="0" y="1416645"/>
                  </a:lnTo>
                  <a:close/>
                </a:path>
              </a:pathLst>
            </a:custGeom>
            <a:blipFill>
              <a:blip r:embed="rId3"/>
              <a:stretch>
                <a:fillRect l="-55743" t="0" r="-55743" b="0"/>
              </a:stretch>
            </a:blipFill>
          </p:spPr>
        </p:sp>
      </p:grpSp>
      <p:grpSp>
        <p:nvGrpSpPr>
          <p:cNvPr name="Group 6" id="6"/>
          <p:cNvGrpSpPr/>
          <p:nvPr/>
        </p:nvGrpSpPr>
        <p:grpSpPr>
          <a:xfrm rot="0">
            <a:off x="2367213" y="4021555"/>
            <a:ext cx="7658100" cy="2544345"/>
            <a:chOff x="0" y="0"/>
            <a:chExt cx="2016948" cy="670115"/>
          </a:xfrm>
        </p:grpSpPr>
        <p:sp>
          <p:nvSpPr>
            <p:cNvPr name="Freeform 7" id="7"/>
            <p:cNvSpPr/>
            <p:nvPr/>
          </p:nvSpPr>
          <p:spPr>
            <a:xfrm flipH="false" flipV="false" rot="0">
              <a:off x="0" y="0"/>
              <a:ext cx="2016948" cy="670115"/>
            </a:xfrm>
            <a:custGeom>
              <a:avLst/>
              <a:gdLst/>
              <a:ahLst/>
              <a:cxnLst/>
              <a:rect r="r" b="b" t="t" l="l"/>
              <a:pathLst>
                <a:path h="670115" w="2016948">
                  <a:moveTo>
                    <a:pt x="0" y="0"/>
                  </a:moveTo>
                  <a:lnTo>
                    <a:pt x="2016948" y="0"/>
                  </a:lnTo>
                  <a:lnTo>
                    <a:pt x="2016948" y="670115"/>
                  </a:lnTo>
                  <a:lnTo>
                    <a:pt x="0" y="670115"/>
                  </a:lnTo>
                  <a:close/>
                </a:path>
              </a:pathLst>
            </a:custGeom>
            <a:solidFill>
              <a:srgbClr val="1634BA"/>
            </a:solidFill>
          </p:spPr>
        </p:sp>
        <p:sp>
          <p:nvSpPr>
            <p:cNvPr name="TextBox 8" id="8"/>
            <p:cNvSpPr txBox="true"/>
            <p:nvPr/>
          </p:nvSpPr>
          <p:spPr>
            <a:xfrm>
              <a:off x="0" y="-47625"/>
              <a:ext cx="2016948" cy="717740"/>
            </a:xfrm>
            <a:prstGeom prst="rect">
              <a:avLst/>
            </a:prstGeom>
          </p:spPr>
          <p:txBody>
            <a:bodyPr anchor="ctr" rtlCol="false" tIns="50800" lIns="50800" bIns="50800" rIns="50800"/>
            <a:lstStyle/>
            <a:p>
              <a:pPr algn="ctr">
                <a:lnSpc>
                  <a:spcPts val="3220"/>
                </a:lnSpc>
              </a:pPr>
            </a:p>
          </p:txBody>
        </p:sp>
      </p:grpSp>
      <p:grpSp>
        <p:nvGrpSpPr>
          <p:cNvPr name="Group 9" id="9"/>
          <p:cNvGrpSpPr/>
          <p:nvPr/>
        </p:nvGrpSpPr>
        <p:grpSpPr>
          <a:xfrm rot="0">
            <a:off x="7454900" y="7146925"/>
            <a:ext cx="7658100" cy="2111375"/>
            <a:chOff x="0" y="0"/>
            <a:chExt cx="2016948" cy="556082"/>
          </a:xfrm>
        </p:grpSpPr>
        <p:sp>
          <p:nvSpPr>
            <p:cNvPr name="Freeform 10" id="10"/>
            <p:cNvSpPr/>
            <p:nvPr/>
          </p:nvSpPr>
          <p:spPr>
            <a:xfrm flipH="false" flipV="false" rot="0">
              <a:off x="0" y="0"/>
              <a:ext cx="2016948" cy="556082"/>
            </a:xfrm>
            <a:custGeom>
              <a:avLst/>
              <a:gdLst/>
              <a:ahLst/>
              <a:cxnLst/>
              <a:rect r="r" b="b" t="t" l="l"/>
              <a:pathLst>
                <a:path h="556082" w="2016948">
                  <a:moveTo>
                    <a:pt x="0" y="0"/>
                  </a:moveTo>
                  <a:lnTo>
                    <a:pt x="2016948" y="0"/>
                  </a:lnTo>
                  <a:lnTo>
                    <a:pt x="2016948" y="556082"/>
                  </a:lnTo>
                  <a:lnTo>
                    <a:pt x="0" y="556082"/>
                  </a:lnTo>
                  <a:close/>
                </a:path>
              </a:pathLst>
            </a:custGeom>
            <a:solidFill>
              <a:srgbClr val="1634BA"/>
            </a:solidFill>
          </p:spPr>
        </p:sp>
        <p:sp>
          <p:nvSpPr>
            <p:cNvPr name="TextBox 11" id="11"/>
            <p:cNvSpPr txBox="true"/>
            <p:nvPr/>
          </p:nvSpPr>
          <p:spPr>
            <a:xfrm>
              <a:off x="0" y="-47625"/>
              <a:ext cx="2016948" cy="603707"/>
            </a:xfrm>
            <a:prstGeom prst="rect">
              <a:avLst/>
            </a:prstGeom>
          </p:spPr>
          <p:txBody>
            <a:bodyPr anchor="ctr" rtlCol="false" tIns="50800" lIns="50800" bIns="50800" rIns="50800"/>
            <a:lstStyle/>
            <a:p>
              <a:pPr algn="ctr">
                <a:lnSpc>
                  <a:spcPts val="3220"/>
                </a:lnSpc>
              </a:pPr>
            </a:p>
          </p:txBody>
        </p:sp>
      </p:grpSp>
      <p:sp>
        <p:nvSpPr>
          <p:cNvPr name="TextBox 12" id="12"/>
          <p:cNvSpPr txBox="true"/>
          <p:nvPr/>
        </p:nvSpPr>
        <p:spPr>
          <a:xfrm rot="0">
            <a:off x="5010150" y="200025"/>
            <a:ext cx="8267700" cy="3245209"/>
          </a:xfrm>
          <a:prstGeom prst="rect">
            <a:avLst/>
          </a:prstGeom>
        </p:spPr>
        <p:txBody>
          <a:bodyPr anchor="t" rtlCol="false" tIns="0" lIns="0" bIns="0" rIns="0">
            <a:spAutoFit/>
          </a:bodyPr>
          <a:lstStyle/>
          <a:p>
            <a:pPr algn="ctr">
              <a:lnSpc>
                <a:spcPts val="26405"/>
              </a:lnSpc>
            </a:pPr>
            <a:r>
              <a:rPr lang="en-US" sz="18860">
                <a:solidFill>
                  <a:srgbClr val="1F48FF"/>
                </a:solidFill>
                <a:latin typeface="Bahianita"/>
                <a:ea typeface="Bahianita"/>
                <a:cs typeface="Bahianita"/>
                <a:sym typeface="Bahianita"/>
              </a:rPr>
              <a:t>MIỀN BẮC</a:t>
            </a:r>
          </a:p>
        </p:txBody>
      </p:sp>
      <p:sp>
        <p:nvSpPr>
          <p:cNvPr name="TextBox 13" id="13"/>
          <p:cNvSpPr txBox="true"/>
          <p:nvPr/>
        </p:nvSpPr>
        <p:spPr>
          <a:xfrm rot="0">
            <a:off x="3622846" y="3114675"/>
            <a:ext cx="11042308" cy="606425"/>
          </a:xfrm>
          <a:prstGeom prst="rect">
            <a:avLst/>
          </a:prstGeom>
        </p:spPr>
        <p:txBody>
          <a:bodyPr anchor="t" rtlCol="false" tIns="0" lIns="0" bIns="0" rIns="0">
            <a:spAutoFit/>
          </a:bodyPr>
          <a:lstStyle/>
          <a:p>
            <a:pPr algn="ctr">
              <a:lnSpc>
                <a:spcPts val="4900"/>
              </a:lnSpc>
              <a:spcBef>
                <a:spcPct val="0"/>
              </a:spcBef>
            </a:pPr>
            <a:r>
              <a:rPr lang="en-US" b="true" sz="3500">
                <a:solidFill>
                  <a:srgbClr val="1F48FF"/>
                </a:solidFill>
                <a:latin typeface="Montserrat Bold"/>
                <a:ea typeface="Montserrat Bold"/>
                <a:cs typeface="Montserrat Bold"/>
                <a:sym typeface="Montserrat Bold"/>
              </a:rPr>
              <a:t>KỲ VĨ VÀ HÙNG VĨ</a:t>
            </a:r>
          </a:p>
        </p:txBody>
      </p:sp>
      <p:sp>
        <p:nvSpPr>
          <p:cNvPr name="TextBox 14" id="14"/>
          <p:cNvSpPr txBox="true"/>
          <p:nvPr/>
        </p:nvSpPr>
        <p:spPr>
          <a:xfrm rot="0">
            <a:off x="2711935" y="4277360"/>
            <a:ext cx="6742731" cy="1989455"/>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Montserrat"/>
                <a:ea typeface="Montserrat"/>
                <a:cs typeface="Montserrat"/>
                <a:sym typeface="Montserrat"/>
              </a:rPr>
              <a:t>Sapa, Hà Giang hay Mù Cang Chải vẫy gọi du khách bằng những cung đường đèo uốn lượn quanh co, những thửa ruộng bậc thang vàng rực mùa lúa chín và nét văn hóa rực rỡ của các đồng bào dân tộc thiểu số.</a:t>
            </a:r>
          </a:p>
        </p:txBody>
      </p:sp>
      <p:sp>
        <p:nvSpPr>
          <p:cNvPr name="TextBox 15" id="15"/>
          <p:cNvSpPr txBox="true"/>
          <p:nvPr/>
        </p:nvSpPr>
        <p:spPr>
          <a:xfrm rot="0">
            <a:off x="8065469" y="7322185"/>
            <a:ext cx="6742731" cy="1589405"/>
          </a:xfrm>
          <a:prstGeom prst="rect">
            <a:avLst/>
          </a:prstGeom>
        </p:spPr>
        <p:txBody>
          <a:bodyPr anchor="t" rtlCol="false" tIns="0" lIns="0" bIns="0" rIns="0">
            <a:spAutoFit/>
          </a:bodyPr>
          <a:lstStyle/>
          <a:p>
            <a:pPr algn="r">
              <a:lnSpc>
                <a:spcPts val="3220"/>
              </a:lnSpc>
              <a:spcBef>
                <a:spcPct val="0"/>
              </a:spcBef>
            </a:pPr>
            <a:r>
              <a:rPr lang="en-US" sz="2300">
                <a:solidFill>
                  <a:srgbClr val="FFFFFF"/>
                </a:solidFill>
                <a:latin typeface="Montserrat"/>
                <a:ea typeface="Montserrat"/>
                <a:cs typeface="Montserrat"/>
                <a:sym typeface="Montserrat"/>
              </a:rPr>
              <a:t>Vịnh Hạ Long — nơi hàng ngàn đảo đá vôi nhô lên từ mặt nước xanh ngọc bích, tạo nên một tuyệt tác hội họa thiên nhiên sống động, xứng danh kỳ quan thiên nhiên thế giới.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75000" y="2146300"/>
            <a:ext cx="5816600" cy="4724400"/>
            <a:chOff x="0" y="0"/>
            <a:chExt cx="901144" cy="731933"/>
          </a:xfrm>
        </p:grpSpPr>
        <p:sp>
          <p:nvSpPr>
            <p:cNvPr name="Freeform 3" id="3"/>
            <p:cNvSpPr/>
            <p:nvPr/>
          </p:nvSpPr>
          <p:spPr>
            <a:xfrm flipH="false" flipV="false" rot="0">
              <a:off x="0" y="0"/>
              <a:ext cx="901144" cy="731933"/>
            </a:xfrm>
            <a:custGeom>
              <a:avLst/>
              <a:gdLst/>
              <a:ahLst/>
              <a:cxnLst/>
              <a:rect r="r" b="b" t="t" l="l"/>
              <a:pathLst>
                <a:path h="731933" w="901144">
                  <a:moveTo>
                    <a:pt x="0" y="0"/>
                  </a:moveTo>
                  <a:lnTo>
                    <a:pt x="901144" y="0"/>
                  </a:lnTo>
                  <a:lnTo>
                    <a:pt x="901144" y="731933"/>
                  </a:lnTo>
                  <a:lnTo>
                    <a:pt x="0" y="731933"/>
                  </a:lnTo>
                  <a:close/>
                </a:path>
              </a:pathLst>
            </a:custGeom>
            <a:blipFill>
              <a:blip r:embed="rId2"/>
              <a:stretch>
                <a:fillRect l="-10917" t="0" r="-10917" b="0"/>
              </a:stretch>
            </a:blipFill>
          </p:spPr>
        </p:sp>
      </p:grpSp>
      <p:grpSp>
        <p:nvGrpSpPr>
          <p:cNvPr name="Group 4" id="4"/>
          <p:cNvGrpSpPr/>
          <p:nvPr/>
        </p:nvGrpSpPr>
        <p:grpSpPr>
          <a:xfrm rot="0">
            <a:off x="9296400" y="3721100"/>
            <a:ext cx="5816600" cy="4724400"/>
            <a:chOff x="0" y="0"/>
            <a:chExt cx="901144" cy="731933"/>
          </a:xfrm>
        </p:grpSpPr>
        <p:sp>
          <p:nvSpPr>
            <p:cNvPr name="Freeform 5" id="5"/>
            <p:cNvSpPr/>
            <p:nvPr/>
          </p:nvSpPr>
          <p:spPr>
            <a:xfrm flipH="false" flipV="false" rot="0">
              <a:off x="0" y="0"/>
              <a:ext cx="901144" cy="731933"/>
            </a:xfrm>
            <a:custGeom>
              <a:avLst/>
              <a:gdLst/>
              <a:ahLst/>
              <a:cxnLst/>
              <a:rect r="r" b="b" t="t" l="l"/>
              <a:pathLst>
                <a:path h="731933" w="901144">
                  <a:moveTo>
                    <a:pt x="0" y="0"/>
                  </a:moveTo>
                  <a:lnTo>
                    <a:pt x="901144" y="0"/>
                  </a:lnTo>
                  <a:lnTo>
                    <a:pt x="901144" y="731933"/>
                  </a:lnTo>
                  <a:lnTo>
                    <a:pt x="0" y="731933"/>
                  </a:lnTo>
                  <a:close/>
                </a:path>
              </a:pathLst>
            </a:custGeom>
            <a:blipFill>
              <a:blip r:embed="rId3"/>
              <a:stretch>
                <a:fillRect l="-10861" t="0" r="-10861" b="0"/>
              </a:stretch>
            </a:blipFill>
          </p:spPr>
        </p:sp>
      </p:grpSp>
      <p:sp>
        <p:nvSpPr>
          <p:cNvPr name="TextBox 6" id="6"/>
          <p:cNvSpPr txBox="true"/>
          <p:nvPr/>
        </p:nvSpPr>
        <p:spPr>
          <a:xfrm rot="0">
            <a:off x="3614950" y="39328"/>
            <a:ext cx="5376650" cy="2106972"/>
          </a:xfrm>
          <a:prstGeom prst="rect">
            <a:avLst/>
          </a:prstGeom>
        </p:spPr>
        <p:txBody>
          <a:bodyPr anchor="t" rtlCol="false" tIns="0" lIns="0" bIns="0" rIns="0">
            <a:spAutoFit/>
          </a:bodyPr>
          <a:lstStyle/>
          <a:p>
            <a:pPr algn="r">
              <a:lnSpc>
                <a:spcPts val="17171"/>
              </a:lnSpc>
            </a:pPr>
            <a:r>
              <a:rPr lang="en-US" sz="12265">
                <a:solidFill>
                  <a:srgbClr val="1F48FF"/>
                </a:solidFill>
                <a:latin typeface="Bahianita"/>
                <a:ea typeface="Bahianita"/>
                <a:cs typeface="Bahianita"/>
                <a:sym typeface="Bahianita"/>
              </a:rPr>
              <a:t>MIỀN TRUNG</a:t>
            </a:r>
          </a:p>
        </p:txBody>
      </p:sp>
      <p:sp>
        <p:nvSpPr>
          <p:cNvPr name="TextBox 7" id="7"/>
          <p:cNvSpPr txBox="true"/>
          <p:nvPr/>
        </p:nvSpPr>
        <p:spPr>
          <a:xfrm rot="0">
            <a:off x="9296400" y="8651875"/>
            <a:ext cx="7041808" cy="606425"/>
          </a:xfrm>
          <a:prstGeom prst="rect">
            <a:avLst/>
          </a:prstGeom>
        </p:spPr>
        <p:txBody>
          <a:bodyPr anchor="t" rtlCol="false" tIns="0" lIns="0" bIns="0" rIns="0">
            <a:spAutoFit/>
          </a:bodyPr>
          <a:lstStyle/>
          <a:p>
            <a:pPr algn="l">
              <a:lnSpc>
                <a:spcPts val="4900"/>
              </a:lnSpc>
              <a:spcBef>
                <a:spcPct val="0"/>
              </a:spcBef>
            </a:pPr>
            <a:r>
              <a:rPr lang="en-US" b="true" sz="3500">
                <a:solidFill>
                  <a:srgbClr val="1F48FF"/>
                </a:solidFill>
                <a:latin typeface="Montserrat Bold"/>
                <a:ea typeface="Montserrat Bold"/>
                <a:cs typeface="Montserrat Bold"/>
                <a:sym typeface="Montserrat Bold"/>
              </a:rPr>
              <a:t>CON</a:t>
            </a:r>
            <a:r>
              <a:rPr lang="en-US" b="true" sz="3500">
                <a:solidFill>
                  <a:srgbClr val="1F48FF"/>
                </a:solidFill>
                <a:latin typeface="Montserrat Bold"/>
                <a:ea typeface="Montserrat Bold"/>
                <a:cs typeface="Montserrat Bold"/>
                <a:sym typeface="Montserrat Bold"/>
              </a:rPr>
              <a:t> ĐƯỜNG DI SẢN</a:t>
            </a:r>
          </a:p>
        </p:txBody>
      </p:sp>
      <p:sp>
        <p:nvSpPr>
          <p:cNvPr name="TextBox 8" id="8"/>
          <p:cNvSpPr txBox="true"/>
          <p:nvPr/>
        </p:nvSpPr>
        <p:spPr>
          <a:xfrm rot="0">
            <a:off x="9296400" y="1553243"/>
            <a:ext cx="7503728" cy="1589405"/>
          </a:xfrm>
          <a:prstGeom prst="rect">
            <a:avLst/>
          </a:prstGeom>
        </p:spPr>
        <p:txBody>
          <a:bodyPr anchor="t" rtlCol="false" tIns="0" lIns="0" bIns="0" rIns="0">
            <a:spAutoFit/>
          </a:bodyPr>
          <a:lstStyle/>
          <a:p>
            <a:pPr algn="l">
              <a:lnSpc>
                <a:spcPts val="3220"/>
              </a:lnSpc>
              <a:spcBef>
                <a:spcPct val="0"/>
              </a:spcBef>
            </a:pPr>
            <a:r>
              <a:rPr lang="en-US" sz="2300">
                <a:solidFill>
                  <a:srgbClr val="000000"/>
                </a:solidFill>
                <a:latin typeface="Montserrat"/>
                <a:ea typeface="Montserrat"/>
                <a:cs typeface="Montserrat"/>
                <a:sym typeface="Montserrat"/>
              </a:rPr>
              <a:t> Cố đô Huế</a:t>
            </a:r>
            <a:r>
              <a:rPr lang="en-US" sz="2300">
                <a:solidFill>
                  <a:srgbClr val="000000"/>
                </a:solidFill>
                <a:latin typeface="Montserrat"/>
                <a:ea typeface="Montserrat"/>
                <a:cs typeface="Montserrat"/>
                <a:sym typeface="Montserrat"/>
              </a:rPr>
              <a:t> trầm mặc bên dòng sông Hương thơ mộng, kết hợp cùng Phố cổ Hội An đèn lồng rực rỡ bên sông Hoài tạo nên một không gian hoài niệm, lưu giữ vẹn nguyên kiến trúc cổ xưa.</a:t>
            </a:r>
          </a:p>
        </p:txBody>
      </p:sp>
      <p:sp>
        <p:nvSpPr>
          <p:cNvPr name="TextBox 9" id="9"/>
          <p:cNvSpPr txBox="true"/>
          <p:nvPr/>
        </p:nvSpPr>
        <p:spPr>
          <a:xfrm rot="0">
            <a:off x="1623227" y="7322185"/>
            <a:ext cx="7368373" cy="1589405"/>
          </a:xfrm>
          <a:prstGeom prst="rect">
            <a:avLst/>
          </a:prstGeom>
        </p:spPr>
        <p:txBody>
          <a:bodyPr anchor="t" rtlCol="false" tIns="0" lIns="0" bIns="0" rIns="0">
            <a:spAutoFit/>
          </a:bodyPr>
          <a:lstStyle/>
          <a:p>
            <a:pPr algn="r">
              <a:lnSpc>
                <a:spcPts val="3220"/>
              </a:lnSpc>
              <a:spcBef>
                <a:spcPct val="0"/>
              </a:spcBef>
            </a:pPr>
            <a:r>
              <a:rPr lang="en-US" sz="2300">
                <a:solidFill>
                  <a:srgbClr val="000000"/>
                </a:solidFill>
                <a:latin typeface="Montserrat"/>
                <a:ea typeface="Montserrat"/>
                <a:cs typeface="Montserrat"/>
                <a:sym typeface="Montserrat"/>
              </a:rPr>
              <a:t>Đà Nẵng, Nha Trang hay Quy Nhơn ôm trọn lòng du khách bằng</a:t>
            </a:r>
            <a:r>
              <a:rPr lang="en-US" sz="2300">
                <a:solidFill>
                  <a:srgbClr val="000000"/>
                </a:solidFill>
                <a:latin typeface="Montserrat"/>
                <a:ea typeface="Montserrat"/>
                <a:cs typeface="Montserrat"/>
                <a:sym typeface="Montserrat"/>
              </a:rPr>
              <a:t> những bãi biển cát trắng mịn màng, sóng vỗ êm đềm và hệ thống dịch vụ nghỉ dưỡng, giải trí đẳng cấp quốc tế.</a:t>
            </a:r>
          </a:p>
        </p:txBody>
      </p:sp>
      <p:grpSp>
        <p:nvGrpSpPr>
          <p:cNvPr name="Group 10" id="10"/>
          <p:cNvGrpSpPr/>
          <p:nvPr/>
        </p:nvGrpSpPr>
        <p:grpSpPr>
          <a:xfrm rot="0">
            <a:off x="-1157371" y="1211877"/>
            <a:ext cx="1728871" cy="7851608"/>
            <a:chOff x="0" y="0"/>
            <a:chExt cx="455341" cy="2067913"/>
          </a:xfrm>
        </p:grpSpPr>
        <p:sp>
          <p:nvSpPr>
            <p:cNvPr name="Freeform 11" id="11"/>
            <p:cNvSpPr/>
            <p:nvPr/>
          </p:nvSpPr>
          <p:spPr>
            <a:xfrm flipH="false" flipV="false" rot="0">
              <a:off x="0" y="0"/>
              <a:ext cx="455341" cy="2067913"/>
            </a:xfrm>
            <a:custGeom>
              <a:avLst/>
              <a:gdLst/>
              <a:ahLst/>
              <a:cxnLst/>
              <a:rect r="r" b="b" t="t" l="l"/>
              <a:pathLst>
                <a:path h="2067913" w="455341">
                  <a:moveTo>
                    <a:pt x="0" y="0"/>
                  </a:moveTo>
                  <a:lnTo>
                    <a:pt x="455341" y="0"/>
                  </a:lnTo>
                  <a:lnTo>
                    <a:pt x="455341" y="2067913"/>
                  </a:lnTo>
                  <a:lnTo>
                    <a:pt x="0" y="2067913"/>
                  </a:lnTo>
                  <a:close/>
                </a:path>
              </a:pathLst>
            </a:custGeom>
            <a:solidFill>
              <a:srgbClr val="1634BA"/>
            </a:solidFill>
          </p:spPr>
        </p:sp>
        <p:sp>
          <p:nvSpPr>
            <p:cNvPr name="TextBox 12" id="12"/>
            <p:cNvSpPr txBox="true"/>
            <p:nvPr/>
          </p:nvSpPr>
          <p:spPr>
            <a:xfrm>
              <a:off x="0" y="-47625"/>
              <a:ext cx="455341" cy="2115538"/>
            </a:xfrm>
            <a:prstGeom prst="rect">
              <a:avLst/>
            </a:prstGeom>
          </p:spPr>
          <p:txBody>
            <a:bodyPr anchor="ctr" rtlCol="false" tIns="50800" lIns="50800" bIns="50800" rIns="50800"/>
            <a:lstStyle/>
            <a:p>
              <a:pPr algn="ctr">
                <a:lnSpc>
                  <a:spcPts val="3220"/>
                </a:lnSpc>
              </a:pPr>
            </a:p>
          </p:txBody>
        </p:sp>
      </p:grpSp>
      <p:grpSp>
        <p:nvGrpSpPr>
          <p:cNvPr name="Group 13" id="13"/>
          <p:cNvGrpSpPr/>
          <p:nvPr/>
        </p:nvGrpSpPr>
        <p:grpSpPr>
          <a:xfrm rot="0">
            <a:off x="17666903" y="1370096"/>
            <a:ext cx="1728871" cy="7851608"/>
            <a:chOff x="0" y="0"/>
            <a:chExt cx="455341" cy="2067913"/>
          </a:xfrm>
        </p:grpSpPr>
        <p:sp>
          <p:nvSpPr>
            <p:cNvPr name="Freeform 14" id="14"/>
            <p:cNvSpPr/>
            <p:nvPr/>
          </p:nvSpPr>
          <p:spPr>
            <a:xfrm flipH="false" flipV="false" rot="0">
              <a:off x="0" y="0"/>
              <a:ext cx="455341" cy="2067913"/>
            </a:xfrm>
            <a:custGeom>
              <a:avLst/>
              <a:gdLst/>
              <a:ahLst/>
              <a:cxnLst/>
              <a:rect r="r" b="b" t="t" l="l"/>
              <a:pathLst>
                <a:path h="2067913" w="455341">
                  <a:moveTo>
                    <a:pt x="0" y="0"/>
                  </a:moveTo>
                  <a:lnTo>
                    <a:pt x="455341" y="0"/>
                  </a:lnTo>
                  <a:lnTo>
                    <a:pt x="455341" y="2067913"/>
                  </a:lnTo>
                  <a:lnTo>
                    <a:pt x="0" y="2067913"/>
                  </a:lnTo>
                  <a:close/>
                </a:path>
              </a:pathLst>
            </a:custGeom>
            <a:solidFill>
              <a:srgbClr val="1634BA"/>
            </a:solidFill>
          </p:spPr>
        </p:sp>
        <p:sp>
          <p:nvSpPr>
            <p:cNvPr name="TextBox 15" id="15"/>
            <p:cNvSpPr txBox="true"/>
            <p:nvPr/>
          </p:nvSpPr>
          <p:spPr>
            <a:xfrm>
              <a:off x="0" y="-47625"/>
              <a:ext cx="455341" cy="2115538"/>
            </a:xfrm>
            <a:prstGeom prst="rect">
              <a:avLst/>
            </a:prstGeom>
          </p:spPr>
          <p:txBody>
            <a:bodyPr anchor="ctr" rtlCol="false" tIns="50800" lIns="50800" bIns="50800" rIns="50800"/>
            <a:lstStyle/>
            <a:p>
              <a:pPr algn="ctr">
                <a:lnSpc>
                  <a:spcPts val="322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1500" y="571500"/>
            <a:ext cx="8420100" cy="4724400"/>
            <a:chOff x="0" y="0"/>
            <a:chExt cx="1304494" cy="731933"/>
          </a:xfrm>
        </p:grpSpPr>
        <p:sp>
          <p:nvSpPr>
            <p:cNvPr name="Freeform 3" id="3"/>
            <p:cNvSpPr/>
            <p:nvPr/>
          </p:nvSpPr>
          <p:spPr>
            <a:xfrm flipH="false" flipV="false" rot="0">
              <a:off x="0" y="0"/>
              <a:ext cx="1304494" cy="731933"/>
            </a:xfrm>
            <a:custGeom>
              <a:avLst/>
              <a:gdLst/>
              <a:ahLst/>
              <a:cxnLst/>
              <a:rect r="r" b="b" t="t" l="l"/>
              <a:pathLst>
                <a:path h="731933" w="1304494">
                  <a:moveTo>
                    <a:pt x="0" y="0"/>
                  </a:moveTo>
                  <a:lnTo>
                    <a:pt x="1304494" y="0"/>
                  </a:lnTo>
                  <a:lnTo>
                    <a:pt x="1304494" y="731933"/>
                  </a:lnTo>
                  <a:lnTo>
                    <a:pt x="0" y="731933"/>
                  </a:lnTo>
                  <a:close/>
                </a:path>
              </a:pathLst>
            </a:custGeom>
            <a:blipFill>
              <a:blip r:embed="rId2"/>
              <a:stretch>
                <a:fillRect l="0" t="-9462" r="0" b="-9462"/>
              </a:stretch>
            </a:blipFill>
          </p:spPr>
        </p:sp>
      </p:grpSp>
      <p:grpSp>
        <p:nvGrpSpPr>
          <p:cNvPr name="Group 4" id="4"/>
          <p:cNvGrpSpPr/>
          <p:nvPr/>
        </p:nvGrpSpPr>
        <p:grpSpPr>
          <a:xfrm rot="0">
            <a:off x="9296400" y="4991100"/>
            <a:ext cx="8420100" cy="4724400"/>
            <a:chOff x="0" y="0"/>
            <a:chExt cx="1304494" cy="731933"/>
          </a:xfrm>
        </p:grpSpPr>
        <p:sp>
          <p:nvSpPr>
            <p:cNvPr name="Freeform 5" id="5"/>
            <p:cNvSpPr/>
            <p:nvPr/>
          </p:nvSpPr>
          <p:spPr>
            <a:xfrm flipH="false" flipV="false" rot="0">
              <a:off x="0" y="0"/>
              <a:ext cx="1304494" cy="731933"/>
            </a:xfrm>
            <a:custGeom>
              <a:avLst/>
              <a:gdLst/>
              <a:ahLst/>
              <a:cxnLst/>
              <a:rect r="r" b="b" t="t" l="l"/>
              <a:pathLst>
                <a:path h="731933" w="1304494">
                  <a:moveTo>
                    <a:pt x="0" y="0"/>
                  </a:moveTo>
                  <a:lnTo>
                    <a:pt x="1304494" y="0"/>
                  </a:lnTo>
                  <a:lnTo>
                    <a:pt x="1304494" y="731933"/>
                  </a:lnTo>
                  <a:lnTo>
                    <a:pt x="0" y="731933"/>
                  </a:lnTo>
                  <a:close/>
                </a:path>
              </a:pathLst>
            </a:custGeom>
            <a:blipFill>
              <a:blip r:embed="rId3"/>
              <a:stretch>
                <a:fillRect l="0" t="-16915" r="0" b="-16915"/>
              </a:stretch>
            </a:blipFill>
          </p:spPr>
        </p:sp>
      </p:grpSp>
      <p:sp>
        <p:nvSpPr>
          <p:cNvPr name="TextBox 6" id="6"/>
          <p:cNvSpPr txBox="true"/>
          <p:nvPr/>
        </p:nvSpPr>
        <p:spPr>
          <a:xfrm rot="0">
            <a:off x="9296400" y="423111"/>
            <a:ext cx="7154489" cy="3682125"/>
          </a:xfrm>
          <a:prstGeom prst="rect">
            <a:avLst/>
          </a:prstGeom>
        </p:spPr>
        <p:txBody>
          <a:bodyPr anchor="t" rtlCol="false" tIns="0" lIns="0" bIns="0" rIns="0">
            <a:spAutoFit/>
          </a:bodyPr>
          <a:lstStyle/>
          <a:p>
            <a:pPr algn="just">
              <a:lnSpc>
                <a:spcPts val="30122"/>
              </a:lnSpc>
            </a:pPr>
            <a:r>
              <a:rPr lang="en-US" sz="21515">
                <a:solidFill>
                  <a:srgbClr val="1F48FF"/>
                </a:solidFill>
                <a:latin typeface="Bahianita"/>
                <a:ea typeface="Bahianita"/>
                <a:cs typeface="Bahianita"/>
                <a:sym typeface="Bahianita"/>
              </a:rPr>
              <a:t>MIỀN NAM</a:t>
            </a:r>
          </a:p>
        </p:txBody>
      </p:sp>
      <p:sp>
        <p:nvSpPr>
          <p:cNvPr name="TextBox 7" id="7"/>
          <p:cNvSpPr txBox="true"/>
          <p:nvPr/>
        </p:nvSpPr>
        <p:spPr>
          <a:xfrm rot="0">
            <a:off x="9296400" y="3724948"/>
            <a:ext cx="8077051" cy="679080"/>
          </a:xfrm>
          <a:prstGeom prst="rect">
            <a:avLst/>
          </a:prstGeom>
        </p:spPr>
        <p:txBody>
          <a:bodyPr anchor="t" rtlCol="false" tIns="0" lIns="0" bIns="0" rIns="0">
            <a:spAutoFit/>
          </a:bodyPr>
          <a:lstStyle/>
          <a:p>
            <a:pPr algn="l">
              <a:lnSpc>
                <a:spcPts val="5620"/>
              </a:lnSpc>
              <a:spcBef>
                <a:spcPct val="0"/>
              </a:spcBef>
            </a:pPr>
            <a:r>
              <a:rPr lang="en-US" b="true" sz="4014">
                <a:solidFill>
                  <a:srgbClr val="1F48FF"/>
                </a:solidFill>
                <a:latin typeface="Montserrat Bold"/>
                <a:ea typeface="Montserrat Bold"/>
                <a:cs typeface="Montserrat Bold"/>
                <a:sym typeface="Montserrat Bold"/>
              </a:rPr>
              <a:t>NĂNG</a:t>
            </a:r>
            <a:r>
              <a:rPr lang="en-US" b="true" sz="4014">
                <a:solidFill>
                  <a:srgbClr val="1F48FF"/>
                </a:solidFill>
                <a:latin typeface="Montserrat Bold"/>
                <a:ea typeface="Montserrat Bold"/>
                <a:cs typeface="Montserrat Bold"/>
                <a:sym typeface="Montserrat Bold"/>
              </a:rPr>
              <a:t> ĐỘNG VÀ TRÙ PHÚ</a:t>
            </a:r>
          </a:p>
        </p:txBody>
      </p:sp>
      <p:sp>
        <p:nvSpPr>
          <p:cNvPr name="TextBox 8" id="8"/>
          <p:cNvSpPr txBox="true"/>
          <p:nvPr/>
        </p:nvSpPr>
        <p:spPr>
          <a:xfrm rot="0">
            <a:off x="571500" y="6078220"/>
            <a:ext cx="4014570" cy="2715895"/>
          </a:xfrm>
          <a:prstGeom prst="rect">
            <a:avLst/>
          </a:prstGeom>
        </p:spPr>
        <p:txBody>
          <a:bodyPr anchor="t" rtlCol="false" tIns="0" lIns="0" bIns="0" rIns="0">
            <a:spAutoFit/>
          </a:bodyPr>
          <a:lstStyle/>
          <a:p>
            <a:pPr algn="l">
              <a:lnSpc>
                <a:spcPts val="3080"/>
              </a:lnSpc>
              <a:spcBef>
                <a:spcPct val="0"/>
              </a:spcBef>
            </a:pPr>
            <a:r>
              <a:rPr lang="en-US" sz="2200">
                <a:solidFill>
                  <a:srgbClr val="000000"/>
                </a:solidFill>
                <a:latin typeface="Montserrat"/>
                <a:ea typeface="Montserrat"/>
                <a:cs typeface="Montserrat"/>
                <a:sym typeface="Montserrat"/>
              </a:rPr>
              <a:t>Thành phố Hồ</a:t>
            </a:r>
            <a:r>
              <a:rPr lang="en-US" sz="2200">
                <a:solidFill>
                  <a:srgbClr val="000000"/>
                </a:solidFill>
                <a:latin typeface="Montserrat"/>
                <a:ea typeface="Montserrat"/>
                <a:cs typeface="Montserrat"/>
                <a:sym typeface="Montserrat"/>
              </a:rPr>
              <a:t> Chí Minh sầm uất, không ngủ với những tòa nhà chọc trời hòa quyện bên các công trình kiến trúc thời Pháp thuộc cổ kính, đại diện cho một Việt Nam hội nhập, phát triển mạnh mẽ.</a:t>
            </a:r>
          </a:p>
        </p:txBody>
      </p:sp>
      <p:sp>
        <p:nvSpPr>
          <p:cNvPr name="TextBox 9" id="9"/>
          <p:cNvSpPr txBox="true"/>
          <p:nvPr/>
        </p:nvSpPr>
        <p:spPr>
          <a:xfrm rot="0">
            <a:off x="5294897" y="6078220"/>
            <a:ext cx="3713781" cy="2715895"/>
          </a:xfrm>
          <a:prstGeom prst="rect">
            <a:avLst/>
          </a:prstGeom>
        </p:spPr>
        <p:txBody>
          <a:bodyPr anchor="t" rtlCol="false" tIns="0" lIns="0" bIns="0" rIns="0">
            <a:spAutoFit/>
          </a:bodyPr>
          <a:lstStyle/>
          <a:p>
            <a:pPr algn="l">
              <a:lnSpc>
                <a:spcPts val="3080"/>
              </a:lnSpc>
              <a:spcBef>
                <a:spcPct val="0"/>
              </a:spcBef>
            </a:pPr>
            <a:r>
              <a:rPr lang="en-US" sz="2200">
                <a:solidFill>
                  <a:srgbClr val="000000"/>
                </a:solidFill>
                <a:latin typeface="Montserrat"/>
                <a:ea typeface="Montserrat"/>
                <a:cs typeface="Montserrat"/>
                <a:sym typeface="Montserrat"/>
              </a:rPr>
              <a:t>Về</a:t>
            </a:r>
            <a:r>
              <a:rPr lang="en-US" sz="2200">
                <a:solidFill>
                  <a:srgbClr val="000000"/>
                </a:solidFill>
                <a:latin typeface="Montserrat"/>
                <a:ea typeface="Montserrat"/>
                <a:cs typeface="Montserrat"/>
                <a:sym typeface="Montserrat"/>
              </a:rPr>
              <a:t> với miền Tây Nam Bộ để trải nghiệm nếp sống len lỏi qua kênh rạch, những miệt vườn trái cây trĩu quả bốn mùa và nét văn hóa họp chợ nổi trên sông vô cùng độc đáo.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1500" y="0"/>
            <a:ext cx="8420100" cy="10287000"/>
            <a:chOff x="0" y="0"/>
            <a:chExt cx="1304494" cy="1593725"/>
          </a:xfrm>
        </p:grpSpPr>
        <p:sp>
          <p:nvSpPr>
            <p:cNvPr name="Freeform 3" id="3"/>
            <p:cNvSpPr/>
            <p:nvPr/>
          </p:nvSpPr>
          <p:spPr>
            <a:xfrm flipH="false" flipV="false" rot="0">
              <a:off x="0" y="0"/>
              <a:ext cx="1304494" cy="1593725"/>
            </a:xfrm>
            <a:custGeom>
              <a:avLst/>
              <a:gdLst/>
              <a:ahLst/>
              <a:cxnLst/>
              <a:rect r="r" b="b" t="t" l="l"/>
              <a:pathLst>
                <a:path h="1593725" w="1304494">
                  <a:moveTo>
                    <a:pt x="0" y="0"/>
                  </a:moveTo>
                  <a:lnTo>
                    <a:pt x="1304494" y="0"/>
                  </a:lnTo>
                  <a:lnTo>
                    <a:pt x="1304494" y="1593725"/>
                  </a:lnTo>
                  <a:lnTo>
                    <a:pt x="0" y="1593725"/>
                  </a:lnTo>
                  <a:close/>
                </a:path>
              </a:pathLst>
            </a:custGeom>
            <a:blipFill>
              <a:blip r:embed="rId2"/>
              <a:stretch>
                <a:fillRect l="0" t="-11333" r="0" b="-11333"/>
              </a:stretch>
            </a:blipFill>
          </p:spPr>
        </p:sp>
      </p:grpSp>
      <p:sp>
        <p:nvSpPr>
          <p:cNvPr name="TextBox 4" id="4"/>
          <p:cNvSpPr txBox="true"/>
          <p:nvPr/>
        </p:nvSpPr>
        <p:spPr>
          <a:xfrm rot="0">
            <a:off x="9296400" y="361950"/>
            <a:ext cx="8750968" cy="1881905"/>
          </a:xfrm>
          <a:prstGeom prst="rect">
            <a:avLst/>
          </a:prstGeom>
        </p:spPr>
        <p:txBody>
          <a:bodyPr anchor="t" rtlCol="false" tIns="0" lIns="0" bIns="0" rIns="0">
            <a:spAutoFit/>
          </a:bodyPr>
          <a:lstStyle/>
          <a:p>
            <a:pPr algn="just">
              <a:lnSpc>
                <a:spcPts val="15438"/>
              </a:lnSpc>
            </a:pPr>
            <a:r>
              <a:rPr lang="en-US" sz="11027">
                <a:solidFill>
                  <a:srgbClr val="1F48FF"/>
                </a:solidFill>
                <a:latin typeface="Bahianita"/>
                <a:ea typeface="Bahianita"/>
                <a:cs typeface="Bahianita"/>
                <a:sym typeface="Bahianita"/>
              </a:rPr>
              <a:t>NHỮNG CON SỐ ẤN TƯỢNG</a:t>
            </a:r>
          </a:p>
        </p:txBody>
      </p:sp>
      <p:sp>
        <p:nvSpPr>
          <p:cNvPr name="TextBox 5" id="5"/>
          <p:cNvSpPr txBox="true"/>
          <p:nvPr/>
        </p:nvSpPr>
        <p:spPr>
          <a:xfrm rot="0">
            <a:off x="9296400" y="2167655"/>
            <a:ext cx="8077051" cy="679080"/>
          </a:xfrm>
          <a:prstGeom prst="rect">
            <a:avLst/>
          </a:prstGeom>
        </p:spPr>
        <p:txBody>
          <a:bodyPr anchor="t" rtlCol="false" tIns="0" lIns="0" bIns="0" rIns="0">
            <a:spAutoFit/>
          </a:bodyPr>
          <a:lstStyle/>
          <a:p>
            <a:pPr algn="l">
              <a:lnSpc>
                <a:spcPts val="5620"/>
              </a:lnSpc>
              <a:spcBef>
                <a:spcPct val="0"/>
              </a:spcBef>
            </a:pPr>
            <a:r>
              <a:rPr lang="en-US" b="true" sz="4014">
                <a:solidFill>
                  <a:srgbClr val="1F48FF"/>
                </a:solidFill>
                <a:latin typeface="Montserrat Bold"/>
                <a:ea typeface="Montserrat Bold"/>
                <a:cs typeface="Montserrat Bold"/>
                <a:sym typeface="Montserrat Bold"/>
              </a:rPr>
              <a:t>CỦA</a:t>
            </a:r>
            <a:r>
              <a:rPr lang="en-US" b="true" sz="4014">
                <a:solidFill>
                  <a:srgbClr val="1F48FF"/>
                </a:solidFill>
                <a:latin typeface="Montserrat Bold"/>
                <a:ea typeface="Montserrat Bold"/>
                <a:cs typeface="Montserrat Bold"/>
                <a:sym typeface="Montserrat Bold"/>
              </a:rPr>
              <a:t> DU LỊCH VIỆT NAM</a:t>
            </a:r>
          </a:p>
        </p:txBody>
      </p:sp>
      <p:sp>
        <p:nvSpPr>
          <p:cNvPr name="TextBox 6" id="6"/>
          <p:cNvSpPr txBox="true"/>
          <p:nvPr/>
        </p:nvSpPr>
        <p:spPr>
          <a:xfrm rot="0">
            <a:off x="9352132" y="3787775"/>
            <a:ext cx="5456068" cy="1014763"/>
          </a:xfrm>
          <a:prstGeom prst="rect">
            <a:avLst/>
          </a:prstGeom>
        </p:spPr>
        <p:txBody>
          <a:bodyPr anchor="t" rtlCol="false" tIns="0" lIns="0" bIns="0" rIns="0">
            <a:spAutoFit/>
          </a:bodyPr>
          <a:lstStyle/>
          <a:p>
            <a:pPr algn="l">
              <a:lnSpc>
                <a:spcPts val="7896"/>
              </a:lnSpc>
            </a:pPr>
            <a:r>
              <a:rPr lang="en-US" b="true" sz="7113">
                <a:solidFill>
                  <a:srgbClr val="1F48FF"/>
                </a:solidFill>
                <a:latin typeface="Bricolage Grotesque Bold"/>
                <a:ea typeface="Bricolage Grotesque Bold"/>
                <a:cs typeface="Bricolage Grotesque Bold"/>
                <a:sym typeface="Bricolage Grotesque Bold"/>
              </a:rPr>
              <a:t>3.260 KM</a:t>
            </a:r>
          </a:p>
        </p:txBody>
      </p:sp>
      <p:sp>
        <p:nvSpPr>
          <p:cNvPr name="TextBox 7" id="7"/>
          <p:cNvSpPr txBox="true"/>
          <p:nvPr/>
        </p:nvSpPr>
        <p:spPr>
          <a:xfrm rot="0">
            <a:off x="14094150" y="3648075"/>
            <a:ext cx="3622350" cy="1343025"/>
          </a:xfrm>
          <a:prstGeom prst="rect">
            <a:avLst/>
          </a:prstGeom>
        </p:spPr>
        <p:txBody>
          <a:bodyPr anchor="t" rtlCol="false" tIns="0" lIns="0" bIns="0" rIns="0">
            <a:spAutoFit/>
          </a:bodyPr>
          <a:lstStyle/>
          <a:p>
            <a:pPr algn="l">
              <a:lnSpc>
                <a:spcPts val="2639"/>
              </a:lnSpc>
            </a:pPr>
            <a:r>
              <a:rPr lang="en-US" sz="2199">
                <a:solidFill>
                  <a:srgbClr val="000000"/>
                </a:solidFill>
                <a:latin typeface="Bricolage Grotesque"/>
                <a:ea typeface="Bricolage Grotesque"/>
                <a:cs typeface="Bricolage Grotesque"/>
                <a:sym typeface="Bricolage Grotesque"/>
              </a:rPr>
              <a:t>Chiều dài</a:t>
            </a:r>
            <a:r>
              <a:rPr lang="en-US" sz="2199">
                <a:solidFill>
                  <a:srgbClr val="000000"/>
                </a:solidFill>
                <a:latin typeface="Bricolage Grotesque"/>
                <a:ea typeface="Bricolage Grotesque"/>
                <a:cs typeface="Bricolage Grotesque"/>
                <a:sym typeface="Bricolage Grotesque"/>
              </a:rPr>
              <a:t> đường bờ biển uốn lượn ôm trọn dải đất hình chữ S với hàng trăm bãi tắm hoang sơ, quyến rũ.</a:t>
            </a:r>
          </a:p>
        </p:txBody>
      </p:sp>
      <p:sp>
        <p:nvSpPr>
          <p:cNvPr name="TextBox 8" id="8"/>
          <p:cNvSpPr txBox="true"/>
          <p:nvPr/>
        </p:nvSpPr>
        <p:spPr>
          <a:xfrm rot="0">
            <a:off x="9352132" y="5930900"/>
            <a:ext cx="5456068" cy="1014763"/>
          </a:xfrm>
          <a:prstGeom prst="rect">
            <a:avLst/>
          </a:prstGeom>
        </p:spPr>
        <p:txBody>
          <a:bodyPr anchor="t" rtlCol="false" tIns="0" lIns="0" bIns="0" rIns="0">
            <a:spAutoFit/>
          </a:bodyPr>
          <a:lstStyle/>
          <a:p>
            <a:pPr algn="l">
              <a:lnSpc>
                <a:spcPts val="7896"/>
              </a:lnSpc>
            </a:pPr>
            <a:r>
              <a:rPr lang="en-US" b="true" sz="7113">
                <a:solidFill>
                  <a:srgbClr val="1F48FF"/>
                </a:solidFill>
                <a:latin typeface="Bricolage Grotesque Bold"/>
                <a:ea typeface="Bricolage Grotesque Bold"/>
                <a:cs typeface="Bricolage Grotesque Bold"/>
                <a:sym typeface="Bricolage Grotesque Bold"/>
              </a:rPr>
              <a:t>08 DI SẢN</a:t>
            </a:r>
          </a:p>
        </p:txBody>
      </p:sp>
      <p:sp>
        <p:nvSpPr>
          <p:cNvPr name="TextBox 9" id="9"/>
          <p:cNvSpPr txBox="true"/>
          <p:nvPr/>
        </p:nvSpPr>
        <p:spPr>
          <a:xfrm rot="0">
            <a:off x="14094150" y="5791200"/>
            <a:ext cx="3622350" cy="1343025"/>
          </a:xfrm>
          <a:prstGeom prst="rect">
            <a:avLst/>
          </a:prstGeom>
        </p:spPr>
        <p:txBody>
          <a:bodyPr anchor="t" rtlCol="false" tIns="0" lIns="0" bIns="0" rIns="0">
            <a:spAutoFit/>
          </a:bodyPr>
          <a:lstStyle/>
          <a:p>
            <a:pPr algn="l">
              <a:lnSpc>
                <a:spcPts val="2639"/>
              </a:lnSpc>
            </a:pPr>
            <a:r>
              <a:rPr lang="en-US" sz="2199">
                <a:solidFill>
                  <a:srgbClr val="000000"/>
                </a:solidFill>
                <a:latin typeface="Bricolage Grotesque"/>
                <a:ea typeface="Bricolage Grotesque"/>
                <a:cs typeface="Bricolage Grotesque"/>
                <a:sym typeface="Bricolage Grotesque"/>
              </a:rPr>
              <a:t>Số</a:t>
            </a:r>
            <a:r>
              <a:rPr lang="en-US" sz="2199">
                <a:solidFill>
                  <a:srgbClr val="000000"/>
                </a:solidFill>
                <a:latin typeface="Bricolage Grotesque"/>
                <a:ea typeface="Bricolage Grotesque"/>
                <a:cs typeface="Bricolage Grotesque"/>
                <a:sym typeface="Bricolage Grotesque"/>
              </a:rPr>
              <a:t> lượng di sản văn hóa và thiên nhiên thế giới được UNESCO vinh danh nằm trải dài khắp các tỉnh thành.</a:t>
            </a:r>
          </a:p>
        </p:txBody>
      </p:sp>
      <p:sp>
        <p:nvSpPr>
          <p:cNvPr name="TextBox 10" id="10"/>
          <p:cNvSpPr txBox="true"/>
          <p:nvPr/>
        </p:nvSpPr>
        <p:spPr>
          <a:xfrm rot="0">
            <a:off x="9352132" y="8074025"/>
            <a:ext cx="5456068" cy="1014763"/>
          </a:xfrm>
          <a:prstGeom prst="rect">
            <a:avLst/>
          </a:prstGeom>
        </p:spPr>
        <p:txBody>
          <a:bodyPr anchor="t" rtlCol="false" tIns="0" lIns="0" bIns="0" rIns="0">
            <a:spAutoFit/>
          </a:bodyPr>
          <a:lstStyle/>
          <a:p>
            <a:pPr algn="l">
              <a:lnSpc>
                <a:spcPts val="7896"/>
              </a:lnSpc>
            </a:pPr>
            <a:r>
              <a:rPr lang="en-US" sz="7113" b="true">
                <a:solidFill>
                  <a:srgbClr val="1F48FF"/>
                </a:solidFill>
                <a:latin typeface="Bricolage Grotesque Bold"/>
                <a:ea typeface="Bricolage Grotesque Bold"/>
                <a:cs typeface="Bricolage Grotesque Bold"/>
                <a:sym typeface="Bricolage Grotesque Bold"/>
              </a:rPr>
              <a:t>TOP 10</a:t>
            </a:r>
          </a:p>
        </p:txBody>
      </p:sp>
      <p:sp>
        <p:nvSpPr>
          <p:cNvPr name="TextBox 11" id="11"/>
          <p:cNvSpPr txBox="true"/>
          <p:nvPr/>
        </p:nvSpPr>
        <p:spPr>
          <a:xfrm rot="0">
            <a:off x="14094150" y="7934325"/>
            <a:ext cx="3622350" cy="1676400"/>
          </a:xfrm>
          <a:prstGeom prst="rect">
            <a:avLst/>
          </a:prstGeom>
        </p:spPr>
        <p:txBody>
          <a:bodyPr anchor="t" rtlCol="false" tIns="0" lIns="0" bIns="0" rIns="0">
            <a:spAutoFit/>
          </a:bodyPr>
          <a:lstStyle/>
          <a:p>
            <a:pPr algn="l">
              <a:lnSpc>
                <a:spcPts val="2639"/>
              </a:lnSpc>
            </a:pPr>
            <a:r>
              <a:rPr lang="en-US" sz="2199">
                <a:solidFill>
                  <a:srgbClr val="000000"/>
                </a:solidFill>
                <a:latin typeface="Bricolage Grotesque"/>
                <a:ea typeface="Bricolage Grotesque"/>
                <a:cs typeface="Bricolage Grotesque"/>
                <a:sym typeface="Bricolage Grotesque"/>
              </a:rPr>
              <a:t>Việt Nam liên tục lọt vào</a:t>
            </a:r>
            <a:r>
              <a:rPr lang="en-US" sz="2199">
                <a:solidFill>
                  <a:srgbClr val="000000"/>
                </a:solidFill>
                <a:latin typeface="Bricolage Grotesque"/>
                <a:ea typeface="Bricolage Grotesque"/>
                <a:cs typeface="Bricolage Grotesque"/>
                <a:sym typeface="Bricolage Grotesque"/>
              </a:rPr>
              <a:t> danh sách các điểm đến đáng trải nghiệm nhất thế giới do các tạp chí du lịch uy tín bình chọn.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1500" y="3111500"/>
            <a:ext cx="4308642" cy="3149600"/>
            <a:chOff x="0" y="0"/>
            <a:chExt cx="1134786" cy="829524"/>
          </a:xfrm>
        </p:grpSpPr>
        <p:sp>
          <p:nvSpPr>
            <p:cNvPr name="Freeform 3" id="3"/>
            <p:cNvSpPr/>
            <p:nvPr/>
          </p:nvSpPr>
          <p:spPr>
            <a:xfrm flipH="false" flipV="false" rot="0">
              <a:off x="0" y="0"/>
              <a:ext cx="1134786" cy="829524"/>
            </a:xfrm>
            <a:custGeom>
              <a:avLst/>
              <a:gdLst/>
              <a:ahLst/>
              <a:cxnLst/>
              <a:rect r="r" b="b" t="t" l="l"/>
              <a:pathLst>
                <a:path h="829524" w="1134786">
                  <a:moveTo>
                    <a:pt x="46718" y="0"/>
                  </a:moveTo>
                  <a:lnTo>
                    <a:pt x="1088069" y="0"/>
                  </a:lnTo>
                  <a:cubicBezTo>
                    <a:pt x="1100459" y="0"/>
                    <a:pt x="1112342" y="4922"/>
                    <a:pt x="1121103" y="13683"/>
                  </a:cubicBezTo>
                  <a:cubicBezTo>
                    <a:pt x="1129864" y="22445"/>
                    <a:pt x="1134786" y="34327"/>
                    <a:pt x="1134786" y="46718"/>
                  </a:cubicBezTo>
                  <a:lnTo>
                    <a:pt x="1134786" y="782807"/>
                  </a:lnTo>
                  <a:cubicBezTo>
                    <a:pt x="1134786" y="808608"/>
                    <a:pt x="1113870" y="829524"/>
                    <a:pt x="1088069" y="829524"/>
                  </a:cubicBezTo>
                  <a:lnTo>
                    <a:pt x="46718" y="829524"/>
                  </a:lnTo>
                  <a:cubicBezTo>
                    <a:pt x="20916" y="829524"/>
                    <a:pt x="0" y="808608"/>
                    <a:pt x="0" y="782807"/>
                  </a:cubicBezTo>
                  <a:lnTo>
                    <a:pt x="0" y="46718"/>
                  </a:lnTo>
                  <a:cubicBezTo>
                    <a:pt x="0" y="20916"/>
                    <a:pt x="20916" y="0"/>
                    <a:pt x="46718" y="0"/>
                  </a:cubicBezTo>
                  <a:close/>
                </a:path>
              </a:pathLst>
            </a:custGeom>
            <a:solidFill>
              <a:srgbClr val="1F48FF"/>
            </a:solidFill>
          </p:spPr>
        </p:sp>
        <p:sp>
          <p:nvSpPr>
            <p:cNvPr name="TextBox 4" id="4"/>
            <p:cNvSpPr txBox="true"/>
            <p:nvPr/>
          </p:nvSpPr>
          <p:spPr>
            <a:xfrm>
              <a:off x="0" y="-47625"/>
              <a:ext cx="1134786" cy="877149"/>
            </a:xfrm>
            <a:prstGeom prst="rect">
              <a:avLst/>
            </a:prstGeom>
          </p:spPr>
          <p:txBody>
            <a:bodyPr anchor="ctr" rtlCol="false" tIns="50800" lIns="50800" bIns="50800" rIns="50800"/>
            <a:lstStyle/>
            <a:p>
              <a:pPr algn="ctr">
                <a:lnSpc>
                  <a:spcPts val="3220"/>
                </a:lnSpc>
              </a:pPr>
            </a:p>
          </p:txBody>
        </p:sp>
      </p:grpSp>
      <p:grpSp>
        <p:nvGrpSpPr>
          <p:cNvPr name="Group 5" id="5"/>
          <p:cNvGrpSpPr/>
          <p:nvPr/>
        </p:nvGrpSpPr>
        <p:grpSpPr>
          <a:xfrm rot="0">
            <a:off x="4987758" y="3111500"/>
            <a:ext cx="4308642" cy="3149600"/>
            <a:chOff x="0" y="0"/>
            <a:chExt cx="1134786" cy="829524"/>
          </a:xfrm>
        </p:grpSpPr>
        <p:sp>
          <p:nvSpPr>
            <p:cNvPr name="Freeform 6" id="6"/>
            <p:cNvSpPr/>
            <p:nvPr/>
          </p:nvSpPr>
          <p:spPr>
            <a:xfrm flipH="false" flipV="false" rot="0">
              <a:off x="0" y="0"/>
              <a:ext cx="1134786" cy="829524"/>
            </a:xfrm>
            <a:custGeom>
              <a:avLst/>
              <a:gdLst/>
              <a:ahLst/>
              <a:cxnLst/>
              <a:rect r="r" b="b" t="t" l="l"/>
              <a:pathLst>
                <a:path h="829524" w="1134786">
                  <a:moveTo>
                    <a:pt x="46718" y="0"/>
                  </a:moveTo>
                  <a:lnTo>
                    <a:pt x="1088069" y="0"/>
                  </a:lnTo>
                  <a:cubicBezTo>
                    <a:pt x="1100459" y="0"/>
                    <a:pt x="1112342" y="4922"/>
                    <a:pt x="1121103" y="13683"/>
                  </a:cubicBezTo>
                  <a:cubicBezTo>
                    <a:pt x="1129864" y="22445"/>
                    <a:pt x="1134786" y="34327"/>
                    <a:pt x="1134786" y="46718"/>
                  </a:cubicBezTo>
                  <a:lnTo>
                    <a:pt x="1134786" y="782807"/>
                  </a:lnTo>
                  <a:cubicBezTo>
                    <a:pt x="1134786" y="808608"/>
                    <a:pt x="1113870" y="829524"/>
                    <a:pt x="1088069" y="829524"/>
                  </a:cubicBezTo>
                  <a:lnTo>
                    <a:pt x="46718" y="829524"/>
                  </a:lnTo>
                  <a:cubicBezTo>
                    <a:pt x="20916" y="829524"/>
                    <a:pt x="0" y="808608"/>
                    <a:pt x="0" y="782807"/>
                  </a:cubicBezTo>
                  <a:lnTo>
                    <a:pt x="0" y="46718"/>
                  </a:lnTo>
                  <a:cubicBezTo>
                    <a:pt x="0" y="20916"/>
                    <a:pt x="20916" y="0"/>
                    <a:pt x="46718" y="0"/>
                  </a:cubicBezTo>
                  <a:close/>
                </a:path>
              </a:pathLst>
            </a:custGeom>
            <a:solidFill>
              <a:srgbClr val="1F48FF"/>
            </a:solidFill>
          </p:spPr>
        </p:sp>
        <p:sp>
          <p:nvSpPr>
            <p:cNvPr name="TextBox 7" id="7"/>
            <p:cNvSpPr txBox="true"/>
            <p:nvPr/>
          </p:nvSpPr>
          <p:spPr>
            <a:xfrm>
              <a:off x="0" y="-47625"/>
              <a:ext cx="1134786" cy="877149"/>
            </a:xfrm>
            <a:prstGeom prst="rect">
              <a:avLst/>
            </a:prstGeom>
          </p:spPr>
          <p:txBody>
            <a:bodyPr anchor="ctr" rtlCol="false" tIns="50800" lIns="50800" bIns="50800" rIns="50800"/>
            <a:lstStyle/>
            <a:p>
              <a:pPr algn="ctr">
                <a:lnSpc>
                  <a:spcPts val="3220"/>
                </a:lnSpc>
              </a:pPr>
            </a:p>
          </p:txBody>
        </p:sp>
      </p:grpSp>
      <p:grpSp>
        <p:nvGrpSpPr>
          <p:cNvPr name="Group 8" id="8"/>
          <p:cNvGrpSpPr/>
          <p:nvPr/>
        </p:nvGrpSpPr>
        <p:grpSpPr>
          <a:xfrm rot="0">
            <a:off x="8991600" y="6565900"/>
            <a:ext cx="4308642" cy="3149600"/>
            <a:chOff x="0" y="0"/>
            <a:chExt cx="1134786" cy="829524"/>
          </a:xfrm>
        </p:grpSpPr>
        <p:sp>
          <p:nvSpPr>
            <p:cNvPr name="Freeform 9" id="9"/>
            <p:cNvSpPr/>
            <p:nvPr/>
          </p:nvSpPr>
          <p:spPr>
            <a:xfrm flipH="false" flipV="false" rot="0">
              <a:off x="0" y="0"/>
              <a:ext cx="1134786" cy="829524"/>
            </a:xfrm>
            <a:custGeom>
              <a:avLst/>
              <a:gdLst/>
              <a:ahLst/>
              <a:cxnLst/>
              <a:rect r="r" b="b" t="t" l="l"/>
              <a:pathLst>
                <a:path h="829524" w="1134786">
                  <a:moveTo>
                    <a:pt x="46718" y="0"/>
                  </a:moveTo>
                  <a:lnTo>
                    <a:pt x="1088069" y="0"/>
                  </a:lnTo>
                  <a:cubicBezTo>
                    <a:pt x="1100459" y="0"/>
                    <a:pt x="1112342" y="4922"/>
                    <a:pt x="1121103" y="13683"/>
                  </a:cubicBezTo>
                  <a:cubicBezTo>
                    <a:pt x="1129864" y="22445"/>
                    <a:pt x="1134786" y="34327"/>
                    <a:pt x="1134786" y="46718"/>
                  </a:cubicBezTo>
                  <a:lnTo>
                    <a:pt x="1134786" y="782807"/>
                  </a:lnTo>
                  <a:cubicBezTo>
                    <a:pt x="1134786" y="808608"/>
                    <a:pt x="1113870" y="829524"/>
                    <a:pt x="1088069" y="829524"/>
                  </a:cubicBezTo>
                  <a:lnTo>
                    <a:pt x="46718" y="829524"/>
                  </a:lnTo>
                  <a:cubicBezTo>
                    <a:pt x="20916" y="829524"/>
                    <a:pt x="0" y="808608"/>
                    <a:pt x="0" y="782807"/>
                  </a:cubicBezTo>
                  <a:lnTo>
                    <a:pt x="0" y="46718"/>
                  </a:lnTo>
                  <a:cubicBezTo>
                    <a:pt x="0" y="20916"/>
                    <a:pt x="20916" y="0"/>
                    <a:pt x="46718" y="0"/>
                  </a:cubicBezTo>
                  <a:close/>
                </a:path>
              </a:pathLst>
            </a:custGeom>
            <a:ln w="57150" cap="rnd">
              <a:solidFill>
                <a:srgbClr val="1F48FF"/>
              </a:solidFill>
              <a:prstDash val="solid"/>
              <a:round/>
            </a:ln>
          </p:spPr>
        </p:sp>
        <p:sp>
          <p:nvSpPr>
            <p:cNvPr name="TextBox 10" id="10"/>
            <p:cNvSpPr txBox="true"/>
            <p:nvPr/>
          </p:nvSpPr>
          <p:spPr>
            <a:xfrm>
              <a:off x="0" y="-47625"/>
              <a:ext cx="1134786" cy="877149"/>
            </a:xfrm>
            <a:prstGeom prst="rect">
              <a:avLst/>
            </a:prstGeom>
          </p:spPr>
          <p:txBody>
            <a:bodyPr anchor="ctr" rtlCol="false" tIns="50800" lIns="50800" bIns="50800" rIns="50800"/>
            <a:lstStyle/>
            <a:p>
              <a:pPr algn="ctr">
                <a:lnSpc>
                  <a:spcPts val="3220"/>
                </a:lnSpc>
              </a:pPr>
            </a:p>
          </p:txBody>
        </p:sp>
      </p:grpSp>
      <p:grpSp>
        <p:nvGrpSpPr>
          <p:cNvPr name="Group 11" id="11"/>
          <p:cNvGrpSpPr/>
          <p:nvPr/>
        </p:nvGrpSpPr>
        <p:grpSpPr>
          <a:xfrm rot="0">
            <a:off x="13407858" y="6565900"/>
            <a:ext cx="4308642" cy="3149600"/>
            <a:chOff x="0" y="0"/>
            <a:chExt cx="1134786" cy="829524"/>
          </a:xfrm>
        </p:grpSpPr>
        <p:sp>
          <p:nvSpPr>
            <p:cNvPr name="Freeform 12" id="12"/>
            <p:cNvSpPr/>
            <p:nvPr/>
          </p:nvSpPr>
          <p:spPr>
            <a:xfrm flipH="false" flipV="false" rot="0">
              <a:off x="0" y="0"/>
              <a:ext cx="1134786" cy="829524"/>
            </a:xfrm>
            <a:custGeom>
              <a:avLst/>
              <a:gdLst/>
              <a:ahLst/>
              <a:cxnLst/>
              <a:rect r="r" b="b" t="t" l="l"/>
              <a:pathLst>
                <a:path h="829524" w="1134786">
                  <a:moveTo>
                    <a:pt x="46718" y="0"/>
                  </a:moveTo>
                  <a:lnTo>
                    <a:pt x="1088069" y="0"/>
                  </a:lnTo>
                  <a:cubicBezTo>
                    <a:pt x="1100459" y="0"/>
                    <a:pt x="1112342" y="4922"/>
                    <a:pt x="1121103" y="13683"/>
                  </a:cubicBezTo>
                  <a:cubicBezTo>
                    <a:pt x="1129864" y="22445"/>
                    <a:pt x="1134786" y="34327"/>
                    <a:pt x="1134786" y="46718"/>
                  </a:cubicBezTo>
                  <a:lnTo>
                    <a:pt x="1134786" y="782807"/>
                  </a:lnTo>
                  <a:cubicBezTo>
                    <a:pt x="1134786" y="808608"/>
                    <a:pt x="1113870" y="829524"/>
                    <a:pt x="1088069" y="829524"/>
                  </a:cubicBezTo>
                  <a:lnTo>
                    <a:pt x="46718" y="829524"/>
                  </a:lnTo>
                  <a:cubicBezTo>
                    <a:pt x="20916" y="829524"/>
                    <a:pt x="0" y="808608"/>
                    <a:pt x="0" y="782807"/>
                  </a:cubicBezTo>
                  <a:lnTo>
                    <a:pt x="0" y="46718"/>
                  </a:lnTo>
                  <a:cubicBezTo>
                    <a:pt x="0" y="20916"/>
                    <a:pt x="20916" y="0"/>
                    <a:pt x="46718" y="0"/>
                  </a:cubicBezTo>
                  <a:close/>
                </a:path>
              </a:pathLst>
            </a:custGeom>
            <a:ln w="57150" cap="rnd">
              <a:solidFill>
                <a:srgbClr val="1F48FF"/>
              </a:solidFill>
              <a:prstDash val="solid"/>
              <a:round/>
            </a:ln>
          </p:spPr>
        </p:sp>
        <p:sp>
          <p:nvSpPr>
            <p:cNvPr name="TextBox 13" id="13"/>
            <p:cNvSpPr txBox="true"/>
            <p:nvPr/>
          </p:nvSpPr>
          <p:spPr>
            <a:xfrm>
              <a:off x="0" y="-47625"/>
              <a:ext cx="1134786" cy="877149"/>
            </a:xfrm>
            <a:prstGeom prst="rect">
              <a:avLst/>
            </a:prstGeom>
          </p:spPr>
          <p:txBody>
            <a:bodyPr anchor="ctr" rtlCol="false" tIns="50800" lIns="50800" bIns="50800" rIns="50800"/>
            <a:lstStyle/>
            <a:p>
              <a:pPr algn="ctr">
                <a:lnSpc>
                  <a:spcPts val="3220"/>
                </a:lnSpc>
              </a:pPr>
            </a:p>
          </p:txBody>
        </p:sp>
      </p:grpSp>
      <p:grpSp>
        <p:nvGrpSpPr>
          <p:cNvPr name="Group 14" id="14"/>
          <p:cNvGrpSpPr/>
          <p:nvPr/>
        </p:nvGrpSpPr>
        <p:grpSpPr>
          <a:xfrm rot="0">
            <a:off x="10191750" y="3044992"/>
            <a:ext cx="8420100" cy="3130216"/>
            <a:chOff x="0" y="0"/>
            <a:chExt cx="1304494" cy="484952"/>
          </a:xfrm>
        </p:grpSpPr>
        <p:sp>
          <p:nvSpPr>
            <p:cNvPr name="Freeform 15" id="15"/>
            <p:cNvSpPr/>
            <p:nvPr/>
          </p:nvSpPr>
          <p:spPr>
            <a:xfrm flipH="false" flipV="false" rot="0">
              <a:off x="0" y="0"/>
              <a:ext cx="1304494" cy="484952"/>
            </a:xfrm>
            <a:custGeom>
              <a:avLst/>
              <a:gdLst/>
              <a:ahLst/>
              <a:cxnLst/>
              <a:rect r="r" b="b" t="t" l="l"/>
              <a:pathLst>
                <a:path h="484952" w="1304494">
                  <a:moveTo>
                    <a:pt x="0" y="0"/>
                  </a:moveTo>
                  <a:lnTo>
                    <a:pt x="1304494" y="0"/>
                  </a:lnTo>
                  <a:lnTo>
                    <a:pt x="1304494" y="484952"/>
                  </a:lnTo>
                  <a:lnTo>
                    <a:pt x="0" y="484952"/>
                  </a:lnTo>
                  <a:close/>
                </a:path>
              </a:pathLst>
            </a:custGeom>
            <a:blipFill>
              <a:blip r:embed="rId2"/>
              <a:stretch>
                <a:fillRect l="0" t="-39746" r="0" b="-39746"/>
              </a:stretch>
            </a:blipFill>
          </p:spPr>
        </p:sp>
      </p:grpSp>
      <p:grpSp>
        <p:nvGrpSpPr>
          <p:cNvPr name="Group 16" id="16"/>
          <p:cNvGrpSpPr/>
          <p:nvPr/>
        </p:nvGrpSpPr>
        <p:grpSpPr>
          <a:xfrm rot="0">
            <a:off x="-323850" y="6556375"/>
            <a:ext cx="8420100" cy="3130216"/>
            <a:chOff x="0" y="0"/>
            <a:chExt cx="1304494" cy="484952"/>
          </a:xfrm>
        </p:grpSpPr>
        <p:sp>
          <p:nvSpPr>
            <p:cNvPr name="Freeform 17" id="17"/>
            <p:cNvSpPr/>
            <p:nvPr/>
          </p:nvSpPr>
          <p:spPr>
            <a:xfrm flipH="false" flipV="false" rot="0">
              <a:off x="0" y="0"/>
              <a:ext cx="1304494" cy="484952"/>
            </a:xfrm>
            <a:custGeom>
              <a:avLst/>
              <a:gdLst/>
              <a:ahLst/>
              <a:cxnLst/>
              <a:rect r="r" b="b" t="t" l="l"/>
              <a:pathLst>
                <a:path h="484952" w="1304494">
                  <a:moveTo>
                    <a:pt x="0" y="0"/>
                  </a:moveTo>
                  <a:lnTo>
                    <a:pt x="1304494" y="0"/>
                  </a:lnTo>
                  <a:lnTo>
                    <a:pt x="1304494" y="484952"/>
                  </a:lnTo>
                  <a:lnTo>
                    <a:pt x="0" y="484952"/>
                  </a:lnTo>
                  <a:close/>
                </a:path>
              </a:pathLst>
            </a:custGeom>
            <a:blipFill>
              <a:blip r:embed="rId3"/>
              <a:stretch>
                <a:fillRect l="0" t="-25654" r="0" b="-25654"/>
              </a:stretch>
            </a:blipFill>
          </p:spPr>
        </p:sp>
      </p:grpSp>
      <p:sp>
        <p:nvSpPr>
          <p:cNvPr name="TextBox 18" id="18"/>
          <p:cNvSpPr txBox="true"/>
          <p:nvPr/>
        </p:nvSpPr>
        <p:spPr>
          <a:xfrm rot="0">
            <a:off x="9388554" y="7772400"/>
            <a:ext cx="3622350" cy="1485900"/>
          </a:xfrm>
          <a:prstGeom prst="rect">
            <a:avLst/>
          </a:prstGeom>
        </p:spPr>
        <p:txBody>
          <a:bodyPr anchor="t" rtlCol="false" tIns="0" lIns="0" bIns="0" rIns="0">
            <a:spAutoFit/>
          </a:bodyPr>
          <a:lstStyle/>
          <a:p>
            <a:pPr algn="ctr">
              <a:lnSpc>
                <a:spcPts val="2999"/>
              </a:lnSpc>
            </a:pPr>
            <a:r>
              <a:rPr lang="en-US" sz="2499">
                <a:solidFill>
                  <a:srgbClr val="000000"/>
                </a:solidFill>
                <a:latin typeface="Bricolage Grotesque"/>
                <a:ea typeface="Bricolage Grotesque"/>
                <a:cs typeface="Bricolage Grotesque"/>
                <a:sym typeface="Bricolage Grotesque"/>
              </a:rPr>
              <a:t>Đẩy mạnh mô</a:t>
            </a:r>
            <a:r>
              <a:rPr lang="en-US" sz="2499">
                <a:solidFill>
                  <a:srgbClr val="000000"/>
                </a:solidFill>
                <a:latin typeface="Bricolage Grotesque"/>
                <a:ea typeface="Bricolage Grotesque"/>
                <a:cs typeface="Bricolage Grotesque"/>
                <a:sym typeface="Bricolage Grotesque"/>
              </a:rPr>
              <a:t> hình du lịch sinh thái, du lịch không rác thải nhựa và nói không với hóa chất.</a:t>
            </a:r>
          </a:p>
        </p:txBody>
      </p:sp>
      <p:sp>
        <p:nvSpPr>
          <p:cNvPr name="TextBox 19" id="19"/>
          <p:cNvSpPr txBox="true"/>
          <p:nvPr/>
        </p:nvSpPr>
        <p:spPr>
          <a:xfrm rot="0">
            <a:off x="13804812" y="7772400"/>
            <a:ext cx="3622350" cy="1485900"/>
          </a:xfrm>
          <a:prstGeom prst="rect">
            <a:avLst/>
          </a:prstGeom>
        </p:spPr>
        <p:txBody>
          <a:bodyPr anchor="t" rtlCol="false" tIns="0" lIns="0" bIns="0" rIns="0">
            <a:spAutoFit/>
          </a:bodyPr>
          <a:lstStyle/>
          <a:p>
            <a:pPr algn="ctr">
              <a:lnSpc>
                <a:spcPts val="2999"/>
              </a:lnSpc>
            </a:pPr>
            <a:r>
              <a:rPr lang="en-US" sz="2499">
                <a:solidFill>
                  <a:srgbClr val="000000"/>
                </a:solidFill>
                <a:latin typeface="Bricolage Grotesque"/>
                <a:ea typeface="Bricolage Grotesque"/>
                <a:cs typeface="Bricolage Grotesque"/>
                <a:sym typeface="Bricolage Grotesque"/>
              </a:rPr>
              <a:t>Giáo dục, nâng cao</a:t>
            </a:r>
            <a:r>
              <a:rPr lang="en-US" sz="2499">
                <a:solidFill>
                  <a:srgbClr val="000000"/>
                </a:solidFill>
                <a:latin typeface="Bricolage Grotesque"/>
                <a:ea typeface="Bricolage Grotesque"/>
                <a:cs typeface="Bricolage Grotesque"/>
                <a:sym typeface="Bricolage Grotesque"/>
              </a:rPr>
              <a:t> ý thức cộng đồng bản địa cùng chung tay gìn giữ bản sắc văn hóa cốt lõi.</a:t>
            </a:r>
          </a:p>
        </p:txBody>
      </p:sp>
      <p:sp>
        <p:nvSpPr>
          <p:cNvPr name="TextBox 20" id="20"/>
          <p:cNvSpPr txBox="true"/>
          <p:nvPr/>
        </p:nvSpPr>
        <p:spPr>
          <a:xfrm rot="0">
            <a:off x="860838" y="4248150"/>
            <a:ext cx="3622350" cy="1485900"/>
          </a:xfrm>
          <a:prstGeom prst="rect">
            <a:avLst/>
          </a:prstGeom>
        </p:spPr>
        <p:txBody>
          <a:bodyPr anchor="t" rtlCol="false" tIns="0" lIns="0" bIns="0" rIns="0">
            <a:spAutoFit/>
          </a:bodyPr>
          <a:lstStyle/>
          <a:p>
            <a:pPr algn="ctr">
              <a:lnSpc>
                <a:spcPts val="2999"/>
              </a:lnSpc>
            </a:pPr>
            <a:r>
              <a:rPr lang="en-US" sz="2499">
                <a:solidFill>
                  <a:srgbClr val="FFFFFF"/>
                </a:solidFill>
                <a:latin typeface="Bricolage Grotesque"/>
                <a:ea typeface="Bricolage Grotesque"/>
                <a:cs typeface="Bricolage Grotesque"/>
                <a:sym typeface="Bricolage Grotesque"/>
              </a:rPr>
              <a:t>Áp</a:t>
            </a:r>
            <a:r>
              <a:rPr lang="en-US" sz="2499">
                <a:solidFill>
                  <a:srgbClr val="FFFFFF"/>
                </a:solidFill>
                <a:latin typeface="Bricolage Grotesque"/>
                <a:ea typeface="Bricolage Grotesque"/>
                <a:cs typeface="Bricolage Grotesque"/>
                <a:sym typeface="Bricolage Grotesque"/>
              </a:rPr>
              <a:t> lực rác thải nhựa tại các điểm du lịch nổi tiếng làm ảnh hưởng đến cảnh quan tự nhiên.</a:t>
            </a:r>
          </a:p>
        </p:txBody>
      </p:sp>
      <p:sp>
        <p:nvSpPr>
          <p:cNvPr name="TextBox 21" id="21"/>
          <p:cNvSpPr txBox="true"/>
          <p:nvPr/>
        </p:nvSpPr>
        <p:spPr>
          <a:xfrm rot="0">
            <a:off x="5277096" y="4248150"/>
            <a:ext cx="3443794" cy="1857375"/>
          </a:xfrm>
          <a:prstGeom prst="rect">
            <a:avLst/>
          </a:prstGeom>
        </p:spPr>
        <p:txBody>
          <a:bodyPr anchor="t" rtlCol="false" tIns="0" lIns="0" bIns="0" rIns="0">
            <a:spAutoFit/>
          </a:bodyPr>
          <a:lstStyle/>
          <a:p>
            <a:pPr algn="ctr">
              <a:lnSpc>
                <a:spcPts val="2999"/>
              </a:lnSpc>
            </a:pPr>
            <a:r>
              <a:rPr lang="en-US" sz="2499">
                <a:solidFill>
                  <a:srgbClr val="FFFFFF"/>
                </a:solidFill>
                <a:latin typeface="Bricolage Grotesque"/>
                <a:ea typeface="Bricolage Grotesque"/>
                <a:cs typeface="Bricolage Grotesque"/>
                <a:sym typeface="Bricolage Grotesque"/>
              </a:rPr>
              <a:t>Sự ph</a:t>
            </a:r>
            <a:r>
              <a:rPr lang="en-US" sz="2499">
                <a:solidFill>
                  <a:srgbClr val="FFFFFF"/>
                </a:solidFill>
                <a:latin typeface="Bricolage Grotesque"/>
                <a:ea typeface="Bricolage Grotesque"/>
                <a:cs typeface="Bricolage Grotesque"/>
                <a:sym typeface="Bricolage Grotesque"/>
              </a:rPr>
              <a:t>át triển </a:t>
            </a:r>
            <a:r>
              <a:rPr lang="en-US" sz="2499">
                <a:solidFill>
                  <a:srgbClr val="FFFFFF"/>
                </a:solidFill>
                <a:latin typeface="Bricolage Grotesque"/>
                <a:ea typeface="Bricolage Grotesque"/>
                <a:cs typeface="Bricolage Grotesque"/>
                <a:sym typeface="Bricolage Grotesque"/>
              </a:rPr>
              <a:t>hạ tầng quá nhanh dễ làm phá vỡ không gian kiến trúc và văn hóa bản địa nguyên bản.</a:t>
            </a:r>
          </a:p>
        </p:txBody>
      </p:sp>
      <p:sp>
        <p:nvSpPr>
          <p:cNvPr name="TextBox 22" id="22"/>
          <p:cNvSpPr txBox="true"/>
          <p:nvPr/>
        </p:nvSpPr>
        <p:spPr>
          <a:xfrm rot="0">
            <a:off x="632661" y="571550"/>
            <a:ext cx="17022679" cy="2082750"/>
          </a:xfrm>
          <a:prstGeom prst="rect">
            <a:avLst/>
          </a:prstGeom>
        </p:spPr>
        <p:txBody>
          <a:bodyPr anchor="t" rtlCol="false" tIns="0" lIns="0" bIns="0" rIns="0">
            <a:spAutoFit/>
          </a:bodyPr>
          <a:lstStyle/>
          <a:p>
            <a:pPr algn="ctr">
              <a:lnSpc>
                <a:spcPts val="16977"/>
              </a:lnSpc>
            </a:pPr>
            <a:r>
              <a:rPr lang="en-US" sz="12126">
                <a:solidFill>
                  <a:srgbClr val="1F48FF"/>
                </a:solidFill>
                <a:latin typeface="Bahianita"/>
                <a:ea typeface="Bahianita"/>
                <a:cs typeface="Bahianita"/>
                <a:sym typeface="Bahianita"/>
              </a:rPr>
              <a:t>HƯỚNG TỚI NGÀNH DU LỊCH XANH BỀN VỮNG</a:t>
            </a:r>
          </a:p>
        </p:txBody>
      </p:sp>
      <p:sp>
        <p:nvSpPr>
          <p:cNvPr name="TextBox 23" id="23"/>
          <p:cNvSpPr txBox="true"/>
          <p:nvPr/>
        </p:nvSpPr>
        <p:spPr>
          <a:xfrm rot="0">
            <a:off x="949232" y="3435350"/>
            <a:ext cx="3533956"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KHÓ KHĂN 1</a:t>
            </a:r>
          </a:p>
        </p:txBody>
      </p:sp>
      <p:sp>
        <p:nvSpPr>
          <p:cNvPr name="TextBox 24" id="24"/>
          <p:cNvSpPr txBox="true"/>
          <p:nvPr/>
        </p:nvSpPr>
        <p:spPr>
          <a:xfrm rot="0">
            <a:off x="5375101" y="3435350"/>
            <a:ext cx="3533956"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KHÓ KHĂN 2</a:t>
            </a:r>
          </a:p>
        </p:txBody>
      </p:sp>
      <p:sp>
        <p:nvSpPr>
          <p:cNvPr name="TextBox 25" id="25"/>
          <p:cNvSpPr txBox="true"/>
          <p:nvPr/>
        </p:nvSpPr>
        <p:spPr>
          <a:xfrm rot="0">
            <a:off x="9296400" y="7016750"/>
            <a:ext cx="3533956"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F48FF"/>
                </a:solidFill>
                <a:latin typeface="Montserrat Bold"/>
                <a:ea typeface="Montserrat Bold"/>
                <a:cs typeface="Montserrat Bold"/>
                <a:sym typeface="Montserrat Bold"/>
              </a:rPr>
              <a:t>GIẢI PHÁP</a:t>
            </a:r>
            <a:r>
              <a:rPr lang="en-US" b="true" sz="3000">
                <a:solidFill>
                  <a:srgbClr val="1F48FF"/>
                </a:solidFill>
                <a:latin typeface="Montserrat Bold"/>
                <a:ea typeface="Montserrat Bold"/>
                <a:cs typeface="Montserrat Bold"/>
                <a:sym typeface="Montserrat Bold"/>
              </a:rPr>
              <a:t> 1</a:t>
            </a:r>
          </a:p>
        </p:txBody>
      </p:sp>
      <p:sp>
        <p:nvSpPr>
          <p:cNvPr name="TextBox 26" id="26"/>
          <p:cNvSpPr txBox="true"/>
          <p:nvPr/>
        </p:nvSpPr>
        <p:spPr>
          <a:xfrm rot="0">
            <a:off x="13722269" y="7016750"/>
            <a:ext cx="3533956"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F48FF"/>
                </a:solidFill>
                <a:latin typeface="Montserrat Bold"/>
                <a:ea typeface="Montserrat Bold"/>
                <a:cs typeface="Montserrat Bold"/>
                <a:sym typeface="Montserrat Bold"/>
              </a:rPr>
              <a:t>GIẢI PHÁP</a:t>
            </a:r>
            <a:r>
              <a:rPr lang="en-US" b="true" sz="3000">
                <a:solidFill>
                  <a:srgbClr val="1F48FF"/>
                </a:solidFill>
                <a:latin typeface="Montserrat Bold"/>
                <a:ea typeface="Montserrat Bold"/>
                <a:cs typeface="Montserrat Bold"/>
                <a:sym typeface="Montserrat Bold"/>
              </a:rPr>
              <a:t> 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26"/>
            </a:stretch>
          </a:blipFill>
        </p:spPr>
      </p:sp>
      <p:sp>
        <p:nvSpPr>
          <p:cNvPr name="TextBox 3" id="3"/>
          <p:cNvSpPr txBox="true"/>
          <p:nvPr/>
        </p:nvSpPr>
        <p:spPr>
          <a:xfrm rot="0">
            <a:off x="1813597" y="133350"/>
            <a:ext cx="10533974" cy="8071291"/>
          </a:xfrm>
          <a:prstGeom prst="rect">
            <a:avLst/>
          </a:prstGeom>
        </p:spPr>
        <p:txBody>
          <a:bodyPr anchor="t" rtlCol="false" tIns="0" lIns="0" bIns="0" rIns="0">
            <a:spAutoFit/>
          </a:bodyPr>
          <a:lstStyle/>
          <a:p>
            <a:pPr algn="l">
              <a:lnSpc>
                <a:spcPts val="65950"/>
              </a:lnSpc>
            </a:pPr>
            <a:r>
              <a:rPr lang="en-US" sz="47107">
                <a:solidFill>
                  <a:srgbClr val="FFFFFF"/>
                </a:solidFill>
                <a:latin typeface="Bahianita"/>
                <a:ea typeface="Bahianita"/>
                <a:cs typeface="Bahianita"/>
                <a:sym typeface="Bahianita"/>
              </a:rPr>
              <a:t>CẢM</a:t>
            </a:r>
          </a:p>
        </p:txBody>
      </p:sp>
      <p:sp>
        <p:nvSpPr>
          <p:cNvPr name="TextBox 4" id="4"/>
          <p:cNvSpPr txBox="true"/>
          <p:nvPr/>
        </p:nvSpPr>
        <p:spPr>
          <a:xfrm rot="0">
            <a:off x="3724613" y="133350"/>
            <a:ext cx="10533974" cy="8071291"/>
          </a:xfrm>
          <a:prstGeom prst="rect">
            <a:avLst/>
          </a:prstGeom>
        </p:spPr>
        <p:txBody>
          <a:bodyPr anchor="t" rtlCol="false" tIns="0" lIns="0" bIns="0" rIns="0">
            <a:spAutoFit/>
          </a:bodyPr>
          <a:lstStyle/>
          <a:p>
            <a:pPr algn="r">
              <a:lnSpc>
                <a:spcPts val="65950"/>
              </a:lnSpc>
            </a:pPr>
            <a:r>
              <a:rPr lang="en-US" sz="47107">
                <a:solidFill>
                  <a:srgbClr val="FFFFFF"/>
                </a:solidFill>
                <a:latin typeface="Bahianita"/>
                <a:ea typeface="Bahianita"/>
                <a:cs typeface="Bahianita"/>
                <a:sym typeface="Bahianita"/>
              </a:rPr>
              <a:t>ƠN</a:t>
            </a:r>
          </a:p>
        </p:txBody>
      </p:sp>
      <p:sp>
        <p:nvSpPr>
          <p:cNvPr name="TextBox 5" id="5"/>
          <p:cNvSpPr txBox="true"/>
          <p:nvPr/>
        </p:nvSpPr>
        <p:spPr>
          <a:xfrm rot="0">
            <a:off x="10601162" y="7268243"/>
            <a:ext cx="5958966" cy="606425"/>
          </a:xfrm>
          <a:prstGeom prst="rect">
            <a:avLst/>
          </a:prstGeom>
        </p:spPr>
        <p:txBody>
          <a:bodyPr anchor="t" rtlCol="false" tIns="0" lIns="0" bIns="0" rIns="0">
            <a:spAutoFit/>
          </a:bodyPr>
          <a:lstStyle/>
          <a:p>
            <a:pPr algn="l">
              <a:lnSpc>
                <a:spcPts val="4900"/>
              </a:lnSpc>
              <a:spcBef>
                <a:spcPct val="0"/>
              </a:spcBef>
            </a:pPr>
            <a:r>
              <a:rPr lang="en-US" b="true" sz="3500">
                <a:solidFill>
                  <a:srgbClr val="FFFFFF"/>
                </a:solidFill>
                <a:latin typeface="Montserrat Bold"/>
                <a:ea typeface="Montserrat Bold"/>
                <a:cs typeface="Montserrat Bold"/>
                <a:sym typeface="Montserrat Bold"/>
              </a:rPr>
              <a:t>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DAHV6ctdw7M</dc:identifier>
  <dcterms:modified xsi:type="dcterms:W3CDTF">2011-08-01T06:04:30Z</dcterms:modified>
  <cp:revision>1</cp:revision>
  <dc:title>Yellow Blue and Green Modern Client Relationship Management Infographic Presentation</dc:title>
</cp:coreProperties>
</file>