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rue Typewriter" charset="1" panose="02060704040205020404"/>
      <p:regular r:id="rId16"/>
    </p:embeddedFont>
    <p:embeddedFont>
      <p:font typeface="Barber FIll" charset="1" panose="00000800000000000000"/>
      <p:regular r:id="rId17"/>
    </p:embeddedFont>
    <p:embeddedFont>
      <p:font typeface="Luxurious Script"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gif"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gif"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4.gif" Type="http://schemas.openxmlformats.org/officeDocument/2006/relationships/image"/><Relationship Id="rId6"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B63335"/>
        </a:solidFill>
      </p:bgPr>
    </p:bg>
    <p:spTree>
      <p:nvGrpSpPr>
        <p:cNvPr id="1" name=""/>
        <p:cNvGrpSpPr/>
        <p:nvPr/>
      </p:nvGrpSpPr>
      <p:grpSpPr>
        <a:xfrm>
          <a:off x="0" y="0"/>
          <a:ext cx="0" cy="0"/>
          <a:chOff x="0" y="0"/>
          <a:chExt cx="0" cy="0"/>
        </a:xfrm>
      </p:grpSpPr>
      <p:grpSp>
        <p:nvGrpSpPr>
          <p:cNvPr name="Group 2" id="2"/>
          <p:cNvGrpSpPr/>
          <p:nvPr/>
        </p:nvGrpSpPr>
        <p:grpSpPr>
          <a:xfrm rot="5400000">
            <a:off x="-2247197" y="1605048"/>
            <a:ext cx="13650191" cy="7699096"/>
            <a:chOff x="0" y="0"/>
            <a:chExt cx="18200254" cy="10265462"/>
          </a:xfrm>
        </p:grpSpPr>
        <p:sp>
          <p:nvSpPr>
            <p:cNvPr name="Freeform 3" id="3"/>
            <p:cNvSpPr/>
            <p:nvPr/>
          </p:nvSpPr>
          <p:spPr>
            <a:xfrm flipH="false" flipV="false" rot="0">
              <a:off x="0" y="0"/>
              <a:ext cx="9105240" cy="10265462"/>
            </a:xfrm>
            <a:custGeom>
              <a:avLst/>
              <a:gdLst/>
              <a:ahLst/>
              <a:cxnLst/>
              <a:rect r="r" b="b" t="t" l="l"/>
              <a:pathLst>
                <a:path h="10265462" w="9105240">
                  <a:moveTo>
                    <a:pt x="0" y="0"/>
                  </a:moveTo>
                  <a:lnTo>
                    <a:pt x="9105240" y="0"/>
                  </a:lnTo>
                  <a:lnTo>
                    <a:pt x="9105240" y="10265462"/>
                  </a:lnTo>
                  <a:lnTo>
                    <a:pt x="0" y="10265462"/>
                  </a:lnTo>
                  <a:lnTo>
                    <a:pt x="0" y="0"/>
                  </a:lnTo>
                  <a:close/>
                </a:path>
              </a:pathLst>
            </a:custGeom>
            <a:blipFill>
              <a:blip r:embed="rId2">
                <a:extLst>
                  <a:ext uri="{96DAC541-7B7A-43D3-8B79-37D633B846F1}">
                    <asvg:svgBlip xmlns:asvg="http://schemas.microsoft.com/office/drawing/2016/SVG/main" r:embed="rId3"/>
                  </a:ext>
                </a:extLst>
              </a:blip>
              <a:stretch>
                <a:fillRect l="0" t="0" r="-79711" b="0"/>
              </a:stretch>
            </a:blipFill>
          </p:spPr>
        </p:sp>
        <p:sp>
          <p:nvSpPr>
            <p:cNvPr name="Freeform 4" id="4"/>
            <p:cNvSpPr/>
            <p:nvPr/>
          </p:nvSpPr>
          <p:spPr>
            <a:xfrm flipH="true" flipV="false" rot="0">
              <a:off x="9095014" y="0"/>
              <a:ext cx="9105240" cy="10265462"/>
            </a:xfrm>
            <a:custGeom>
              <a:avLst/>
              <a:gdLst/>
              <a:ahLst/>
              <a:cxnLst/>
              <a:rect r="r" b="b" t="t" l="l"/>
              <a:pathLst>
                <a:path h="10265462" w="9105240">
                  <a:moveTo>
                    <a:pt x="9105240" y="0"/>
                  </a:moveTo>
                  <a:lnTo>
                    <a:pt x="0" y="0"/>
                  </a:lnTo>
                  <a:lnTo>
                    <a:pt x="0" y="10265462"/>
                  </a:lnTo>
                  <a:lnTo>
                    <a:pt x="9105240" y="10265462"/>
                  </a:lnTo>
                  <a:lnTo>
                    <a:pt x="9105240" y="0"/>
                  </a:lnTo>
                  <a:close/>
                </a:path>
              </a:pathLst>
            </a:custGeom>
            <a:blipFill>
              <a:blip r:embed="rId2">
                <a:extLst>
                  <a:ext uri="{96DAC541-7B7A-43D3-8B79-37D633B846F1}">
                    <asvg:svgBlip xmlns:asvg="http://schemas.microsoft.com/office/drawing/2016/SVG/main" r:embed="rId3"/>
                  </a:ext>
                </a:extLst>
              </a:blip>
              <a:stretch>
                <a:fillRect l="0" t="0" r="-79711" b="0"/>
              </a:stretch>
            </a:blipFill>
          </p:spPr>
        </p:sp>
      </p:grpSp>
      <p:sp>
        <p:nvSpPr>
          <p:cNvPr name="Freeform 5" id="5"/>
          <p:cNvSpPr/>
          <p:nvPr/>
        </p:nvSpPr>
        <p:spPr>
          <a:xfrm flipH="false" flipV="false" rot="0">
            <a:off x="2140138" y="885265"/>
            <a:ext cx="5289865" cy="8701628"/>
          </a:xfrm>
          <a:custGeom>
            <a:avLst/>
            <a:gdLst/>
            <a:ahLst/>
            <a:cxnLst/>
            <a:rect r="r" b="b" t="t" l="l"/>
            <a:pathLst>
              <a:path h="8701628" w="5289865">
                <a:moveTo>
                  <a:pt x="0" y="0"/>
                </a:moveTo>
                <a:lnTo>
                  <a:pt x="5289864" y="0"/>
                </a:lnTo>
                <a:lnTo>
                  <a:pt x="5289864" y="8701627"/>
                </a:lnTo>
                <a:lnTo>
                  <a:pt x="0" y="8701627"/>
                </a:lnTo>
                <a:lnTo>
                  <a:pt x="0" y="0"/>
                </a:lnTo>
                <a:close/>
              </a:path>
            </a:pathLst>
          </a:custGeom>
          <a:blipFill>
            <a:blip r:embed="rId4"/>
            <a:stretch>
              <a:fillRect l="0" t="0" r="0" b="0"/>
            </a:stretch>
          </a:blipFill>
          <a:ln cap="sq">
            <a:noFill/>
            <a:prstDash val="solid"/>
            <a:miter/>
          </a:ln>
        </p:spPr>
      </p:sp>
      <p:grpSp>
        <p:nvGrpSpPr>
          <p:cNvPr name="Group 6" id="6"/>
          <p:cNvGrpSpPr/>
          <p:nvPr/>
        </p:nvGrpSpPr>
        <p:grpSpPr>
          <a:xfrm rot="0">
            <a:off x="13737771" y="1609977"/>
            <a:ext cx="7043057" cy="6712914"/>
            <a:chOff x="0" y="0"/>
            <a:chExt cx="812800" cy="774700"/>
          </a:xfrm>
        </p:grpSpPr>
        <p:sp>
          <p:nvSpPr>
            <p:cNvPr name="Freeform 7" id="7"/>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4DC71">
                <a:alpha val="11765"/>
              </a:srgbClr>
            </a:solidFill>
          </p:spPr>
        </p:sp>
        <p:sp>
          <p:nvSpPr>
            <p:cNvPr name="TextBox 8" id="8"/>
            <p:cNvSpPr txBox="true"/>
            <p:nvPr/>
          </p:nvSpPr>
          <p:spPr>
            <a:xfrm>
              <a:off x="228600" y="190500"/>
              <a:ext cx="355600" cy="419100"/>
            </a:xfrm>
            <a:prstGeom prst="rect">
              <a:avLst/>
            </a:prstGeom>
          </p:spPr>
          <p:txBody>
            <a:bodyPr anchor="ctr" rtlCol="false" tIns="50800" lIns="50800" bIns="50800" rIns="50800"/>
            <a:lstStyle/>
            <a:p>
              <a:pPr algn="ctr">
                <a:lnSpc>
                  <a:spcPts val="2520"/>
                </a:lnSpc>
              </a:pPr>
            </a:p>
          </p:txBody>
        </p:sp>
      </p:grpSp>
      <p:sp>
        <p:nvSpPr>
          <p:cNvPr name="TextBox 9" id="9"/>
          <p:cNvSpPr txBox="true"/>
          <p:nvPr/>
        </p:nvSpPr>
        <p:spPr>
          <a:xfrm rot="0">
            <a:off x="14950243" y="678404"/>
            <a:ext cx="2309057" cy="350296"/>
          </a:xfrm>
          <a:prstGeom prst="rect">
            <a:avLst/>
          </a:prstGeom>
        </p:spPr>
        <p:txBody>
          <a:bodyPr anchor="t" rtlCol="false" tIns="0" lIns="0" bIns="0" rIns="0">
            <a:spAutoFit/>
          </a:bodyPr>
          <a:lstStyle/>
          <a:p>
            <a:pPr algn="r" marL="0" indent="0" lvl="0">
              <a:lnSpc>
                <a:spcPts val="2520"/>
              </a:lnSpc>
              <a:spcBef>
                <a:spcPct val="0"/>
              </a:spcBef>
            </a:pPr>
            <a:r>
              <a:rPr lang="en-US" sz="1800" strike="noStrike" u="none">
                <a:solidFill>
                  <a:srgbClr val="FFFEF6"/>
                </a:solidFill>
                <a:latin typeface="True Typewriter"/>
                <a:ea typeface="True Typewriter"/>
                <a:cs typeface="True Typewriter"/>
                <a:sym typeface="True Typewriter"/>
              </a:rPr>
              <a:t>LỊCH SỬ VIỆT NAM</a:t>
            </a:r>
          </a:p>
        </p:txBody>
      </p:sp>
      <p:sp>
        <p:nvSpPr>
          <p:cNvPr name="TextBox 10" id="10"/>
          <p:cNvSpPr txBox="true"/>
          <p:nvPr/>
        </p:nvSpPr>
        <p:spPr>
          <a:xfrm rot="0">
            <a:off x="9441988" y="9182100"/>
            <a:ext cx="3958538" cy="344805"/>
          </a:xfrm>
          <a:prstGeom prst="rect">
            <a:avLst/>
          </a:prstGeom>
        </p:spPr>
        <p:txBody>
          <a:bodyPr anchor="t" rtlCol="false" tIns="0" lIns="0" bIns="0" rIns="0">
            <a:spAutoFit/>
          </a:bodyPr>
          <a:lstStyle/>
          <a:p>
            <a:pPr algn="l">
              <a:lnSpc>
                <a:spcPts val="2520"/>
              </a:lnSpc>
              <a:spcBef>
                <a:spcPct val="0"/>
              </a:spcBef>
            </a:pPr>
            <a:r>
              <a:rPr lang="en-US" sz="1800">
                <a:solidFill>
                  <a:srgbClr val="FFFEF6"/>
                </a:solidFill>
                <a:latin typeface="True Typewriter"/>
                <a:ea typeface="True Typewriter"/>
                <a:cs typeface="True Typewriter"/>
                <a:sym typeface="True Typewriter"/>
              </a:rPr>
              <a:t>GIÁO VIÊN THỰC HIỆN: NGUYỄN HƯƠNG LY</a:t>
            </a:r>
          </a:p>
        </p:txBody>
      </p:sp>
      <p:sp>
        <p:nvSpPr>
          <p:cNvPr name="TextBox 11" id="11"/>
          <p:cNvSpPr txBox="true"/>
          <p:nvPr/>
        </p:nvSpPr>
        <p:spPr>
          <a:xfrm rot="0">
            <a:off x="14288020" y="9182100"/>
            <a:ext cx="2887222" cy="344805"/>
          </a:xfrm>
          <a:prstGeom prst="rect">
            <a:avLst/>
          </a:prstGeom>
        </p:spPr>
        <p:txBody>
          <a:bodyPr anchor="t" rtlCol="false" tIns="0" lIns="0" bIns="0" rIns="0">
            <a:spAutoFit/>
          </a:bodyPr>
          <a:lstStyle/>
          <a:p>
            <a:pPr algn="r">
              <a:lnSpc>
                <a:spcPts val="2520"/>
              </a:lnSpc>
              <a:spcBef>
                <a:spcPct val="0"/>
              </a:spcBef>
            </a:pPr>
            <a:r>
              <a:rPr lang="en-US" sz="1800">
                <a:solidFill>
                  <a:srgbClr val="FFFEF6"/>
                </a:solidFill>
                <a:latin typeface="True Typewriter"/>
                <a:ea typeface="True Typewriter"/>
                <a:cs typeface="True Typewriter"/>
                <a:sym typeface="True Typewriter"/>
              </a:rPr>
              <a:t>WWW.REALLYGREATSITE.COM</a:t>
            </a:r>
          </a:p>
        </p:txBody>
      </p:sp>
      <p:sp>
        <p:nvSpPr>
          <p:cNvPr name="TextBox 12" id="12"/>
          <p:cNvSpPr txBox="true"/>
          <p:nvPr/>
        </p:nvSpPr>
        <p:spPr>
          <a:xfrm rot="0">
            <a:off x="8750662" y="5044644"/>
            <a:ext cx="8508638" cy="1642110"/>
          </a:xfrm>
          <a:prstGeom prst="rect">
            <a:avLst/>
          </a:prstGeom>
        </p:spPr>
        <p:txBody>
          <a:bodyPr anchor="t" rtlCol="false" tIns="0" lIns="0" bIns="0" rIns="0">
            <a:spAutoFit/>
          </a:bodyPr>
          <a:lstStyle/>
          <a:p>
            <a:pPr algn="r">
              <a:lnSpc>
                <a:spcPts val="13439"/>
              </a:lnSpc>
            </a:pPr>
            <a:r>
              <a:rPr lang="en-US" sz="9600" spc="-1344">
                <a:solidFill>
                  <a:srgbClr val="F4DC71"/>
                </a:solidFill>
                <a:latin typeface="Barber FIll"/>
                <a:ea typeface="Barber FIll"/>
                <a:cs typeface="Barber FIll"/>
                <a:sym typeface="Barber FIll"/>
              </a:rPr>
              <a:t>HỒ CHÍ MINH</a:t>
            </a:r>
          </a:p>
        </p:txBody>
      </p:sp>
      <p:sp>
        <p:nvSpPr>
          <p:cNvPr name="TextBox 13" id="13"/>
          <p:cNvSpPr txBox="true"/>
          <p:nvPr/>
        </p:nvSpPr>
        <p:spPr>
          <a:xfrm rot="0">
            <a:off x="8750662" y="3753608"/>
            <a:ext cx="8508638" cy="1642110"/>
          </a:xfrm>
          <a:prstGeom prst="rect">
            <a:avLst/>
          </a:prstGeom>
        </p:spPr>
        <p:txBody>
          <a:bodyPr anchor="t" rtlCol="false" tIns="0" lIns="0" bIns="0" rIns="0">
            <a:spAutoFit/>
          </a:bodyPr>
          <a:lstStyle/>
          <a:p>
            <a:pPr algn="r">
              <a:lnSpc>
                <a:spcPts val="13439"/>
              </a:lnSpc>
            </a:pPr>
            <a:r>
              <a:rPr lang="en-US" sz="9600" spc="-1344">
                <a:solidFill>
                  <a:srgbClr val="FFFEF6"/>
                </a:solidFill>
                <a:latin typeface="Barber FIll"/>
                <a:ea typeface="Barber FIll"/>
                <a:cs typeface="Barber FIll"/>
                <a:sym typeface="Barber FIll"/>
              </a:rPr>
              <a:t>CHỦ TỊCH</a:t>
            </a:r>
          </a:p>
        </p:txBody>
      </p:sp>
      <p:sp>
        <p:nvSpPr>
          <p:cNvPr name="TextBox 14" id="14"/>
          <p:cNvSpPr txBox="true"/>
          <p:nvPr/>
        </p:nvSpPr>
        <p:spPr>
          <a:xfrm rot="0">
            <a:off x="10345507" y="3297337"/>
            <a:ext cx="6876327" cy="622935"/>
          </a:xfrm>
          <a:prstGeom prst="rect">
            <a:avLst/>
          </a:prstGeom>
        </p:spPr>
        <p:txBody>
          <a:bodyPr anchor="t" rtlCol="false" tIns="0" lIns="0" bIns="0" rIns="0">
            <a:spAutoFit/>
          </a:bodyPr>
          <a:lstStyle/>
          <a:p>
            <a:pPr algn="r">
              <a:lnSpc>
                <a:spcPts val="5040"/>
              </a:lnSpc>
            </a:pPr>
            <a:r>
              <a:rPr lang="en-US" sz="3600" spc="-395">
                <a:solidFill>
                  <a:srgbClr val="FFFEF6"/>
                </a:solidFill>
                <a:latin typeface="Barber FIll"/>
                <a:ea typeface="Barber FIll"/>
                <a:cs typeface="Barber FIll"/>
                <a:sym typeface="Barber FIll"/>
              </a:rPr>
              <a:t>CUỘC ĐỜI VÀ SỰ NGHIỆP</a:t>
            </a:r>
          </a:p>
        </p:txBody>
      </p:sp>
      <p:pic>
        <p:nvPicPr>
          <p:cNvPr name="Picture 15" id="15"/>
          <p:cNvPicPr>
            <a:picLocks noChangeAspect="true"/>
          </p:cNvPicPr>
          <p:nvPr/>
        </p:nvPicPr>
        <p:blipFill>
          <a:blip r:embed="rId5"/>
          <a:srcRect l="0" t="0" r="0" b="0"/>
          <a:stretch>
            <a:fillRect/>
          </a:stretch>
        </p:blipFill>
        <p:spPr>
          <a:xfrm flipH="false" flipV="false" rot="0">
            <a:off x="-1869508" y="7698911"/>
            <a:ext cx="11013508" cy="6291466"/>
          </a:xfrm>
          <a:prstGeom prst="rect">
            <a:avLst/>
          </a:prstGeom>
        </p:spPr>
      </p:pic>
      <p:sp>
        <p:nvSpPr>
          <p:cNvPr name="Freeform 16" id="16"/>
          <p:cNvSpPr/>
          <p:nvPr/>
        </p:nvSpPr>
        <p:spPr>
          <a:xfrm flipH="false" flipV="false" rot="0">
            <a:off x="-2129627" y="7032188"/>
            <a:ext cx="5766873" cy="3969439"/>
          </a:xfrm>
          <a:custGeom>
            <a:avLst/>
            <a:gdLst/>
            <a:ahLst/>
            <a:cxnLst/>
            <a:rect r="r" b="b" t="t" l="l"/>
            <a:pathLst>
              <a:path h="3969439" w="5766873">
                <a:moveTo>
                  <a:pt x="0" y="0"/>
                </a:moveTo>
                <a:lnTo>
                  <a:pt x="5766873" y="0"/>
                </a:lnTo>
                <a:lnTo>
                  <a:pt x="5766873" y="3969439"/>
                </a:lnTo>
                <a:lnTo>
                  <a:pt x="0" y="3969439"/>
                </a:lnTo>
                <a:lnTo>
                  <a:pt x="0" y="0"/>
                </a:lnTo>
                <a:close/>
              </a:path>
            </a:pathLst>
          </a:custGeom>
          <a:blipFill>
            <a:blip r:embed="rId6"/>
            <a:stretch>
              <a:fillRect l="-64044" t="-24852" r="-62162" b="-60006"/>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EF6"/>
        </a:solidFill>
      </p:bgPr>
    </p:bg>
    <p:spTree>
      <p:nvGrpSpPr>
        <p:cNvPr id="1" name=""/>
        <p:cNvGrpSpPr/>
        <p:nvPr/>
      </p:nvGrpSpPr>
      <p:grpSpPr>
        <a:xfrm>
          <a:off x="0" y="0"/>
          <a:ext cx="0" cy="0"/>
          <a:chOff x="0" y="0"/>
          <a:chExt cx="0" cy="0"/>
        </a:xfrm>
      </p:grpSpPr>
      <p:grpSp>
        <p:nvGrpSpPr>
          <p:cNvPr name="Group 2" id="2"/>
          <p:cNvGrpSpPr/>
          <p:nvPr/>
        </p:nvGrpSpPr>
        <p:grpSpPr>
          <a:xfrm rot="0">
            <a:off x="-2232362" y="-2052723"/>
            <a:ext cx="12980851" cy="12372374"/>
            <a:chOff x="0" y="0"/>
            <a:chExt cx="812800" cy="774700"/>
          </a:xfrm>
        </p:grpSpPr>
        <p:sp>
          <p:nvSpPr>
            <p:cNvPr name="Freeform 3" id="3"/>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4DC71">
                <a:alpha val="49804"/>
              </a:srgbClr>
            </a:solidFill>
          </p:spPr>
        </p:sp>
        <p:sp>
          <p:nvSpPr>
            <p:cNvPr name="TextBox 4" id="4"/>
            <p:cNvSpPr txBox="true"/>
            <p:nvPr/>
          </p:nvSpPr>
          <p:spPr>
            <a:xfrm>
              <a:off x="228600" y="190500"/>
              <a:ext cx="355600" cy="419100"/>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46997" y="9258300"/>
            <a:ext cx="18381994" cy="1028700"/>
            <a:chOff x="0" y="0"/>
            <a:chExt cx="4841348" cy="270933"/>
          </a:xfrm>
        </p:grpSpPr>
        <p:sp>
          <p:nvSpPr>
            <p:cNvPr name="Freeform 6" id="6"/>
            <p:cNvSpPr/>
            <p:nvPr/>
          </p:nvSpPr>
          <p:spPr>
            <a:xfrm flipH="false" flipV="false" rot="0">
              <a:off x="0" y="0"/>
              <a:ext cx="4841348" cy="270933"/>
            </a:xfrm>
            <a:custGeom>
              <a:avLst/>
              <a:gdLst/>
              <a:ahLst/>
              <a:cxnLst/>
              <a:rect r="r" b="b" t="t" l="l"/>
              <a:pathLst>
                <a:path h="270933" w="4841348">
                  <a:moveTo>
                    <a:pt x="0" y="0"/>
                  </a:moveTo>
                  <a:lnTo>
                    <a:pt x="4841348" y="0"/>
                  </a:lnTo>
                  <a:lnTo>
                    <a:pt x="4841348" y="270933"/>
                  </a:lnTo>
                  <a:lnTo>
                    <a:pt x="0" y="270933"/>
                  </a:lnTo>
                  <a:close/>
                </a:path>
              </a:pathLst>
            </a:custGeom>
            <a:solidFill>
              <a:srgbClr val="B63D40"/>
            </a:solidFill>
          </p:spPr>
        </p:sp>
        <p:sp>
          <p:nvSpPr>
            <p:cNvPr name="TextBox 7" id="7"/>
            <p:cNvSpPr txBox="true"/>
            <p:nvPr/>
          </p:nvSpPr>
          <p:spPr>
            <a:xfrm>
              <a:off x="0" y="-76200"/>
              <a:ext cx="4841348" cy="347133"/>
            </a:xfrm>
            <a:prstGeom prst="rect">
              <a:avLst/>
            </a:prstGeom>
          </p:spPr>
          <p:txBody>
            <a:bodyPr anchor="ctr" rtlCol="false" tIns="50800" lIns="50800" bIns="50800" rIns="50800"/>
            <a:lstStyle/>
            <a:p>
              <a:pPr algn="ctr">
                <a:lnSpc>
                  <a:spcPts val="2520"/>
                </a:lnSpc>
              </a:pPr>
            </a:p>
          </p:txBody>
        </p:sp>
      </p:grpSp>
      <p:sp>
        <p:nvSpPr>
          <p:cNvPr name="TextBox 8" id="8"/>
          <p:cNvSpPr txBox="true"/>
          <p:nvPr/>
        </p:nvSpPr>
        <p:spPr>
          <a:xfrm rot="0">
            <a:off x="7114736" y="9545519"/>
            <a:ext cx="4312484" cy="344805"/>
          </a:xfrm>
          <a:prstGeom prst="rect">
            <a:avLst/>
          </a:prstGeom>
        </p:spPr>
        <p:txBody>
          <a:bodyPr anchor="t" rtlCol="false" tIns="0" lIns="0" bIns="0" rIns="0">
            <a:spAutoFit/>
          </a:bodyPr>
          <a:lstStyle/>
          <a:p>
            <a:pPr algn="ctr" marL="0" indent="0" lvl="0">
              <a:lnSpc>
                <a:spcPts val="2520"/>
              </a:lnSpc>
              <a:spcBef>
                <a:spcPct val="0"/>
              </a:spcBef>
            </a:pPr>
            <a:r>
              <a:rPr lang="en-US" sz="1800">
                <a:solidFill>
                  <a:srgbClr val="FFFEF6"/>
                </a:solidFill>
                <a:latin typeface="True Typewriter"/>
                <a:ea typeface="True Typewriter"/>
                <a:cs typeface="True Typewriter"/>
                <a:sym typeface="True Typewriter"/>
              </a:rPr>
              <a:t>CUỘ</a:t>
            </a:r>
            <a:r>
              <a:rPr lang="en-US" sz="1800" strike="noStrike" u="none">
                <a:solidFill>
                  <a:srgbClr val="FFFEF6"/>
                </a:solidFill>
                <a:latin typeface="True Typewriter"/>
                <a:ea typeface="True Typewriter"/>
                <a:cs typeface="True Typewriter"/>
                <a:sym typeface="True Typewriter"/>
              </a:rPr>
              <a:t>C ĐỜI VÀ SỰ NGHIỆP CHỦ TỊCH HỒ CHÍ MINH </a:t>
            </a:r>
          </a:p>
        </p:txBody>
      </p:sp>
      <p:sp>
        <p:nvSpPr>
          <p:cNvPr name="TextBox 9" id="9"/>
          <p:cNvSpPr txBox="true"/>
          <p:nvPr/>
        </p:nvSpPr>
        <p:spPr>
          <a:xfrm rot="0">
            <a:off x="1548496" y="9545519"/>
            <a:ext cx="2887222" cy="344805"/>
          </a:xfrm>
          <a:prstGeom prst="rect">
            <a:avLst/>
          </a:prstGeom>
        </p:spPr>
        <p:txBody>
          <a:bodyPr anchor="t" rtlCol="false" tIns="0" lIns="0" bIns="0" rIns="0">
            <a:spAutoFit/>
          </a:bodyPr>
          <a:lstStyle/>
          <a:p>
            <a:pPr algn="l">
              <a:lnSpc>
                <a:spcPts val="2520"/>
              </a:lnSpc>
              <a:spcBef>
                <a:spcPct val="0"/>
              </a:spcBef>
            </a:pPr>
            <a:r>
              <a:rPr lang="en-US" sz="1800">
                <a:solidFill>
                  <a:srgbClr val="FFFEF6"/>
                </a:solidFill>
                <a:latin typeface="True Typewriter"/>
                <a:ea typeface="True Typewriter"/>
                <a:cs typeface="True Typewriter"/>
                <a:sym typeface="True Typewriter"/>
              </a:rPr>
              <a:t>GIÁO VIÊN THỰC HIỆN: NGUYỄN HƯƠNG LY</a:t>
            </a:r>
          </a:p>
        </p:txBody>
      </p:sp>
      <p:sp>
        <p:nvSpPr>
          <p:cNvPr name="TextBox 10" id="10"/>
          <p:cNvSpPr txBox="true"/>
          <p:nvPr/>
        </p:nvSpPr>
        <p:spPr>
          <a:xfrm rot="0">
            <a:off x="14086662" y="9545519"/>
            <a:ext cx="2633266" cy="344805"/>
          </a:xfrm>
          <a:prstGeom prst="rect">
            <a:avLst/>
          </a:prstGeom>
        </p:spPr>
        <p:txBody>
          <a:bodyPr anchor="t" rtlCol="false" tIns="0" lIns="0" bIns="0" rIns="0">
            <a:spAutoFit/>
          </a:bodyPr>
          <a:lstStyle/>
          <a:p>
            <a:pPr algn="r">
              <a:lnSpc>
                <a:spcPts val="2520"/>
              </a:lnSpc>
              <a:spcBef>
                <a:spcPct val="0"/>
              </a:spcBef>
            </a:pPr>
            <a:r>
              <a:rPr lang="en-US" sz="1800">
                <a:solidFill>
                  <a:srgbClr val="FFFEF6"/>
                </a:solidFill>
                <a:latin typeface="True Typewriter"/>
                <a:ea typeface="True Typewriter"/>
                <a:cs typeface="True Typewriter"/>
                <a:sym typeface="True Typewriter"/>
              </a:rPr>
              <a:t>WWW.</a:t>
            </a:r>
            <a:r>
              <a:rPr lang="en-US" sz="1800">
                <a:solidFill>
                  <a:srgbClr val="FFFEF6"/>
                </a:solidFill>
                <a:latin typeface="True Typewriter"/>
                <a:ea typeface="True Typewriter"/>
                <a:cs typeface="True Typewriter"/>
                <a:sym typeface="True Typewriter"/>
              </a:rPr>
              <a:t>REALLYGREATSITE.COM</a:t>
            </a:r>
          </a:p>
        </p:txBody>
      </p:sp>
      <p:sp>
        <p:nvSpPr>
          <p:cNvPr name="TextBox 11" id="11"/>
          <p:cNvSpPr txBox="true"/>
          <p:nvPr/>
        </p:nvSpPr>
        <p:spPr>
          <a:xfrm rot="0">
            <a:off x="9630472" y="2340060"/>
            <a:ext cx="7089456" cy="1642110"/>
          </a:xfrm>
          <a:prstGeom prst="rect">
            <a:avLst/>
          </a:prstGeom>
        </p:spPr>
        <p:txBody>
          <a:bodyPr anchor="t" rtlCol="false" tIns="0" lIns="0" bIns="0" rIns="0">
            <a:spAutoFit/>
          </a:bodyPr>
          <a:lstStyle/>
          <a:p>
            <a:pPr algn="r">
              <a:lnSpc>
                <a:spcPts val="13439"/>
              </a:lnSpc>
            </a:pPr>
            <a:r>
              <a:rPr lang="en-US" sz="9600" spc="-1248">
                <a:solidFill>
                  <a:srgbClr val="B63336"/>
                </a:solidFill>
                <a:latin typeface="Barber FIll"/>
                <a:ea typeface="Barber FIll"/>
                <a:cs typeface="Barber FIll"/>
                <a:sym typeface="Barber FIll"/>
              </a:rPr>
              <a:t>MỤC LỤC</a:t>
            </a:r>
          </a:p>
        </p:txBody>
      </p:sp>
      <p:sp>
        <p:nvSpPr>
          <p:cNvPr name="TextBox 12" id="12"/>
          <p:cNvSpPr txBox="true"/>
          <p:nvPr/>
        </p:nvSpPr>
        <p:spPr>
          <a:xfrm rot="0">
            <a:off x="10970398" y="4436057"/>
            <a:ext cx="5783860" cy="3462655"/>
          </a:xfrm>
          <a:prstGeom prst="rect">
            <a:avLst/>
          </a:prstGeom>
        </p:spPr>
        <p:txBody>
          <a:bodyPr anchor="t" rtlCol="false" tIns="0" lIns="0" bIns="0" rIns="0">
            <a:spAutoFit/>
          </a:bodyPr>
          <a:lstStyle/>
          <a:p>
            <a:pPr algn="r" marL="604523" indent="-302261" lvl="1">
              <a:lnSpc>
                <a:spcPts val="3920"/>
              </a:lnSpc>
              <a:buAutoNum type="arabicPeriod" startAt="1"/>
            </a:pPr>
            <a:r>
              <a:rPr lang="en-US" sz="2800" spc="-308">
                <a:solidFill>
                  <a:srgbClr val="4A4A4A"/>
                </a:solidFill>
                <a:latin typeface="Barber FIll"/>
                <a:ea typeface="Barber FIll"/>
                <a:cs typeface="Barber FIll"/>
                <a:sym typeface="Barber FIll"/>
              </a:rPr>
              <a:t>tổng quan</a:t>
            </a:r>
          </a:p>
          <a:p>
            <a:pPr algn="r" marL="604523" indent="-302261" lvl="1">
              <a:lnSpc>
                <a:spcPts val="3920"/>
              </a:lnSpc>
              <a:buAutoNum type="arabicPeriod" startAt="1"/>
            </a:pPr>
            <a:r>
              <a:rPr lang="en-US" sz="2800" spc="-308">
                <a:solidFill>
                  <a:srgbClr val="4A4A4A"/>
                </a:solidFill>
                <a:latin typeface="Barber FIll"/>
                <a:ea typeface="Barber FIll"/>
                <a:cs typeface="Barber FIll"/>
                <a:sym typeface="Barber FIll"/>
              </a:rPr>
              <a:t>HOẠT ĐỘNG</a:t>
            </a:r>
          </a:p>
          <a:p>
            <a:pPr algn="r" marL="604523" indent="-302261" lvl="1">
              <a:lnSpc>
                <a:spcPts val="3920"/>
              </a:lnSpc>
              <a:buAutoNum type="arabicPeriod" startAt="1"/>
            </a:pPr>
            <a:r>
              <a:rPr lang="en-US" sz="2800" spc="-308">
                <a:solidFill>
                  <a:srgbClr val="4A4A4A"/>
                </a:solidFill>
                <a:latin typeface="Barber FIll"/>
                <a:ea typeface="Barber FIll"/>
                <a:cs typeface="Barber FIll"/>
                <a:sym typeface="Barber FIll"/>
              </a:rPr>
              <a:t>SỰ RA ĐỜI</a:t>
            </a:r>
          </a:p>
          <a:p>
            <a:pPr algn="r" marL="604523" indent="-302261" lvl="1">
              <a:lnSpc>
                <a:spcPts val="3920"/>
              </a:lnSpc>
              <a:buAutoNum type="arabicPeriod" startAt="1"/>
            </a:pPr>
            <a:r>
              <a:rPr lang="en-US" sz="2800" spc="-308">
                <a:solidFill>
                  <a:srgbClr val="4A4A4A"/>
                </a:solidFill>
                <a:latin typeface="Barber FIll"/>
                <a:ea typeface="Barber FIll"/>
                <a:cs typeface="Barber FIll"/>
                <a:sym typeface="Barber FIll"/>
              </a:rPr>
              <a:t>TƯ TƯỞNG</a:t>
            </a:r>
          </a:p>
          <a:p>
            <a:pPr algn="r" marL="604523" indent="-302261" lvl="1">
              <a:lnSpc>
                <a:spcPts val="3920"/>
              </a:lnSpc>
              <a:buAutoNum type="arabicPeriod" startAt="1"/>
            </a:pPr>
            <a:r>
              <a:rPr lang="en-US" sz="2800" spc="-308">
                <a:solidFill>
                  <a:srgbClr val="4A4A4A"/>
                </a:solidFill>
                <a:latin typeface="Barber FIll"/>
                <a:ea typeface="Barber FIll"/>
                <a:cs typeface="Barber FIll"/>
                <a:sym typeface="Barber FIll"/>
              </a:rPr>
              <a:t>DI SẢN</a:t>
            </a:r>
          </a:p>
          <a:p>
            <a:pPr algn="r" marL="604523" indent="-302261" lvl="1">
              <a:lnSpc>
                <a:spcPts val="3920"/>
              </a:lnSpc>
              <a:buAutoNum type="arabicPeriod" startAt="1"/>
            </a:pPr>
            <a:r>
              <a:rPr lang="en-US" sz="2800" spc="-308">
                <a:solidFill>
                  <a:srgbClr val="4A4A4A"/>
                </a:solidFill>
                <a:latin typeface="Barber FIll"/>
                <a:ea typeface="Barber FIll"/>
                <a:cs typeface="Barber FIll"/>
                <a:sym typeface="Barber FIll"/>
              </a:rPr>
              <a:t>TẦM ẢNH HƯỞNG</a:t>
            </a:r>
          </a:p>
          <a:p>
            <a:pPr algn="r" marL="604523" indent="-302261" lvl="1">
              <a:lnSpc>
                <a:spcPts val="3920"/>
              </a:lnSpc>
              <a:buAutoNum type="arabicPeriod" startAt="1"/>
            </a:pPr>
            <a:r>
              <a:rPr lang="en-US" sz="2800" spc="-308">
                <a:solidFill>
                  <a:srgbClr val="4A4A4A"/>
                </a:solidFill>
                <a:latin typeface="Barber FIll"/>
                <a:ea typeface="Barber FIll"/>
                <a:cs typeface="Barber FIll"/>
                <a:sym typeface="Barber FIll"/>
              </a:rPr>
              <a:t>KẾT LUẬN</a:t>
            </a:r>
          </a:p>
        </p:txBody>
      </p:sp>
      <p:sp>
        <p:nvSpPr>
          <p:cNvPr name="Freeform 13" id="13"/>
          <p:cNvSpPr/>
          <p:nvPr/>
        </p:nvSpPr>
        <p:spPr>
          <a:xfrm flipH="false" flipV="false" rot="0">
            <a:off x="2774373" y="1028700"/>
            <a:ext cx="5256306" cy="7710963"/>
          </a:xfrm>
          <a:custGeom>
            <a:avLst/>
            <a:gdLst/>
            <a:ahLst/>
            <a:cxnLst/>
            <a:rect r="r" b="b" t="t" l="l"/>
            <a:pathLst>
              <a:path h="7710963" w="5256306">
                <a:moveTo>
                  <a:pt x="0" y="0"/>
                </a:moveTo>
                <a:lnTo>
                  <a:pt x="5256306" y="0"/>
                </a:lnTo>
                <a:lnTo>
                  <a:pt x="5256306" y="7710963"/>
                </a:lnTo>
                <a:lnTo>
                  <a:pt x="0" y="7710963"/>
                </a:lnTo>
                <a:lnTo>
                  <a:pt x="0" y="0"/>
                </a:lnTo>
                <a:close/>
              </a:path>
            </a:pathLst>
          </a:custGeom>
          <a:blipFill>
            <a:blip r:embed="rId2"/>
            <a:stretch>
              <a:fillRect l="0" t="0" r="0" b="0"/>
            </a:stretch>
          </a:blipFill>
        </p:spPr>
      </p:sp>
    </p:spTree>
  </p:cSld>
  <p:clrMapOvr>
    <a:masterClrMapping/>
  </p:clrMapOvr>
  <p:transition spd="med">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B63335"/>
        </a:solidFill>
      </p:bgPr>
    </p:bg>
    <p:spTree>
      <p:nvGrpSpPr>
        <p:cNvPr id="1" name=""/>
        <p:cNvGrpSpPr/>
        <p:nvPr/>
      </p:nvGrpSpPr>
      <p:grpSpPr>
        <a:xfrm>
          <a:off x="0" y="0"/>
          <a:ext cx="0" cy="0"/>
          <a:chOff x="0" y="0"/>
          <a:chExt cx="0" cy="0"/>
        </a:xfrm>
      </p:grpSpPr>
      <p:sp>
        <p:nvSpPr>
          <p:cNvPr name="Freeform 2" id="2"/>
          <p:cNvSpPr/>
          <p:nvPr/>
        </p:nvSpPr>
        <p:spPr>
          <a:xfrm flipH="false" flipV="false" rot="0">
            <a:off x="10586303" y="1609977"/>
            <a:ext cx="6506453" cy="5554884"/>
          </a:xfrm>
          <a:custGeom>
            <a:avLst/>
            <a:gdLst/>
            <a:ahLst/>
            <a:cxnLst/>
            <a:rect r="r" b="b" t="t" l="l"/>
            <a:pathLst>
              <a:path h="5554884" w="6506453">
                <a:moveTo>
                  <a:pt x="0" y="0"/>
                </a:moveTo>
                <a:lnTo>
                  <a:pt x="6506453" y="0"/>
                </a:lnTo>
                <a:lnTo>
                  <a:pt x="6506453" y="5554884"/>
                </a:lnTo>
                <a:lnTo>
                  <a:pt x="0" y="5554884"/>
                </a:lnTo>
                <a:lnTo>
                  <a:pt x="0" y="0"/>
                </a:lnTo>
                <a:close/>
              </a:path>
            </a:pathLst>
          </a:custGeom>
          <a:blipFill>
            <a:blip r:embed="rId2">
              <a:alphaModFix amt="50000"/>
            </a:blip>
            <a:stretch>
              <a:fillRect l="0" t="0" r="0" b="0"/>
            </a:stretch>
          </a:blipFill>
        </p:spPr>
      </p:sp>
      <p:pic>
        <p:nvPicPr>
          <p:cNvPr name="Picture 3" id="3"/>
          <p:cNvPicPr>
            <a:picLocks noChangeAspect="true"/>
          </p:cNvPicPr>
          <p:nvPr/>
        </p:nvPicPr>
        <p:blipFill>
          <a:blip r:embed="rId3"/>
          <a:srcRect l="0" t="0" r="0" b="0"/>
          <a:stretch>
            <a:fillRect/>
          </a:stretch>
        </p:blipFill>
        <p:spPr>
          <a:xfrm flipH="false" flipV="false" rot="0">
            <a:off x="9999928" y="2820091"/>
            <a:ext cx="7259372" cy="4754889"/>
          </a:xfrm>
          <a:prstGeom prst="rect">
            <a:avLst/>
          </a:prstGeom>
        </p:spPr>
      </p:pic>
      <p:grpSp>
        <p:nvGrpSpPr>
          <p:cNvPr name="Group 4" id="4"/>
          <p:cNvGrpSpPr/>
          <p:nvPr/>
        </p:nvGrpSpPr>
        <p:grpSpPr>
          <a:xfrm rot="0">
            <a:off x="-2492829" y="1028700"/>
            <a:ext cx="7043057" cy="6712914"/>
            <a:chOff x="0" y="0"/>
            <a:chExt cx="812800" cy="774700"/>
          </a:xfrm>
        </p:grpSpPr>
        <p:sp>
          <p:nvSpPr>
            <p:cNvPr name="Freeform 5" id="5"/>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4DC71">
                <a:alpha val="11765"/>
              </a:srgbClr>
            </a:solidFill>
          </p:spPr>
        </p:sp>
        <p:sp>
          <p:nvSpPr>
            <p:cNvPr name="TextBox 6" id="6"/>
            <p:cNvSpPr txBox="true"/>
            <p:nvPr/>
          </p:nvSpPr>
          <p:spPr>
            <a:xfrm>
              <a:off x="228600" y="190500"/>
              <a:ext cx="355600" cy="419100"/>
            </a:xfrm>
            <a:prstGeom prst="rect">
              <a:avLst/>
            </a:prstGeom>
          </p:spPr>
          <p:txBody>
            <a:bodyPr anchor="ctr" rtlCol="false" tIns="50800" lIns="50800" bIns="50800" rIns="50800"/>
            <a:lstStyle/>
            <a:p>
              <a:pPr algn="ctr">
                <a:lnSpc>
                  <a:spcPts val="2520"/>
                </a:lnSpc>
              </a:pPr>
            </a:p>
          </p:txBody>
        </p:sp>
      </p:grpSp>
      <p:grpSp>
        <p:nvGrpSpPr>
          <p:cNvPr name="Group 7" id="7"/>
          <p:cNvGrpSpPr/>
          <p:nvPr/>
        </p:nvGrpSpPr>
        <p:grpSpPr>
          <a:xfrm rot="0">
            <a:off x="-46997" y="9258300"/>
            <a:ext cx="18381994" cy="1028700"/>
            <a:chOff x="0" y="0"/>
            <a:chExt cx="4841348" cy="270933"/>
          </a:xfrm>
        </p:grpSpPr>
        <p:sp>
          <p:nvSpPr>
            <p:cNvPr name="Freeform 8" id="8"/>
            <p:cNvSpPr/>
            <p:nvPr/>
          </p:nvSpPr>
          <p:spPr>
            <a:xfrm flipH="false" flipV="false" rot="0">
              <a:off x="0" y="0"/>
              <a:ext cx="4841348" cy="270933"/>
            </a:xfrm>
            <a:custGeom>
              <a:avLst/>
              <a:gdLst/>
              <a:ahLst/>
              <a:cxnLst/>
              <a:rect r="r" b="b" t="t" l="l"/>
              <a:pathLst>
                <a:path h="270933" w="4841348">
                  <a:moveTo>
                    <a:pt x="0" y="0"/>
                  </a:moveTo>
                  <a:lnTo>
                    <a:pt x="4841348" y="0"/>
                  </a:lnTo>
                  <a:lnTo>
                    <a:pt x="4841348" y="270933"/>
                  </a:lnTo>
                  <a:lnTo>
                    <a:pt x="0" y="270933"/>
                  </a:lnTo>
                  <a:close/>
                </a:path>
              </a:pathLst>
            </a:custGeom>
            <a:solidFill>
              <a:srgbClr val="FFFEF6"/>
            </a:solidFill>
          </p:spPr>
        </p:sp>
        <p:sp>
          <p:nvSpPr>
            <p:cNvPr name="TextBox 9" id="9"/>
            <p:cNvSpPr txBox="true"/>
            <p:nvPr/>
          </p:nvSpPr>
          <p:spPr>
            <a:xfrm>
              <a:off x="0" y="-76200"/>
              <a:ext cx="4841348" cy="347133"/>
            </a:xfrm>
            <a:prstGeom prst="rect">
              <a:avLst/>
            </a:prstGeom>
          </p:spPr>
          <p:txBody>
            <a:bodyPr anchor="ctr" rtlCol="false" tIns="50800" lIns="50800" bIns="50800" rIns="50800"/>
            <a:lstStyle/>
            <a:p>
              <a:pPr algn="ctr">
                <a:lnSpc>
                  <a:spcPts val="2520"/>
                </a:lnSpc>
              </a:pPr>
            </a:p>
          </p:txBody>
        </p:sp>
      </p:grpSp>
      <p:sp>
        <p:nvSpPr>
          <p:cNvPr name="TextBox 10" id="10"/>
          <p:cNvSpPr txBox="true"/>
          <p:nvPr/>
        </p:nvSpPr>
        <p:spPr>
          <a:xfrm rot="0">
            <a:off x="1548496" y="3883090"/>
            <a:ext cx="6397673" cy="3787140"/>
          </a:xfrm>
          <a:prstGeom prst="rect">
            <a:avLst/>
          </a:prstGeom>
        </p:spPr>
        <p:txBody>
          <a:bodyPr anchor="t" rtlCol="false" tIns="0" lIns="0" bIns="0" rIns="0">
            <a:spAutoFit/>
          </a:bodyPr>
          <a:lstStyle/>
          <a:p>
            <a:pPr algn="l">
              <a:lnSpc>
                <a:spcPts val="3359"/>
              </a:lnSpc>
            </a:pPr>
            <a:r>
              <a:rPr lang="en-US" sz="2399" spc="-23">
                <a:solidFill>
                  <a:srgbClr val="FFFEF6"/>
                </a:solidFill>
                <a:latin typeface="True Typewriter"/>
                <a:ea typeface="True Typewriter"/>
                <a:cs typeface="True Typewriter"/>
                <a:sym typeface="True Typewriter"/>
              </a:rPr>
              <a:t>Chủ tị</a:t>
            </a:r>
            <a:r>
              <a:rPr lang="en-US" sz="2399" spc="-23">
                <a:solidFill>
                  <a:srgbClr val="FFFEF6"/>
                </a:solidFill>
                <a:latin typeface="True Typewriter"/>
                <a:ea typeface="True Typewriter"/>
                <a:cs typeface="True Typewriter"/>
                <a:sym typeface="True Typewriter"/>
              </a:rPr>
              <a:t>ch Hồ Chí Minh sinh ra tại làng Sen, Nam Đàn, Nghệ An trong một gia đình yêu nước. Ngay từ thời niên thiếu, Người đã sớm hình thành lòng yêu nước nồng nàn và ý chí sắt đá để tìm con đường giải phóng dân tộc. Lý tưởng của Người không chỉ dừng lại ở việc giành lại độc lập mà còn hướng tới mục tiêu xây dựng một xã hội công bằng, văn minh và tiến bộ cho toàn thể nhân dân Việt Nam.</a:t>
            </a:r>
          </a:p>
        </p:txBody>
      </p:sp>
      <p:sp>
        <p:nvSpPr>
          <p:cNvPr name="TextBox 11" id="11"/>
          <p:cNvSpPr txBox="true"/>
          <p:nvPr/>
        </p:nvSpPr>
        <p:spPr>
          <a:xfrm rot="0">
            <a:off x="1548496" y="1417883"/>
            <a:ext cx="7852151" cy="1642110"/>
          </a:xfrm>
          <a:prstGeom prst="rect">
            <a:avLst/>
          </a:prstGeom>
        </p:spPr>
        <p:txBody>
          <a:bodyPr anchor="t" rtlCol="false" tIns="0" lIns="0" bIns="0" rIns="0">
            <a:spAutoFit/>
          </a:bodyPr>
          <a:lstStyle/>
          <a:p>
            <a:pPr algn="l">
              <a:lnSpc>
                <a:spcPts val="13439"/>
              </a:lnSpc>
            </a:pPr>
            <a:r>
              <a:rPr lang="en-US" sz="9600" spc="-1344">
                <a:solidFill>
                  <a:srgbClr val="F4DC71"/>
                </a:solidFill>
                <a:latin typeface="Barber FIll"/>
                <a:ea typeface="Barber FIll"/>
                <a:cs typeface="Barber FIll"/>
                <a:sym typeface="Barber FIll"/>
              </a:rPr>
              <a:t>TỔNG QUAN</a:t>
            </a:r>
          </a:p>
        </p:txBody>
      </p:sp>
      <p:sp>
        <p:nvSpPr>
          <p:cNvPr name="TextBox 12" id="12"/>
          <p:cNvSpPr txBox="true"/>
          <p:nvPr/>
        </p:nvSpPr>
        <p:spPr>
          <a:xfrm rot="0">
            <a:off x="1548496" y="2983793"/>
            <a:ext cx="5925273" cy="622935"/>
          </a:xfrm>
          <a:prstGeom prst="rect">
            <a:avLst/>
          </a:prstGeom>
        </p:spPr>
        <p:txBody>
          <a:bodyPr anchor="t" rtlCol="false" tIns="0" lIns="0" bIns="0" rIns="0">
            <a:spAutoFit/>
          </a:bodyPr>
          <a:lstStyle/>
          <a:p>
            <a:pPr algn="l">
              <a:lnSpc>
                <a:spcPts val="5040"/>
              </a:lnSpc>
            </a:pPr>
            <a:r>
              <a:rPr lang="en-US" sz="3600" spc="-504">
                <a:solidFill>
                  <a:srgbClr val="FFFEF6"/>
                </a:solidFill>
                <a:latin typeface="Barber FIll"/>
                <a:ea typeface="Barber FIll"/>
                <a:cs typeface="Barber FIll"/>
                <a:sym typeface="Barber FIll"/>
              </a:rPr>
              <a:t>CUỘC ĐỜI VÀ SỰ NGHIỆP</a:t>
            </a:r>
          </a:p>
        </p:txBody>
      </p:sp>
      <p:sp>
        <p:nvSpPr>
          <p:cNvPr name="TextBox 13" id="13"/>
          <p:cNvSpPr txBox="true"/>
          <p:nvPr/>
        </p:nvSpPr>
        <p:spPr>
          <a:xfrm rot="0">
            <a:off x="7114736" y="9545519"/>
            <a:ext cx="4312484" cy="344805"/>
          </a:xfrm>
          <a:prstGeom prst="rect">
            <a:avLst/>
          </a:prstGeom>
        </p:spPr>
        <p:txBody>
          <a:bodyPr anchor="t" rtlCol="false" tIns="0" lIns="0" bIns="0" rIns="0">
            <a:spAutoFit/>
          </a:bodyPr>
          <a:lstStyle/>
          <a:p>
            <a:pPr algn="ctr" marL="0" indent="0" lvl="0">
              <a:lnSpc>
                <a:spcPts val="2520"/>
              </a:lnSpc>
              <a:spcBef>
                <a:spcPct val="0"/>
              </a:spcBef>
            </a:pPr>
            <a:r>
              <a:rPr lang="en-US" sz="1800">
                <a:solidFill>
                  <a:srgbClr val="4A4A4A"/>
                </a:solidFill>
                <a:latin typeface="True Typewriter"/>
                <a:ea typeface="True Typewriter"/>
                <a:cs typeface="True Typewriter"/>
                <a:sym typeface="True Typewriter"/>
              </a:rPr>
              <a:t>CUỘ</a:t>
            </a:r>
            <a:r>
              <a:rPr lang="en-US" sz="1800" strike="noStrike" u="none">
                <a:solidFill>
                  <a:srgbClr val="4A4A4A"/>
                </a:solidFill>
                <a:latin typeface="True Typewriter"/>
                <a:ea typeface="True Typewriter"/>
                <a:cs typeface="True Typewriter"/>
                <a:sym typeface="True Typewriter"/>
              </a:rPr>
              <a:t>C ĐỜI VÀ SỰ NGHIỆP CHỦ TỊCH HỒ CHÍ MINH </a:t>
            </a:r>
          </a:p>
        </p:txBody>
      </p:sp>
      <p:sp>
        <p:nvSpPr>
          <p:cNvPr name="TextBox 14" id="14"/>
          <p:cNvSpPr txBox="true"/>
          <p:nvPr/>
        </p:nvSpPr>
        <p:spPr>
          <a:xfrm rot="0">
            <a:off x="1548496" y="9545519"/>
            <a:ext cx="2887222" cy="344805"/>
          </a:xfrm>
          <a:prstGeom prst="rect">
            <a:avLst/>
          </a:prstGeom>
        </p:spPr>
        <p:txBody>
          <a:bodyPr anchor="t" rtlCol="false" tIns="0" lIns="0" bIns="0" rIns="0">
            <a:spAutoFit/>
          </a:bodyPr>
          <a:lstStyle/>
          <a:p>
            <a:pPr algn="l">
              <a:lnSpc>
                <a:spcPts val="2520"/>
              </a:lnSpc>
              <a:spcBef>
                <a:spcPct val="0"/>
              </a:spcBef>
            </a:pPr>
            <a:r>
              <a:rPr lang="en-US" sz="1800">
                <a:solidFill>
                  <a:srgbClr val="4A4A4A"/>
                </a:solidFill>
                <a:latin typeface="True Typewriter"/>
                <a:ea typeface="True Typewriter"/>
                <a:cs typeface="True Typewriter"/>
                <a:sym typeface="True Typewriter"/>
              </a:rPr>
              <a:t>GIÁO VIÊN THỰC HIỆN: NGUYỄN HƯƠNG LY</a:t>
            </a:r>
          </a:p>
        </p:txBody>
      </p:sp>
      <p:sp>
        <p:nvSpPr>
          <p:cNvPr name="TextBox 15" id="15"/>
          <p:cNvSpPr txBox="true"/>
          <p:nvPr/>
        </p:nvSpPr>
        <p:spPr>
          <a:xfrm rot="0">
            <a:off x="14086662" y="9545519"/>
            <a:ext cx="2633266" cy="344805"/>
          </a:xfrm>
          <a:prstGeom prst="rect">
            <a:avLst/>
          </a:prstGeom>
        </p:spPr>
        <p:txBody>
          <a:bodyPr anchor="t" rtlCol="false" tIns="0" lIns="0" bIns="0" rIns="0">
            <a:spAutoFit/>
          </a:bodyPr>
          <a:lstStyle/>
          <a:p>
            <a:pPr algn="r">
              <a:lnSpc>
                <a:spcPts val="2520"/>
              </a:lnSpc>
              <a:spcBef>
                <a:spcPct val="0"/>
              </a:spcBef>
            </a:pPr>
            <a:r>
              <a:rPr lang="en-US" sz="1800">
                <a:solidFill>
                  <a:srgbClr val="4A4A4A"/>
                </a:solidFill>
                <a:latin typeface="True Typewriter"/>
                <a:ea typeface="True Typewriter"/>
                <a:cs typeface="True Typewriter"/>
                <a:sym typeface="True Typewriter"/>
              </a:rPr>
              <a:t>WWW.REALLYGREATSITE.COM</a:t>
            </a:r>
          </a:p>
        </p:txBody>
      </p:sp>
    </p:spTree>
  </p:cSld>
  <p:clrMapOvr>
    <a:masterClrMapping/>
  </p:clrMapOvr>
  <p:transition spd="med">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63335"/>
        </a:solidFill>
      </p:bgPr>
    </p:bg>
    <p:spTree>
      <p:nvGrpSpPr>
        <p:cNvPr id="1" name=""/>
        <p:cNvGrpSpPr/>
        <p:nvPr/>
      </p:nvGrpSpPr>
      <p:grpSpPr>
        <a:xfrm>
          <a:off x="0" y="0"/>
          <a:ext cx="0" cy="0"/>
          <a:chOff x="0" y="0"/>
          <a:chExt cx="0" cy="0"/>
        </a:xfrm>
      </p:grpSpPr>
      <p:sp>
        <p:nvSpPr>
          <p:cNvPr name="Freeform 2" id="2"/>
          <p:cNvSpPr/>
          <p:nvPr/>
        </p:nvSpPr>
        <p:spPr>
          <a:xfrm flipH="true" flipV="false" rot="0">
            <a:off x="1016628" y="3326742"/>
            <a:ext cx="7062652" cy="4860698"/>
          </a:xfrm>
          <a:custGeom>
            <a:avLst/>
            <a:gdLst/>
            <a:ahLst/>
            <a:cxnLst/>
            <a:rect r="r" b="b" t="t" l="l"/>
            <a:pathLst>
              <a:path h="4860698" w="7062652">
                <a:moveTo>
                  <a:pt x="7062652" y="0"/>
                </a:moveTo>
                <a:lnTo>
                  <a:pt x="0" y="0"/>
                </a:lnTo>
                <a:lnTo>
                  <a:pt x="0" y="4860698"/>
                </a:lnTo>
                <a:lnTo>
                  <a:pt x="7062652" y="4860698"/>
                </a:lnTo>
                <a:lnTo>
                  <a:pt x="706265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a:off x="1016628" y="2111558"/>
            <a:ext cx="5646333" cy="1765319"/>
          </a:xfrm>
          <a:custGeom>
            <a:avLst/>
            <a:gdLst/>
            <a:ahLst/>
            <a:cxnLst/>
            <a:rect r="r" b="b" t="t" l="l"/>
            <a:pathLst>
              <a:path h="1765319" w="5646333">
                <a:moveTo>
                  <a:pt x="0" y="1765319"/>
                </a:moveTo>
                <a:quadBezTo>
                  <a:pt x="2136879" y="-1141210"/>
                  <a:pt x="5646332" y="737748"/>
                </a:quadBezTo>
              </a:path>
            </a:pathLst>
          </a:custGeom>
          <a:ln cap="rnd" w="38100">
            <a:solidFill>
              <a:srgbClr val="FFFFFF"/>
            </a:solidFill>
            <a:prstDash val="sysDash"/>
            <a:headEnd type="none" len="sm" w="sm"/>
            <a:tailEnd type="none" len="sm" w="sm"/>
          </a:ln>
        </p:spPr>
      </p:sp>
      <p:sp>
        <p:nvSpPr>
          <p:cNvPr name="Freeform 4" id="4"/>
          <p:cNvSpPr/>
          <p:nvPr/>
        </p:nvSpPr>
        <p:spPr>
          <a:xfrm>
            <a:off x="6662960" y="2849306"/>
            <a:ext cx="3694741" cy="4704466"/>
          </a:xfrm>
          <a:custGeom>
            <a:avLst/>
            <a:gdLst/>
            <a:ahLst/>
            <a:cxnLst/>
            <a:rect r="r" b="b" t="t" l="l"/>
            <a:pathLst>
              <a:path h="4704466" w="3694741">
                <a:moveTo>
                  <a:pt x="0" y="0"/>
                </a:moveTo>
                <a:quadBezTo>
                  <a:pt x="6020996" y="1395871"/>
                  <a:pt x="2230103" y="4704466"/>
                </a:quadBezTo>
              </a:path>
            </a:pathLst>
          </a:custGeom>
          <a:ln cap="rnd" w="38100">
            <a:solidFill>
              <a:srgbClr val="FFFFFF"/>
            </a:solidFill>
            <a:prstDash val="sysDash"/>
            <a:headEnd type="none" len="sm" w="sm"/>
            <a:tailEnd type="none" len="sm" w="sm"/>
          </a:ln>
        </p:spPr>
      </p:sp>
      <p:sp>
        <p:nvSpPr>
          <p:cNvPr name="Freeform 5" id="5"/>
          <p:cNvSpPr/>
          <p:nvPr/>
        </p:nvSpPr>
        <p:spPr>
          <a:xfrm flipH="false" flipV="false" rot="0">
            <a:off x="818044" y="3250161"/>
            <a:ext cx="397166" cy="695674"/>
          </a:xfrm>
          <a:custGeom>
            <a:avLst/>
            <a:gdLst/>
            <a:ahLst/>
            <a:cxnLst/>
            <a:rect r="r" b="b" t="t" l="l"/>
            <a:pathLst>
              <a:path h="695674" w="397166">
                <a:moveTo>
                  <a:pt x="0" y="0"/>
                </a:moveTo>
                <a:lnTo>
                  <a:pt x="397167" y="0"/>
                </a:lnTo>
                <a:lnTo>
                  <a:pt x="397167" y="695673"/>
                </a:lnTo>
                <a:lnTo>
                  <a:pt x="0" y="6956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694480" y="6858098"/>
            <a:ext cx="397166" cy="695674"/>
          </a:xfrm>
          <a:custGeom>
            <a:avLst/>
            <a:gdLst/>
            <a:ahLst/>
            <a:cxnLst/>
            <a:rect r="r" b="b" t="t" l="l"/>
            <a:pathLst>
              <a:path h="695674" w="397166">
                <a:moveTo>
                  <a:pt x="0" y="0"/>
                </a:moveTo>
                <a:lnTo>
                  <a:pt x="397166" y="0"/>
                </a:lnTo>
                <a:lnTo>
                  <a:pt x="397166" y="695674"/>
                </a:lnTo>
                <a:lnTo>
                  <a:pt x="0" y="6956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6464377" y="2244744"/>
            <a:ext cx="397166" cy="695674"/>
          </a:xfrm>
          <a:custGeom>
            <a:avLst/>
            <a:gdLst/>
            <a:ahLst/>
            <a:cxnLst/>
            <a:rect r="r" b="b" t="t" l="l"/>
            <a:pathLst>
              <a:path h="695674" w="397166">
                <a:moveTo>
                  <a:pt x="0" y="0"/>
                </a:moveTo>
                <a:lnTo>
                  <a:pt x="397167" y="0"/>
                </a:lnTo>
                <a:lnTo>
                  <a:pt x="397167" y="695674"/>
                </a:lnTo>
                <a:lnTo>
                  <a:pt x="0" y="6956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3737771" y="1028700"/>
            <a:ext cx="7043057" cy="6712914"/>
            <a:chOff x="0" y="0"/>
            <a:chExt cx="812800" cy="774700"/>
          </a:xfrm>
        </p:grpSpPr>
        <p:sp>
          <p:nvSpPr>
            <p:cNvPr name="Freeform 9" id="9"/>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4DC71">
                <a:alpha val="11765"/>
              </a:srgbClr>
            </a:solidFill>
          </p:spPr>
        </p:sp>
        <p:sp>
          <p:nvSpPr>
            <p:cNvPr name="TextBox 10" id="10"/>
            <p:cNvSpPr txBox="true"/>
            <p:nvPr/>
          </p:nvSpPr>
          <p:spPr>
            <a:xfrm>
              <a:off x="228600" y="190500"/>
              <a:ext cx="355600" cy="419100"/>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TextBox 11" id="11"/>
          <p:cNvSpPr txBox="true"/>
          <p:nvPr/>
        </p:nvSpPr>
        <p:spPr>
          <a:xfrm rot="0">
            <a:off x="11864433" y="4111572"/>
            <a:ext cx="4855495" cy="3787140"/>
          </a:xfrm>
          <a:prstGeom prst="rect">
            <a:avLst/>
          </a:prstGeom>
        </p:spPr>
        <p:txBody>
          <a:bodyPr anchor="t" rtlCol="false" tIns="0" lIns="0" bIns="0" rIns="0">
            <a:spAutoFit/>
          </a:bodyPr>
          <a:lstStyle/>
          <a:p>
            <a:pPr algn="r">
              <a:lnSpc>
                <a:spcPts val="3359"/>
              </a:lnSpc>
            </a:pPr>
            <a:r>
              <a:rPr lang="en-US" sz="2399" spc="119">
                <a:solidFill>
                  <a:srgbClr val="FFFEF6"/>
                </a:solidFill>
                <a:latin typeface="True Typewriter"/>
                <a:ea typeface="True Typewriter"/>
                <a:cs typeface="True Typewriter"/>
                <a:sym typeface="True Typewriter"/>
              </a:rPr>
              <a:t>Vào ngày</a:t>
            </a:r>
            <a:r>
              <a:rPr lang="en-US" sz="2399" spc="119">
                <a:solidFill>
                  <a:srgbClr val="FFFEF6"/>
                </a:solidFill>
                <a:latin typeface="True Typewriter"/>
                <a:ea typeface="True Typewriter"/>
                <a:cs typeface="True Typewriter"/>
                <a:sym typeface="True Typewriter"/>
              </a:rPr>
              <a:t> 05/06/1911, với tên gọi Văn Ba, Người đã rời bến cảng Nhà Rồng trên con tàu lớn để bắt đầu hành trình vạn dặm. Trong suốt 30 năm bôn ba hải ngoại, Người đã đi qua nhiều quốc gia và châu lục để tìm ra chân lý, đặt nền móng vững chắc cho sự nghiệp giải phóng Việt Nam.</a:t>
            </a:r>
          </a:p>
        </p:txBody>
      </p:sp>
      <p:sp>
        <p:nvSpPr>
          <p:cNvPr name="TextBox 12" id="12"/>
          <p:cNvSpPr txBox="true"/>
          <p:nvPr/>
        </p:nvSpPr>
        <p:spPr>
          <a:xfrm rot="0">
            <a:off x="8867777" y="1429002"/>
            <a:ext cx="7852151" cy="1642110"/>
          </a:xfrm>
          <a:prstGeom prst="rect">
            <a:avLst/>
          </a:prstGeom>
        </p:spPr>
        <p:txBody>
          <a:bodyPr anchor="t" rtlCol="false" tIns="0" lIns="0" bIns="0" rIns="0">
            <a:spAutoFit/>
          </a:bodyPr>
          <a:lstStyle/>
          <a:p>
            <a:pPr algn="r">
              <a:lnSpc>
                <a:spcPts val="13439"/>
              </a:lnSpc>
            </a:pPr>
            <a:r>
              <a:rPr lang="en-US" sz="9600" spc="-1344">
                <a:solidFill>
                  <a:srgbClr val="F4DC71"/>
                </a:solidFill>
                <a:latin typeface="Barber FIll"/>
                <a:ea typeface="Barber FIll"/>
                <a:cs typeface="Barber FIll"/>
                <a:sym typeface="Barber FIll"/>
              </a:rPr>
              <a:t>HOẠT ĐỘNG</a:t>
            </a:r>
          </a:p>
        </p:txBody>
      </p:sp>
      <p:sp>
        <p:nvSpPr>
          <p:cNvPr name="TextBox 13" id="13"/>
          <p:cNvSpPr txBox="true"/>
          <p:nvPr/>
        </p:nvSpPr>
        <p:spPr>
          <a:xfrm rot="0">
            <a:off x="10389710" y="2994912"/>
            <a:ext cx="6330219" cy="622935"/>
          </a:xfrm>
          <a:prstGeom prst="rect">
            <a:avLst/>
          </a:prstGeom>
        </p:spPr>
        <p:txBody>
          <a:bodyPr anchor="t" rtlCol="false" tIns="0" lIns="0" bIns="0" rIns="0">
            <a:spAutoFit/>
          </a:bodyPr>
          <a:lstStyle/>
          <a:p>
            <a:pPr algn="r">
              <a:lnSpc>
                <a:spcPts val="5040"/>
              </a:lnSpc>
            </a:pPr>
            <a:r>
              <a:rPr lang="en-US" sz="3600" spc="-504">
                <a:solidFill>
                  <a:srgbClr val="FFFEF6"/>
                </a:solidFill>
                <a:latin typeface="Barber FIll"/>
                <a:ea typeface="Barber FIll"/>
                <a:cs typeface="Barber FIll"/>
                <a:sym typeface="Barber FIll"/>
              </a:rPr>
              <a:t>CỦA BÁC Ở NƯỚC NGOÀI</a:t>
            </a:r>
          </a:p>
        </p:txBody>
      </p:sp>
      <p:grpSp>
        <p:nvGrpSpPr>
          <p:cNvPr name="Group 14" id="14"/>
          <p:cNvGrpSpPr/>
          <p:nvPr/>
        </p:nvGrpSpPr>
        <p:grpSpPr>
          <a:xfrm rot="0">
            <a:off x="-46997" y="9258300"/>
            <a:ext cx="18381994" cy="1028700"/>
            <a:chOff x="0" y="0"/>
            <a:chExt cx="4841348" cy="270933"/>
          </a:xfrm>
        </p:grpSpPr>
        <p:sp>
          <p:nvSpPr>
            <p:cNvPr name="Freeform 15" id="15"/>
            <p:cNvSpPr/>
            <p:nvPr/>
          </p:nvSpPr>
          <p:spPr>
            <a:xfrm flipH="false" flipV="false" rot="0">
              <a:off x="0" y="0"/>
              <a:ext cx="4841348" cy="270933"/>
            </a:xfrm>
            <a:custGeom>
              <a:avLst/>
              <a:gdLst/>
              <a:ahLst/>
              <a:cxnLst/>
              <a:rect r="r" b="b" t="t" l="l"/>
              <a:pathLst>
                <a:path h="270933" w="4841348">
                  <a:moveTo>
                    <a:pt x="0" y="0"/>
                  </a:moveTo>
                  <a:lnTo>
                    <a:pt x="4841348" y="0"/>
                  </a:lnTo>
                  <a:lnTo>
                    <a:pt x="4841348" y="270933"/>
                  </a:lnTo>
                  <a:lnTo>
                    <a:pt x="0" y="270933"/>
                  </a:lnTo>
                  <a:close/>
                </a:path>
              </a:pathLst>
            </a:custGeom>
            <a:solidFill>
              <a:srgbClr val="FFFEF6"/>
            </a:solidFill>
          </p:spPr>
        </p:sp>
        <p:sp>
          <p:nvSpPr>
            <p:cNvPr name="TextBox 16" id="16"/>
            <p:cNvSpPr txBox="true"/>
            <p:nvPr/>
          </p:nvSpPr>
          <p:spPr>
            <a:xfrm>
              <a:off x="0" y="-76200"/>
              <a:ext cx="4841348" cy="347133"/>
            </a:xfrm>
            <a:prstGeom prst="rect">
              <a:avLst/>
            </a:prstGeom>
          </p:spPr>
          <p:txBody>
            <a:bodyPr anchor="ctr" rtlCol="false" tIns="50800" lIns="50800" bIns="50800" rIns="50800"/>
            <a:lstStyle/>
            <a:p>
              <a:pPr algn="ctr">
                <a:lnSpc>
                  <a:spcPts val="2520"/>
                </a:lnSpc>
              </a:pPr>
            </a:p>
          </p:txBody>
        </p:sp>
      </p:grpSp>
      <p:sp>
        <p:nvSpPr>
          <p:cNvPr name="TextBox 17" id="17"/>
          <p:cNvSpPr txBox="true"/>
          <p:nvPr/>
        </p:nvSpPr>
        <p:spPr>
          <a:xfrm rot="0">
            <a:off x="7114736" y="9545519"/>
            <a:ext cx="4312484" cy="344805"/>
          </a:xfrm>
          <a:prstGeom prst="rect">
            <a:avLst/>
          </a:prstGeom>
        </p:spPr>
        <p:txBody>
          <a:bodyPr anchor="t" rtlCol="false" tIns="0" lIns="0" bIns="0" rIns="0">
            <a:spAutoFit/>
          </a:bodyPr>
          <a:lstStyle/>
          <a:p>
            <a:pPr algn="ctr" marL="0" indent="0" lvl="0">
              <a:lnSpc>
                <a:spcPts val="2520"/>
              </a:lnSpc>
              <a:spcBef>
                <a:spcPct val="0"/>
              </a:spcBef>
            </a:pPr>
            <a:r>
              <a:rPr lang="en-US" sz="1800">
                <a:solidFill>
                  <a:srgbClr val="4A4A4A"/>
                </a:solidFill>
                <a:latin typeface="True Typewriter"/>
                <a:ea typeface="True Typewriter"/>
                <a:cs typeface="True Typewriter"/>
                <a:sym typeface="True Typewriter"/>
              </a:rPr>
              <a:t>CUỘ</a:t>
            </a:r>
            <a:r>
              <a:rPr lang="en-US" sz="1800" strike="noStrike" u="none">
                <a:solidFill>
                  <a:srgbClr val="4A4A4A"/>
                </a:solidFill>
                <a:latin typeface="True Typewriter"/>
                <a:ea typeface="True Typewriter"/>
                <a:cs typeface="True Typewriter"/>
                <a:sym typeface="True Typewriter"/>
              </a:rPr>
              <a:t>C ĐỜI VÀ SỰ NGHIỆP CHỦ TỊCH HỒ CHÍ MINH </a:t>
            </a:r>
          </a:p>
        </p:txBody>
      </p:sp>
      <p:sp>
        <p:nvSpPr>
          <p:cNvPr name="TextBox 18" id="18"/>
          <p:cNvSpPr txBox="true"/>
          <p:nvPr/>
        </p:nvSpPr>
        <p:spPr>
          <a:xfrm rot="0">
            <a:off x="1548496" y="9545519"/>
            <a:ext cx="2887222" cy="344805"/>
          </a:xfrm>
          <a:prstGeom prst="rect">
            <a:avLst/>
          </a:prstGeom>
        </p:spPr>
        <p:txBody>
          <a:bodyPr anchor="t" rtlCol="false" tIns="0" lIns="0" bIns="0" rIns="0">
            <a:spAutoFit/>
          </a:bodyPr>
          <a:lstStyle/>
          <a:p>
            <a:pPr algn="l">
              <a:lnSpc>
                <a:spcPts val="2520"/>
              </a:lnSpc>
              <a:spcBef>
                <a:spcPct val="0"/>
              </a:spcBef>
            </a:pPr>
            <a:r>
              <a:rPr lang="en-US" sz="1800">
                <a:solidFill>
                  <a:srgbClr val="4A4A4A"/>
                </a:solidFill>
                <a:latin typeface="True Typewriter"/>
                <a:ea typeface="True Typewriter"/>
                <a:cs typeface="True Typewriter"/>
                <a:sym typeface="True Typewriter"/>
              </a:rPr>
              <a:t>GIÁO VIÊN THỰC HIỆN: NGUYỄN HƯƠNG LY</a:t>
            </a:r>
          </a:p>
        </p:txBody>
      </p:sp>
      <p:sp>
        <p:nvSpPr>
          <p:cNvPr name="TextBox 19" id="19"/>
          <p:cNvSpPr txBox="true"/>
          <p:nvPr/>
        </p:nvSpPr>
        <p:spPr>
          <a:xfrm rot="0">
            <a:off x="14086662" y="9545519"/>
            <a:ext cx="2633266" cy="344805"/>
          </a:xfrm>
          <a:prstGeom prst="rect">
            <a:avLst/>
          </a:prstGeom>
        </p:spPr>
        <p:txBody>
          <a:bodyPr anchor="t" rtlCol="false" tIns="0" lIns="0" bIns="0" rIns="0">
            <a:spAutoFit/>
          </a:bodyPr>
          <a:lstStyle/>
          <a:p>
            <a:pPr algn="r">
              <a:lnSpc>
                <a:spcPts val="2520"/>
              </a:lnSpc>
              <a:spcBef>
                <a:spcPct val="0"/>
              </a:spcBef>
            </a:pPr>
            <a:r>
              <a:rPr lang="en-US" sz="1800">
                <a:solidFill>
                  <a:srgbClr val="4A4A4A"/>
                </a:solidFill>
                <a:latin typeface="True Typewriter"/>
                <a:ea typeface="True Typewriter"/>
                <a:cs typeface="True Typewriter"/>
                <a:sym typeface="True Typewriter"/>
              </a:rPr>
              <a:t>WWW.REALLYGREATSITE.COM</a:t>
            </a:r>
          </a:p>
        </p:txBody>
      </p:sp>
    </p:spTree>
  </p:cSld>
  <p:clrMapOvr>
    <a:masterClrMapping/>
  </p:clrMapOvr>
  <p:transition spd="med">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EF6"/>
        </a:solidFill>
      </p:bgPr>
    </p:bg>
    <p:spTree>
      <p:nvGrpSpPr>
        <p:cNvPr id="1" name=""/>
        <p:cNvGrpSpPr/>
        <p:nvPr/>
      </p:nvGrpSpPr>
      <p:grpSpPr>
        <a:xfrm>
          <a:off x="0" y="0"/>
          <a:ext cx="0" cy="0"/>
          <a:chOff x="0" y="0"/>
          <a:chExt cx="0" cy="0"/>
        </a:xfrm>
      </p:grpSpPr>
      <p:grpSp>
        <p:nvGrpSpPr>
          <p:cNvPr name="Group 2" id="2"/>
          <p:cNvGrpSpPr/>
          <p:nvPr/>
        </p:nvGrpSpPr>
        <p:grpSpPr>
          <a:xfrm rot="0">
            <a:off x="13198400" y="1879621"/>
            <a:ext cx="7043057" cy="6712914"/>
            <a:chOff x="0" y="0"/>
            <a:chExt cx="812800" cy="774700"/>
          </a:xfrm>
        </p:grpSpPr>
        <p:sp>
          <p:nvSpPr>
            <p:cNvPr name="Freeform 3" id="3"/>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4DC71">
                <a:alpha val="5882"/>
              </a:srgbClr>
            </a:solidFill>
          </p:spPr>
        </p:sp>
        <p:sp>
          <p:nvSpPr>
            <p:cNvPr name="TextBox 4" id="4"/>
            <p:cNvSpPr txBox="true"/>
            <p:nvPr/>
          </p:nvSpPr>
          <p:spPr>
            <a:xfrm>
              <a:off x="228600" y="190500"/>
              <a:ext cx="355600" cy="419100"/>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3737771" y="1028700"/>
            <a:ext cx="7043057" cy="6712914"/>
            <a:chOff x="0" y="0"/>
            <a:chExt cx="812800" cy="774700"/>
          </a:xfrm>
        </p:grpSpPr>
        <p:sp>
          <p:nvSpPr>
            <p:cNvPr name="Freeform 6" id="6"/>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63D40">
                <a:alpha val="5882"/>
              </a:srgbClr>
            </a:solidFill>
          </p:spPr>
        </p:sp>
        <p:sp>
          <p:nvSpPr>
            <p:cNvPr name="TextBox 7" id="7"/>
            <p:cNvSpPr txBox="true"/>
            <p:nvPr/>
          </p:nvSpPr>
          <p:spPr>
            <a:xfrm>
              <a:off x="228600" y="190500"/>
              <a:ext cx="355600" cy="419100"/>
            </a:xfrm>
            <a:prstGeom prst="rect">
              <a:avLst/>
            </a:prstGeom>
          </p:spPr>
          <p:txBody>
            <a:bodyPr anchor="ctr" rtlCol="false" tIns="50800" lIns="50800" bIns="50800" rIns="50800"/>
            <a:lstStyle/>
            <a:p>
              <a:pPr algn="ctr">
                <a:lnSpc>
                  <a:spcPts val="2520"/>
                </a:lnSpc>
              </a:pPr>
            </a:p>
          </p:txBody>
        </p:sp>
      </p:grpSp>
      <p:sp>
        <p:nvSpPr>
          <p:cNvPr name="Freeform 8" id="8"/>
          <p:cNvSpPr/>
          <p:nvPr/>
        </p:nvSpPr>
        <p:spPr>
          <a:xfrm flipH="false" flipV="false" rot="0">
            <a:off x="2330718" y="1264360"/>
            <a:ext cx="4731253" cy="7625929"/>
          </a:xfrm>
          <a:custGeom>
            <a:avLst/>
            <a:gdLst/>
            <a:ahLst/>
            <a:cxnLst/>
            <a:rect r="r" b="b" t="t" l="l"/>
            <a:pathLst>
              <a:path h="7625929" w="4731253">
                <a:moveTo>
                  <a:pt x="0" y="0"/>
                </a:moveTo>
                <a:lnTo>
                  <a:pt x="4731254" y="0"/>
                </a:lnTo>
                <a:lnTo>
                  <a:pt x="4731254" y="7625929"/>
                </a:lnTo>
                <a:lnTo>
                  <a:pt x="0" y="7625929"/>
                </a:lnTo>
                <a:lnTo>
                  <a:pt x="0" y="0"/>
                </a:lnTo>
                <a:close/>
              </a:path>
            </a:pathLst>
          </a:custGeom>
          <a:blipFill>
            <a:blip r:embed="rId2"/>
            <a:stretch>
              <a:fillRect l="0" t="0" r="0" b="0"/>
            </a:stretch>
          </a:blipFill>
          <a:ln cap="sq">
            <a:noFill/>
            <a:prstDash val="solid"/>
            <a:miter/>
          </a:ln>
        </p:spPr>
      </p:sp>
      <p:grpSp>
        <p:nvGrpSpPr>
          <p:cNvPr name="Group 9" id="9"/>
          <p:cNvGrpSpPr/>
          <p:nvPr/>
        </p:nvGrpSpPr>
        <p:grpSpPr>
          <a:xfrm rot="0">
            <a:off x="1028700" y="5576733"/>
            <a:ext cx="2563810" cy="3015803"/>
            <a:chOff x="0" y="0"/>
            <a:chExt cx="600361" cy="706203"/>
          </a:xfrm>
        </p:grpSpPr>
        <p:sp>
          <p:nvSpPr>
            <p:cNvPr name="Freeform 10" id="10"/>
            <p:cNvSpPr/>
            <p:nvPr/>
          </p:nvSpPr>
          <p:spPr>
            <a:xfrm flipH="false" flipV="false" rot="0">
              <a:off x="0" y="0"/>
              <a:ext cx="600361" cy="706203"/>
            </a:xfrm>
            <a:custGeom>
              <a:avLst/>
              <a:gdLst/>
              <a:ahLst/>
              <a:cxnLst/>
              <a:rect r="r" b="b" t="t" l="l"/>
              <a:pathLst>
                <a:path h="706203" w="600361">
                  <a:moveTo>
                    <a:pt x="0" y="0"/>
                  </a:moveTo>
                  <a:lnTo>
                    <a:pt x="600361" y="0"/>
                  </a:lnTo>
                  <a:lnTo>
                    <a:pt x="600361" y="706203"/>
                  </a:lnTo>
                  <a:lnTo>
                    <a:pt x="0" y="706203"/>
                  </a:lnTo>
                  <a:close/>
                </a:path>
              </a:pathLst>
            </a:custGeom>
            <a:solidFill>
              <a:srgbClr val="FFFEF6"/>
            </a:solidFill>
            <a:ln w="9525" cap="sq">
              <a:solidFill>
                <a:srgbClr val="B63D40"/>
              </a:solidFill>
              <a:prstDash val="solid"/>
              <a:miter/>
            </a:ln>
          </p:spPr>
        </p:sp>
        <p:sp>
          <p:nvSpPr>
            <p:cNvPr name="TextBox 11" id="11"/>
            <p:cNvSpPr txBox="true"/>
            <p:nvPr/>
          </p:nvSpPr>
          <p:spPr>
            <a:xfrm>
              <a:off x="0" y="-76200"/>
              <a:ext cx="600361" cy="782403"/>
            </a:xfrm>
            <a:prstGeom prst="rect">
              <a:avLst/>
            </a:prstGeom>
          </p:spPr>
          <p:txBody>
            <a:bodyPr anchor="ctr" rtlCol="false" tIns="50800" lIns="50800" bIns="50800" rIns="50800"/>
            <a:lstStyle/>
            <a:p>
              <a:pPr algn="ctr">
                <a:lnSpc>
                  <a:spcPts val="2520"/>
                </a:lnSpc>
              </a:pPr>
            </a:p>
          </p:txBody>
        </p:sp>
      </p:grpSp>
      <p:sp>
        <p:nvSpPr>
          <p:cNvPr name="TextBox 12" id="12"/>
          <p:cNvSpPr txBox="true"/>
          <p:nvPr/>
        </p:nvSpPr>
        <p:spPr>
          <a:xfrm rot="0">
            <a:off x="1384214" y="5150256"/>
            <a:ext cx="2002820" cy="3134936"/>
          </a:xfrm>
          <a:prstGeom prst="rect">
            <a:avLst/>
          </a:prstGeom>
        </p:spPr>
        <p:txBody>
          <a:bodyPr anchor="t" rtlCol="false" tIns="0" lIns="0" bIns="0" rIns="0">
            <a:spAutoFit/>
          </a:bodyPr>
          <a:lstStyle/>
          <a:p>
            <a:pPr algn="ctr">
              <a:lnSpc>
                <a:spcPts val="26015"/>
              </a:lnSpc>
              <a:spcBef>
                <a:spcPct val="0"/>
              </a:spcBef>
            </a:pPr>
            <a:r>
              <a:rPr lang="en-US" sz="18582">
                <a:solidFill>
                  <a:srgbClr val="B63336"/>
                </a:solidFill>
                <a:latin typeface="Barber FIll"/>
                <a:ea typeface="Barber FIll"/>
                <a:cs typeface="Barber FIll"/>
                <a:sym typeface="Barber FIll"/>
              </a:rPr>
              <a:t>2</a:t>
            </a:r>
          </a:p>
        </p:txBody>
      </p:sp>
      <p:sp>
        <p:nvSpPr>
          <p:cNvPr name="TextBox 13" id="13"/>
          <p:cNvSpPr txBox="true"/>
          <p:nvPr/>
        </p:nvSpPr>
        <p:spPr>
          <a:xfrm rot="0">
            <a:off x="1234175" y="5836983"/>
            <a:ext cx="2152860" cy="358775"/>
          </a:xfrm>
          <a:prstGeom prst="rect">
            <a:avLst/>
          </a:prstGeom>
        </p:spPr>
        <p:txBody>
          <a:bodyPr anchor="t" rtlCol="false" tIns="0" lIns="0" bIns="0" rIns="0">
            <a:spAutoFit/>
          </a:bodyPr>
          <a:lstStyle/>
          <a:p>
            <a:pPr algn="ctr">
              <a:lnSpc>
                <a:spcPts val="2800"/>
              </a:lnSpc>
              <a:spcBef>
                <a:spcPct val="0"/>
              </a:spcBef>
            </a:pPr>
            <a:r>
              <a:rPr lang="en-US" sz="2000">
                <a:solidFill>
                  <a:srgbClr val="B63336"/>
                </a:solidFill>
                <a:latin typeface="Barber FIll"/>
                <a:ea typeface="Barber FIll"/>
                <a:cs typeface="Barber FIll"/>
                <a:sym typeface="Barber FIll"/>
              </a:rPr>
              <a:t>THÁNG CHÍN</a:t>
            </a:r>
          </a:p>
        </p:txBody>
      </p:sp>
      <p:sp>
        <p:nvSpPr>
          <p:cNvPr name="TextBox 14" id="14"/>
          <p:cNvSpPr txBox="true"/>
          <p:nvPr/>
        </p:nvSpPr>
        <p:spPr>
          <a:xfrm rot="0">
            <a:off x="1384214" y="7865471"/>
            <a:ext cx="1852781" cy="358775"/>
          </a:xfrm>
          <a:prstGeom prst="rect">
            <a:avLst/>
          </a:prstGeom>
        </p:spPr>
        <p:txBody>
          <a:bodyPr anchor="t" rtlCol="false" tIns="0" lIns="0" bIns="0" rIns="0">
            <a:spAutoFit/>
          </a:bodyPr>
          <a:lstStyle/>
          <a:p>
            <a:pPr algn="ctr">
              <a:lnSpc>
                <a:spcPts val="2800"/>
              </a:lnSpc>
              <a:spcBef>
                <a:spcPct val="0"/>
              </a:spcBef>
            </a:pPr>
            <a:r>
              <a:rPr lang="en-US" sz="2000">
                <a:solidFill>
                  <a:srgbClr val="B63336"/>
                </a:solidFill>
                <a:latin typeface="Barber FIll"/>
                <a:ea typeface="Barber FIll"/>
                <a:cs typeface="Barber FIll"/>
                <a:sym typeface="Barber FIll"/>
              </a:rPr>
              <a:t>NĂM 1945</a:t>
            </a:r>
          </a:p>
        </p:txBody>
      </p:sp>
      <p:grpSp>
        <p:nvGrpSpPr>
          <p:cNvPr name="Group 15" id="15"/>
          <p:cNvGrpSpPr/>
          <p:nvPr/>
        </p:nvGrpSpPr>
        <p:grpSpPr>
          <a:xfrm rot="0">
            <a:off x="-46997" y="9258300"/>
            <a:ext cx="18381994" cy="1028700"/>
            <a:chOff x="0" y="0"/>
            <a:chExt cx="4841348" cy="270933"/>
          </a:xfrm>
        </p:grpSpPr>
        <p:sp>
          <p:nvSpPr>
            <p:cNvPr name="Freeform 16" id="16"/>
            <p:cNvSpPr/>
            <p:nvPr/>
          </p:nvSpPr>
          <p:spPr>
            <a:xfrm flipH="false" flipV="false" rot="0">
              <a:off x="0" y="0"/>
              <a:ext cx="4841348" cy="270933"/>
            </a:xfrm>
            <a:custGeom>
              <a:avLst/>
              <a:gdLst/>
              <a:ahLst/>
              <a:cxnLst/>
              <a:rect r="r" b="b" t="t" l="l"/>
              <a:pathLst>
                <a:path h="270933" w="4841348">
                  <a:moveTo>
                    <a:pt x="0" y="0"/>
                  </a:moveTo>
                  <a:lnTo>
                    <a:pt x="4841348" y="0"/>
                  </a:lnTo>
                  <a:lnTo>
                    <a:pt x="4841348" y="270933"/>
                  </a:lnTo>
                  <a:lnTo>
                    <a:pt x="0" y="270933"/>
                  </a:lnTo>
                  <a:close/>
                </a:path>
              </a:pathLst>
            </a:custGeom>
            <a:solidFill>
              <a:srgbClr val="B63D40"/>
            </a:solidFill>
          </p:spPr>
        </p:sp>
        <p:sp>
          <p:nvSpPr>
            <p:cNvPr name="TextBox 17" id="17"/>
            <p:cNvSpPr txBox="true"/>
            <p:nvPr/>
          </p:nvSpPr>
          <p:spPr>
            <a:xfrm>
              <a:off x="0" y="-76200"/>
              <a:ext cx="4841348" cy="347133"/>
            </a:xfrm>
            <a:prstGeom prst="rect">
              <a:avLst/>
            </a:prstGeom>
          </p:spPr>
          <p:txBody>
            <a:bodyPr anchor="ctr" rtlCol="false" tIns="50800" lIns="50800" bIns="50800" rIns="50800"/>
            <a:lstStyle/>
            <a:p>
              <a:pPr algn="ctr">
                <a:lnSpc>
                  <a:spcPts val="2520"/>
                </a:lnSpc>
              </a:pPr>
            </a:p>
          </p:txBody>
        </p:sp>
      </p:grpSp>
      <p:sp>
        <p:nvSpPr>
          <p:cNvPr name="Freeform 18" id="18"/>
          <p:cNvSpPr/>
          <p:nvPr/>
        </p:nvSpPr>
        <p:spPr>
          <a:xfrm flipH="true" flipV="false" rot="0">
            <a:off x="5623693" y="6044946"/>
            <a:ext cx="3147089" cy="5325843"/>
          </a:xfrm>
          <a:custGeom>
            <a:avLst/>
            <a:gdLst/>
            <a:ahLst/>
            <a:cxnLst/>
            <a:rect r="r" b="b" t="t" l="l"/>
            <a:pathLst>
              <a:path h="5325843" w="3147089">
                <a:moveTo>
                  <a:pt x="3147089" y="0"/>
                </a:moveTo>
                <a:lnTo>
                  <a:pt x="0" y="0"/>
                </a:lnTo>
                <a:lnTo>
                  <a:pt x="0" y="5325843"/>
                </a:lnTo>
                <a:lnTo>
                  <a:pt x="3147089" y="5325843"/>
                </a:lnTo>
                <a:lnTo>
                  <a:pt x="3147089"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11009157" y="4111572"/>
            <a:ext cx="5710771" cy="3787140"/>
          </a:xfrm>
          <a:prstGeom prst="rect">
            <a:avLst/>
          </a:prstGeom>
        </p:spPr>
        <p:txBody>
          <a:bodyPr anchor="t" rtlCol="false" tIns="0" lIns="0" bIns="0" rIns="0">
            <a:spAutoFit/>
          </a:bodyPr>
          <a:lstStyle/>
          <a:p>
            <a:pPr algn="r">
              <a:lnSpc>
                <a:spcPts val="3359"/>
              </a:lnSpc>
            </a:pPr>
            <a:r>
              <a:rPr lang="en-US" sz="2399" spc="71">
                <a:solidFill>
                  <a:srgbClr val="4A4A4A"/>
                </a:solidFill>
                <a:latin typeface="True Typewriter"/>
                <a:ea typeface="True Typewriter"/>
                <a:cs typeface="True Typewriter"/>
                <a:sym typeface="True Typewriter"/>
              </a:rPr>
              <a:t>Sự kiện</a:t>
            </a:r>
            <a:r>
              <a:rPr lang="en-US" sz="2399" spc="71">
                <a:solidFill>
                  <a:srgbClr val="4A4A4A"/>
                </a:solidFill>
                <a:latin typeface="True Typewriter"/>
                <a:ea typeface="True Typewriter"/>
                <a:cs typeface="True Typewriter"/>
                <a:sym typeface="True Typewriter"/>
              </a:rPr>
              <a:t> năm 1945 thành công đã đánh dấu một kỷ nguyên mới cho dân tộc Việt Nam. Vào ngày 02/09/1945, tại Quảng trường Ba Đình lịch sử, Chủ tịch Hồ Chí Minh đã thay mặt cả nước đọc bản Tuyên ngôn Độc lập. Trước hàng vạn đồng bào tham gia, Người khẳng định chủ quyền của nước Việt Nam và ý chí giữ vững nền tự do của toàn dân tộc.</a:t>
            </a:r>
          </a:p>
        </p:txBody>
      </p:sp>
      <p:sp>
        <p:nvSpPr>
          <p:cNvPr name="TextBox 20" id="20"/>
          <p:cNvSpPr txBox="true"/>
          <p:nvPr/>
        </p:nvSpPr>
        <p:spPr>
          <a:xfrm rot="0">
            <a:off x="8219046" y="1429002"/>
            <a:ext cx="8500882" cy="1642110"/>
          </a:xfrm>
          <a:prstGeom prst="rect">
            <a:avLst/>
          </a:prstGeom>
        </p:spPr>
        <p:txBody>
          <a:bodyPr anchor="t" rtlCol="false" tIns="0" lIns="0" bIns="0" rIns="0">
            <a:spAutoFit/>
          </a:bodyPr>
          <a:lstStyle/>
          <a:p>
            <a:pPr algn="r">
              <a:lnSpc>
                <a:spcPts val="13439"/>
              </a:lnSpc>
            </a:pPr>
            <a:r>
              <a:rPr lang="en-US" sz="9600" spc="-1344">
                <a:solidFill>
                  <a:srgbClr val="B63336"/>
                </a:solidFill>
                <a:latin typeface="Barber FIll"/>
                <a:ea typeface="Barber FIll"/>
                <a:cs typeface="Barber FIll"/>
                <a:sym typeface="Barber FIll"/>
              </a:rPr>
              <a:t>SỰ RA ĐỜI</a:t>
            </a:r>
          </a:p>
        </p:txBody>
      </p:sp>
      <p:sp>
        <p:nvSpPr>
          <p:cNvPr name="TextBox 21" id="21"/>
          <p:cNvSpPr txBox="true"/>
          <p:nvPr/>
        </p:nvSpPr>
        <p:spPr>
          <a:xfrm rot="0">
            <a:off x="8219046" y="2994912"/>
            <a:ext cx="8500882" cy="622935"/>
          </a:xfrm>
          <a:prstGeom prst="rect">
            <a:avLst/>
          </a:prstGeom>
        </p:spPr>
        <p:txBody>
          <a:bodyPr anchor="t" rtlCol="false" tIns="0" lIns="0" bIns="0" rIns="0">
            <a:spAutoFit/>
          </a:bodyPr>
          <a:lstStyle/>
          <a:p>
            <a:pPr algn="r">
              <a:lnSpc>
                <a:spcPts val="5040"/>
              </a:lnSpc>
            </a:pPr>
            <a:r>
              <a:rPr lang="en-US" sz="3600" spc="-504">
                <a:solidFill>
                  <a:srgbClr val="4A4A4A"/>
                </a:solidFill>
                <a:latin typeface="Barber FIll"/>
                <a:ea typeface="Barber FIll"/>
                <a:cs typeface="Barber FIll"/>
                <a:sym typeface="Barber FIll"/>
              </a:rPr>
              <a:t>NƯỚ</a:t>
            </a:r>
            <a:r>
              <a:rPr lang="en-US" sz="3600" spc="-504">
                <a:solidFill>
                  <a:srgbClr val="4A4A4A"/>
                </a:solidFill>
                <a:latin typeface="Barber FIll"/>
                <a:ea typeface="Barber FIll"/>
                <a:cs typeface="Barber FIll"/>
                <a:sym typeface="Barber FIll"/>
              </a:rPr>
              <a:t>C VIỆT NAM DÂN CHỦ CỘNG HÒA</a:t>
            </a:r>
          </a:p>
        </p:txBody>
      </p:sp>
      <p:sp>
        <p:nvSpPr>
          <p:cNvPr name="TextBox 22" id="22"/>
          <p:cNvSpPr txBox="true"/>
          <p:nvPr/>
        </p:nvSpPr>
        <p:spPr>
          <a:xfrm rot="0">
            <a:off x="7114736" y="9545519"/>
            <a:ext cx="4312484" cy="344805"/>
          </a:xfrm>
          <a:prstGeom prst="rect">
            <a:avLst/>
          </a:prstGeom>
        </p:spPr>
        <p:txBody>
          <a:bodyPr anchor="t" rtlCol="false" tIns="0" lIns="0" bIns="0" rIns="0">
            <a:spAutoFit/>
          </a:bodyPr>
          <a:lstStyle/>
          <a:p>
            <a:pPr algn="ctr" marL="0" indent="0" lvl="0">
              <a:lnSpc>
                <a:spcPts val="2520"/>
              </a:lnSpc>
              <a:spcBef>
                <a:spcPct val="0"/>
              </a:spcBef>
            </a:pPr>
            <a:r>
              <a:rPr lang="en-US" sz="1800">
                <a:solidFill>
                  <a:srgbClr val="FFFEF6"/>
                </a:solidFill>
                <a:latin typeface="True Typewriter"/>
                <a:ea typeface="True Typewriter"/>
                <a:cs typeface="True Typewriter"/>
                <a:sym typeface="True Typewriter"/>
              </a:rPr>
              <a:t>CUỘ</a:t>
            </a:r>
            <a:r>
              <a:rPr lang="en-US" sz="1800" strike="noStrike" u="none">
                <a:solidFill>
                  <a:srgbClr val="FFFEF6"/>
                </a:solidFill>
                <a:latin typeface="True Typewriter"/>
                <a:ea typeface="True Typewriter"/>
                <a:cs typeface="True Typewriter"/>
                <a:sym typeface="True Typewriter"/>
              </a:rPr>
              <a:t>C ĐỜI VÀ SỰ NGHIỆP CHỦ TỊCH HỒ CHÍ MINH </a:t>
            </a:r>
          </a:p>
        </p:txBody>
      </p:sp>
      <p:sp>
        <p:nvSpPr>
          <p:cNvPr name="TextBox 23" id="23"/>
          <p:cNvSpPr txBox="true"/>
          <p:nvPr/>
        </p:nvSpPr>
        <p:spPr>
          <a:xfrm rot="0">
            <a:off x="1548496" y="9545519"/>
            <a:ext cx="2887222" cy="344805"/>
          </a:xfrm>
          <a:prstGeom prst="rect">
            <a:avLst/>
          </a:prstGeom>
        </p:spPr>
        <p:txBody>
          <a:bodyPr anchor="t" rtlCol="false" tIns="0" lIns="0" bIns="0" rIns="0">
            <a:spAutoFit/>
          </a:bodyPr>
          <a:lstStyle/>
          <a:p>
            <a:pPr algn="l">
              <a:lnSpc>
                <a:spcPts val="2520"/>
              </a:lnSpc>
              <a:spcBef>
                <a:spcPct val="0"/>
              </a:spcBef>
            </a:pPr>
            <a:r>
              <a:rPr lang="en-US" sz="1800">
                <a:solidFill>
                  <a:srgbClr val="FFFEF6"/>
                </a:solidFill>
                <a:latin typeface="True Typewriter"/>
                <a:ea typeface="True Typewriter"/>
                <a:cs typeface="True Typewriter"/>
                <a:sym typeface="True Typewriter"/>
              </a:rPr>
              <a:t>GIÁO VIÊN THỰC HIỆN: NGUYỄN HƯƠNG LY</a:t>
            </a:r>
          </a:p>
        </p:txBody>
      </p:sp>
      <p:sp>
        <p:nvSpPr>
          <p:cNvPr name="TextBox 24" id="24"/>
          <p:cNvSpPr txBox="true"/>
          <p:nvPr/>
        </p:nvSpPr>
        <p:spPr>
          <a:xfrm rot="0">
            <a:off x="14086662" y="9545519"/>
            <a:ext cx="2633266" cy="344805"/>
          </a:xfrm>
          <a:prstGeom prst="rect">
            <a:avLst/>
          </a:prstGeom>
        </p:spPr>
        <p:txBody>
          <a:bodyPr anchor="t" rtlCol="false" tIns="0" lIns="0" bIns="0" rIns="0">
            <a:spAutoFit/>
          </a:bodyPr>
          <a:lstStyle/>
          <a:p>
            <a:pPr algn="r">
              <a:lnSpc>
                <a:spcPts val="2520"/>
              </a:lnSpc>
              <a:spcBef>
                <a:spcPct val="0"/>
              </a:spcBef>
            </a:pPr>
            <a:r>
              <a:rPr lang="en-US" sz="1800">
                <a:solidFill>
                  <a:srgbClr val="FFFEF6"/>
                </a:solidFill>
                <a:latin typeface="True Typewriter"/>
                <a:ea typeface="True Typewriter"/>
                <a:cs typeface="True Typewriter"/>
                <a:sym typeface="True Typewriter"/>
              </a:rPr>
              <a:t>WWW.REALLYGREATSITE.COM</a:t>
            </a:r>
          </a:p>
        </p:txBody>
      </p:sp>
    </p:spTree>
  </p:cSld>
  <p:clrMapOvr>
    <a:masterClrMapping/>
  </p:clrMapOvr>
  <p:transition spd="med">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EF6"/>
        </a:solidFill>
      </p:bgPr>
    </p:bg>
    <p:spTree>
      <p:nvGrpSpPr>
        <p:cNvPr id="1" name=""/>
        <p:cNvGrpSpPr/>
        <p:nvPr/>
      </p:nvGrpSpPr>
      <p:grpSpPr>
        <a:xfrm>
          <a:off x="0" y="0"/>
          <a:ext cx="0" cy="0"/>
          <a:chOff x="0" y="0"/>
          <a:chExt cx="0" cy="0"/>
        </a:xfrm>
      </p:grpSpPr>
      <p:grpSp>
        <p:nvGrpSpPr>
          <p:cNvPr name="Group 2" id="2"/>
          <p:cNvGrpSpPr/>
          <p:nvPr/>
        </p:nvGrpSpPr>
        <p:grpSpPr>
          <a:xfrm rot="0">
            <a:off x="129701" y="0"/>
            <a:ext cx="18282554" cy="1163650"/>
            <a:chOff x="0" y="0"/>
            <a:chExt cx="4815158" cy="306476"/>
          </a:xfrm>
        </p:grpSpPr>
        <p:sp>
          <p:nvSpPr>
            <p:cNvPr name="Freeform 3" id="3"/>
            <p:cNvSpPr/>
            <p:nvPr/>
          </p:nvSpPr>
          <p:spPr>
            <a:xfrm flipH="false" flipV="false" rot="0">
              <a:off x="0" y="0"/>
              <a:ext cx="4815158" cy="306476"/>
            </a:xfrm>
            <a:custGeom>
              <a:avLst/>
              <a:gdLst/>
              <a:ahLst/>
              <a:cxnLst/>
              <a:rect r="r" b="b" t="t" l="l"/>
              <a:pathLst>
                <a:path h="306476" w="4815158">
                  <a:moveTo>
                    <a:pt x="0" y="0"/>
                  </a:moveTo>
                  <a:lnTo>
                    <a:pt x="4815158" y="0"/>
                  </a:lnTo>
                  <a:lnTo>
                    <a:pt x="4815158" y="306476"/>
                  </a:lnTo>
                  <a:lnTo>
                    <a:pt x="0" y="306476"/>
                  </a:lnTo>
                  <a:close/>
                </a:path>
              </a:pathLst>
            </a:custGeom>
            <a:solidFill>
              <a:srgbClr val="B63D40"/>
            </a:solidFill>
          </p:spPr>
        </p:sp>
        <p:sp>
          <p:nvSpPr>
            <p:cNvPr name="TextBox 4" id="4"/>
            <p:cNvSpPr txBox="true"/>
            <p:nvPr/>
          </p:nvSpPr>
          <p:spPr>
            <a:xfrm>
              <a:off x="0" y="-76200"/>
              <a:ext cx="4815158" cy="382676"/>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true" flipV="false" rot="0">
            <a:off x="7950785" y="1028700"/>
            <a:ext cx="10461470" cy="7266808"/>
          </a:xfrm>
          <a:custGeom>
            <a:avLst/>
            <a:gdLst/>
            <a:ahLst/>
            <a:cxnLst/>
            <a:rect r="r" b="b" t="t" l="l"/>
            <a:pathLst>
              <a:path h="7266808" w="10461470">
                <a:moveTo>
                  <a:pt x="10461470" y="0"/>
                </a:moveTo>
                <a:lnTo>
                  <a:pt x="0" y="0"/>
                </a:lnTo>
                <a:lnTo>
                  <a:pt x="0" y="7266808"/>
                </a:lnTo>
                <a:lnTo>
                  <a:pt x="10461470" y="7266808"/>
                </a:lnTo>
                <a:lnTo>
                  <a:pt x="10461470" y="0"/>
                </a:lnTo>
                <a:close/>
              </a:path>
            </a:pathLst>
          </a:custGeom>
          <a:blipFill>
            <a:blip r:embed="rId2"/>
            <a:stretch>
              <a:fillRect l="0" t="0" r="-1132" b="-593"/>
            </a:stretch>
          </a:blipFill>
          <a:ln cap="sq">
            <a:noFill/>
            <a:prstDash val="solid"/>
            <a:miter/>
          </a:ln>
        </p:spPr>
      </p:sp>
      <p:grpSp>
        <p:nvGrpSpPr>
          <p:cNvPr name="Group 6" id="6"/>
          <p:cNvGrpSpPr/>
          <p:nvPr/>
        </p:nvGrpSpPr>
        <p:grpSpPr>
          <a:xfrm rot="0">
            <a:off x="-2788517" y="-1087156"/>
            <a:ext cx="14030214" cy="6934550"/>
            <a:chOff x="0" y="0"/>
            <a:chExt cx="3187193" cy="1575297"/>
          </a:xfrm>
        </p:grpSpPr>
        <p:sp>
          <p:nvSpPr>
            <p:cNvPr name="Freeform 7" id="7"/>
            <p:cNvSpPr/>
            <p:nvPr/>
          </p:nvSpPr>
          <p:spPr>
            <a:xfrm flipH="false" flipV="false" rot="0">
              <a:off x="0" y="0"/>
              <a:ext cx="3187193" cy="1575297"/>
            </a:xfrm>
            <a:custGeom>
              <a:avLst/>
              <a:gdLst/>
              <a:ahLst/>
              <a:cxnLst/>
              <a:rect r="r" b="b" t="t" l="l"/>
              <a:pathLst>
                <a:path h="1575297" w="3187193">
                  <a:moveTo>
                    <a:pt x="1593597" y="0"/>
                  </a:moveTo>
                  <a:cubicBezTo>
                    <a:pt x="713478" y="0"/>
                    <a:pt x="0" y="352642"/>
                    <a:pt x="0" y="787648"/>
                  </a:cubicBezTo>
                  <a:cubicBezTo>
                    <a:pt x="0" y="1222655"/>
                    <a:pt x="713478" y="1575297"/>
                    <a:pt x="1593597" y="1575297"/>
                  </a:cubicBezTo>
                  <a:cubicBezTo>
                    <a:pt x="2473716" y="1575297"/>
                    <a:pt x="3187193" y="1222655"/>
                    <a:pt x="3187193" y="787648"/>
                  </a:cubicBezTo>
                  <a:cubicBezTo>
                    <a:pt x="3187193" y="352642"/>
                    <a:pt x="2473716" y="0"/>
                    <a:pt x="1593597" y="0"/>
                  </a:cubicBezTo>
                  <a:close/>
                </a:path>
              </a:pathLst>
            </a:custGeom>
            <a:solidFill>
              <a:srgbClr val="FFFEF6"/>
            </a:solidFill>
          </p:spPr>
        </p:sp>
        <p:sp>
          <p:nvSpPr>
            <p:cNvPr name="TextBox 8" id="8"/>
            <p:cNvSpPr txBox="true"/>
            <p:nvPr/>
          </p:nvSpPr>
          <p:spPr>
            <a:xfrm>
              <a:off x="298799" y="71484"/>
              <a:ext cx="2589594" cy="1356129"/>
            </a:xfrm>
            <a:prstGeom prst="rect">
              <a:avLst/>
            </a:prstGeom>
          </p:spPr>
          <p:txBody>
            <a:bodyPr anchor="ctr" rtlCol="false" tIns="50800" lIns="50800" bIns="50800" rIns="50800"/>
            <a:lstStyle/>
            <a:p>
              <a:pPr algn="ctr">
                <a:lnSpc>
                  <a:spcPts val="2520"/>
                </a:lnSpc>
              </a:pPr>
            </a:p>
          </p:txBody>
        </p:sp>
      </p:grpSp>
      <p:grpSp>
        <p:nvGrpSpPr>
          <p:cNvPr name="Group 9" id="9"/>
          <p:cNvGrpSpPr/>
          <p:nvPr/>
        </p:nvGrpSpPr>
        <p:grpSpPr>
          <a:xfrm rot="0">
            <a:off x="-46997" y="9258300"/>
            <a:ext cx="18381994" cy="1028700"/>
            <a:chOff x="0" y="0"/>
            <a:chExt cx="4841348" cy="270933"/>
          </a:xfrm>
        </p:grpSpPr>
        <p:sp>
          <p:nvSpPr>
            <p:cNvPr name="Freeform 10" id="10"/>
            <p:cNvSpPr/>
            <p:nvPr/>
          </p:nvSpPr>
          <p:spPr>
            <a:xfrm flipH="false" flipV="false" rot="0">
              <a:off x="0" y="0"/>
              <a:ext cx="4841348" cy="270933"/>
            </a:xfrm>
            <a:custGeom>
              <a:avLst/>
              <a:gdLst/>
              <a:ahLst/>
              <a:cxnLst/>
              <a:rect r="r" b="b" t="t" l="l"/>
              <a:pathLst>
                <a:path h="270933" w="4841348">
                  <a:moveTo>
                    <a:pt x="0" y="0"/>
                  </a:moveTo>
                  <a:lnTo>
                    <a:pt x="4841348" y="0"/>
                  </a:lnTo>
                  <a:lnTo>
                    <a:pt x="4841348" y="270933"/>
                  </a:lnTo>
                  <a:lnTo>
                    <a:pt x="0" y="270933"/>
                  </a:lnTo>
                  <a:close/>
                </a:path>
              </a:pathLst>
            </a:custGeom>
            <a:solidFill>
              <a:srgbClr val="B63D40"/>
            </a:solidFill>
          </p:spPr>
        </p:sp>
        <p:sp>
          <p:nvSpPr>
            <p:cNvPr name="TextBox 11" id="11"/>
            <p:cNvSpPr txBox="true"/>
            <p:nvPr/>
          </p:nvSpPr>
          <p:spPr>
            <a:xfrm>
              <a:off x="0" y="-76200"/>
              <a:ext cx="4841348" cy="347133"/>
            </a:xfrm>
            <a:prstGeom prst="rect">
              <a:avLst/>
            </a:prstGeom>
          </p:spPr>
          <p:txBody>
            <a:bodyPr anchor="ctr" rtlCol="false" tIns="50800" lIns="50800" bIns="50800" rIns="50800"/>
            <a:lstStyle/>
            <a:p>
              <a:pPr algn="ctr">
                <a:lnSpc>
                  <a:spcPts val="2520"/>
                </a:lnSpc>
              </a:pPr>
            </a:p>
          </p:txBody>
        </p:sp>
      </p:grpSp>
      <p:grpSp>
        <p:nvGrpSpPr>
          <p:cNvPr name="Group 12" id="12"/>
          <p:cNvGrpSpPr/>
          <p:nvPr/>
        </p:nvGrpSpPr>
        <p:grpSpPr>
          <a:xfrm rot="0">
            <a:off x="-2492829" y="1028700"/>
            <a:ext cx="7043057" cy="6712914"/>
            <a:chOff x="0" y="0"/>
            <a:chExt cx="812800" cy="774700"/>
          </a:xfrm>
        </p:grpSpPr>
        <p:sp>
          <p:nvSpPr>
            <p:cNvPr name="Freeform 13" id="13"/>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63D40">
                <a:alpha val="5882"/>
              </a:srgbClr>
            </a:solidFill>
          </p:spPr>
        </p:sp>
        <p:sp>
          <p:nvSpPr>
            <p:cNvPr name="TextBox 14" id="14"/>
            <p:cNvSpPr txBox="true"/>
            <p:nvPr/>
          </p:nvSpPr>
          <p:spPr>
            <a:xfrm>
              <a:off x="228600" y="190500"/>
              <a:ext cx="355600" cy="419100"/>
            </a:xfrm>
            <a:prstGeom prst="rect">
              <a:avLst/>
            </a:prstGeom>
          </p:spPr>
          <p:txBody>
            <a:bodyPr anchor="ctr" rtlCol="false" tIns="50800" lIns="50800" bIns="50800" rIns="50800"/>
            <a:lstStyle/>
            <a:p>
              <a:pPr algn="ctr">
                <a:lnSpc>
                  <a:spcPts val="2520"/>
                </a:lnSpc>
              </a:pPr>
            </a:p>
          </p:txBody>
        </p:sp>
      </p:grpSp>
      <p:sp>
        <p:nvSpPr>
          <p:cNvPr name="TextBox 15" id="15"/>
          <p:cNvSpPr txBox="true"/>
          <p:nvPr/>
        </p:nvSpPr>
        <p:spPr>
          <a:xfrm rot="0">
            <a:off x="7114736" y="9545519"/>
            <a:ext cx="4312484" cy="344805"/>
          </a:xfrm>
          <a:prstGeom prst="rect">
            <a:avLst/>
          </a:prstGeom>
        </p:spPr>
        <p:txBody>
          <a:bodyPr anchor="t" rtlCol="false" tIns="0" lIns="0" bIns="0" rIns="0">
            <a:spAutoFit/>
          </a:bodyPr>
          <a:lstStyle/>
          <a:p>
            <a:pPr algn="ctr" marL="0" indent="0" lvl="0">
              <a:lnSpc>
                <a:spcPts val="2520"/>
              </a:lnSpc>
              <a:spcBef>
                <a:spcPct val="0"/>
              </a:spcBef>
            </a:pPr>
            <a:r>
              <a:rPr lang="en-US" sz="1800">
                <a:solidFill>
                  <a:srgbClr val="FFFEF6"/>
                </a:solidFill>
                <a:latin typeface="True Typewriter"/>
                <a:ea typeface="True Typewriter"/>
                <a:cs typeface="True Typewriter"/>
                <a:sym typeface="True Typewriter"/>
              </a:rPr>
              <a:t>CUỘ</a:t>
            </a:r>
            <a:r>
              <a:rPr lang="en-US" sz="1800" strike="noStrike" u="none">
                <a:solidFill>
                  <a:srgbClr val="FFFEF6"/>
                </a:solidFill>
                <a:latin typeface="True Typewriter"/>
                <a:ea typeface="True Typewriter"/>
                <a:cs typeface="True Typewriter"/>
                <a:sym typeface="True Typewriter"/>
              </a:rPr>
              <a:t>C ĐỜI VÀ SỰ NGHIỆP CHỦ TỊCH HỒ CHÍ MINH </a:t>
            </a:r>
          </a:p>
        </p:txBody>
      </p:sp>
      <p:sp>
        <p:nvSpPr>
          <p:cNvPr name="TextBox 16" id="16"/>
          <p:cNvSpPr txBox="true"/>
          <p:nvPr/>
        </p:nvSpPr>
        <p:spPr>
          <a:xfrm rot="0">
            <a:off x="1548496" y="9545519"/>
            <a:ext cx="2887222" cy="344805"/>
          </a:xfrm>
          <a:prstGeom prst="rect">
            <a:avLst/>
          </a:prstGeom>
        </p:spPr>
        <p:txBody>
          <a:bodyPr anchor="t" rtlCol="false" tIns="0" lIns="0" bIns="0" rIns="0">
            <a:spAutoFit/>
          </a:bodyPr>
          <a:lstStyle/>
          <a:p>
            <a:pPr algn="l">
              <a:lnSpc>
                <a:spcPts val="2520"/>
              </a:lnSpc>
              <a:spcBef>
                <a:spcPct val="0"/>
              </a:spcBef>
            </a:pPr>
            <a:r>
              <a:rPr lang="en-US" sz="1800">
                <a:solidFill>
                  <a:srgbClr val="FFFEF6"/>
                </a:solidFill>
                <a:latin typeface="True Typewriter"/>
                <a:ea typeface="True Typewriter"/>
                <a:cs typeface="True Typewriter"/>
                <a:sym typeface="True Typewriter"/>
              </a:rPr>
              <a:t>GIÁO VIÊN THỰC HIỆN: NGUYỄN HƯƠNG LY</a:t>
            </a:r>
          </a:p>
        </p:txBody>
      </p:sp>
      <p:sp>
        <p:nvSpPr>
          <p:cNvPr name="TextBox 17" id="17"/>
          <p:cNvSpPr txBox="true"/>
          <p:nvPr/>
        </p:nvSpPr>
        <p:spPr>
          <a:xfrm rot="0">
            <a:off x="14086662" y="9545519"/>
            <a:ext cx="2633266" cy="344805"/>
          </a:xfrm>
          <a:prstGeom prst="rect">
            <a:avLst/>
          </a:prstGeom>
        </p:spPr>
        <p:txBody>
          <a:bodyPr anchor="t" rtlCol="false" tIns="0" lIns="0" bIns="0" rIns="0">
            <a:spAutoFit/>
          </a:bodyPr>
          <a:lstStyle/>
          <a:p>
            <a:pPr algn="r">
              <a:lnSpc>
                <a:spcPts val="2520"/>
              </a:lnSpc>
              <a:spcBef>
                <a:spcPct val="0"/>
              </a:spcBef>
            </a:pPr>
            <a:r>
              <a:rPr lang="en-US" sz="1800">
                <a:solidFill>
                  <a:srgbClr val="FFFEF6"/>
                </a:solidFill>
                <a:latin typeface="True Typewriter"/>
                <a:ea typeface="True Typewriter"/>
                <a:cs typeface="True Typewriter"/>
                <a:sym typeface="True Typewriter"/>
              </a:rPr>
              <a:t>WWW.REALLYGREATSITE.COM</a:t>
            </a:r>
          </a:p>
        </p:txBody>
      </p:sp>
      <p:grpSp>
        <p:nvGrpSpPr>
          <p:cNvPr name="Group 18" id="18"/>
          <p:cNvGrpSpPr/>
          <p:nvPr/>
        </p:nvGrpSpPr>
        <p:grpSpPr>
          <a:xfrm rot="0">
            <a:off x="1548496" y="6009320"/>
            <a:ext cx="6148659" cy="1889392"/>
            <a:chOff x="0" y="0"/>
            <a:chExt cx="1619400" cy="497618"/>
          </a:xfrm>
        </p:grpSpPr>
        <p:sp>
          <p:nvSpPr>
            <p:cNvPr name="Freeform 19" id="19"/>
            <p:cNvSpPr/>
            <p:nvPr/>
          </p:nvSpPr>
          <p:spPr>
            <a:xfrm flipH="false" flipV="false" rot="0">
              <a:off x="0" y="0"/>
              <a:ext cx="1619400" cy="497618"/>
            </a:xfrm>
            <a:custGeom>
              <a:avLst/>
              <a:gdLst/>
              <a:ahLst/>
              <a:cxnLst/>
              <a:rect r="r" b="b" t="t" l="l"/>
              <a:pathLst>
                <a:path h="497618" w="1619400">
                  <a:moveTo>
                    <a:pt x="0" y="0"/>
                  </a:moveTo>
                  <a:lnTo>
                    <a:pt x="1619400" y="0"/>
                  </a:lnTo>
                  <a:lnTo>
                    <a:pt x="1619400" y="497618"/>
                  </a:lnTo>
                  <a:lnTo>
                    <a:pt x="0" y="497618"/>
                  </a:lnTo>
                  <a:close/>
                </a:path>
              </a:pathLst>
            </a:custGeom>
            <a:solidFill>
              <a:srgbClr val="FFFEF6"/>
            </a:solidFill>
            <a:ln w="28575" cap="sq">
              <a:solidFill>
                <a:srgbClr val="B63336"/>
              </a:solidFill>
              <a:prstDash val="solid"/>
              <a:miter/>
            </a:ln>
          </p:spPr>
        </p:sp>
        <p:sp>
          <p:nvSpPr>
            <p:cNvPr name="TextBox 20" id="20"/>
            <p:cNvSpPr txBox="true"/>
            <p:nvPr/>
          </p:nvSpPr>
          <p:spPr>
            <a:xfrm>
              <a:off x="0" y="-76200"/>
              <a:ext cx="1619400" cy="573818"/>
            </a:xfrm>
            <a:prstGeom prst="rect">
              <a:avLst/>
            </a:prstGeom>
          </p:spPr>
          <p:txBody>
            <a:bodyPr anchor="ctr" rtlCol="false" tIns="50800" lIns="50800" bIns="50800" rIns="50800"/>
            <a:lstStyle/>
            <a:p>
              <a:pPr algn="ctr">
                <a:lnSpc>
                  <a:spcPts val="2520"/>
                </a:lnSpc>
              </a:pPr>
            </a:p>
          </p:txBody>
        </p:sp>
      </p:grpSp>
      <p:grpSp>
        <p:nvGrpSpPr>
          <p:cNvPr name="Group 21" id="21"/>
          <p:cNvGrpSpPr/>
          <p:nvPr/>
        </p:nvGrpSpPr>
        <p:grpSpPr>
          <a:xfrm rot="0">
            <a:off x="1548496" y="3898942"/>
            <a:ext cx="6148659" cy="1889392"/>
            <a:chOff x="0" y="0"/>
            <a:chExt cx="1619400" cy="497618"/>
          </a:xfrm>
        </p:grpSpPr>
        <p:sp>
          <p:nvSpPr>
            <p:cNvPr name="Freeform 22" id="22"/>
            <p:cNvSpPr/>
            <p:nvPr/>
          </p:nvSpPr>
          <p:spPr>
            <a:xfrm flipH="false" flipV="false" rot="0">
              <a:off x="0" y="0"/>
              <a:ext cx="1619400" cy="497618"/>
            </a:xfrm>
            <a:custGeom>
              <a:avLst/>
              <a:gdLst/>
              <a:ahLst/>
              <a:cxnLst/>
              <a:rect r="r" b="b" t="t" l="l"/>
              <a:pathLst>
                <a:path h="497618" w="1619400">
                  <a:moveTo>
                    <a:pt x="0" y="0"/>
                  </a:moveTo>
                  <a:lnTo>
                    <a:pt x="1619400" y="0"/>
                  </a:lnTo>
                  <a:lnTo>
                    <a:pt x="1619400" y="497618"/>
                  </a:lnTo>
                  <a:lnTo>
                    <a:pt x="0" y="497618"/>
                  </a:lnTo>
                  <a:close/>
                </a:path>
              </a:pathLst>
            </a:custGeom>
            <a:solidFill>
              <a:srgbClr val="FFFEF6"/>
            </a:solidFill>
            <a:ln w="28575" cap="sq">
              <a:solidFill>
                <a:srgbClr val="B63336"/>
              </a:solidFill>
              <a:prstDash val="solid"/>
              <a:miter/>
            </a:ln>
          </p:spPr>
        </p:sp>
        <p:sp>
          <p:nvSpPr>
            <p:cNvPr name="TextBox 23" id="23"/>
            <p:cNvSpPr txBox="true"/>
            <p:nvPr/>
          </p:nvSpPr>
          <p:spPr>
            <a:xfrm>
              <a:off x="0" y="-76200"/>
              <a:ext cx="1619400" cy="573818"/>
            </a:xfrm>
            <a:prstGeom prst="rect">
              <a:avLst/>
            </a:prstGeom>
          </p:spPr>
          <p:txBody>
            <a:bodyPr anchor="ctr" rtlCol="false" tIns="50800" lIns="50800" bIns="50800" rIns="50800"/>
            <a:lstStyle/>
            <a:p>
              <a:pPr algn="ctr">
                <a:lnSpc>
                  <a:spcPts val="2520"/>
                </a:lnSpc>
              </a:pPr>
            </a:p>
          </p:txBody>
        </p:sp>
      </p:grpSp>
      <p:sp>
        <p:nvSpPr>
          <p:cNvPr name="TextBox 24" id="24"/>
          <p:cNvSpPr txBox="true"/>
          <p:nvPr/>
        </p:nvSpPr>
        <p:spPr>
          <a:xfrm rot="0">
            <a:off x="1868642" y="6773427"/>
            <a:ext cx="5566240" cy="853440"/>
          </a:xfrm>
          <a:prstGeom prst="rect">
            <a:avLst/>
          </a:prstGeom>
        </p:spPr>
        <p:txBody>
          <a:bodyPr anchor="t" rtlCol="false" tIns="0" lIns="0" bIns="0" rIns="0">
            <a:spAutoFit/>
          </a:bodyPr>
          <a:lstStyle/>
          <a:p>
            <a:pPr algn="l">
              <a:lnSpc>
                <a:spcPts val="3359"/>
              </a:lnSpc>
            </a:pPr>
            <a:r>
              <a:rPr lang="en-US" sz="2399" spc="-71">
                <a:solidFill>
                  <a:srgbClr val="4A4A4A"/>
                </a:solidFill>
                <a:latin typeface="True Typewriter"/>
                <a:ea typeface="True Typewriter"/>
                <a:cs typeface="True Typewriter"/>
                <a:sym typeface="True Typewriter"/>
              </a:rPr>
              <a:t>Trái tim của </a:t>
            </a:r>
            <a:r>
              <a:rPr lang="en-US" sz="2399" spc="-71">
                <a:solidFill>
                  <a:srgbClr val="4A4A4A"/>
                </a:solidFill>
                <a:latin typeface="True Typewriter"/>
                <a:ea typeface="True Typewriter"/>
                <a:cs typeface="True Typewriter"/>
                <a:sym typeface="True Typewriter"/>
              </a:rPr>
              <a:t>Người luôn dành trọn sự quan tâm cho nhân dân và đồng chí.</a:t>
            </a:r>
          </a:p>
        </p:txBody>
      </p:sp>
      <p:sp>
        <p:nvSpPr>
          <p:cNvPr name="TextBox 25" id="25"/>
          <p:cNvSpPr txBox="true"/>
          <p:nvPr/>
        </p:nvSpPr>
        <p:spPr>
          <a:xfrm rot="0">
            <a:off x="1868642" y="4663049"/>
            <a:ext cx="5566240" cy="853440"/>
          </a:xfrm>
          <a:prstGeom prst="rect">
            <a:avLst/>
          </a:prstGeom>
        </p:spPr>
        <p:txBody>
          <a:bodyPr anchor="t" rtlCol="false" tIns="0" lIns="0" bIns="0" rIns="0">
            <a:spAutoFit/>
          </a:bodyPr>
          <a:lstStyle/>
          <a:p>
            <a:pPr algn="l">
              <a:lnSpc>
                <a:spcPts val="3359"/>
              </a:lnSpc>
            </a:pPr>
            <a:r>
              <a:rPr lang="en-US" sz="2399" spc="-71">
                <a:solidFill>
                  <a:srgbClr val="4A4A4A"/>
                </a:solidFill>
                <a:latin typeface="True Typewriter"/>
                <a:ea typeface="True Typewriter"/>
                <a:cs typeface="True Typewriter"/>
                <a:sym typeface="True Typewriter"/>
              </a:rPr>
              <a:t>Người luôn đề cao lối sống giản dị và trung thực trong mọi hành động hằng ngày.</a:t>
            </a:r>
          </a:p>
        </p:txBody>
      </p:sp>
      <p:sp>
        <p:nvSpPr>
          <p:cNvPr name="TextBox 26" id="26"/>
          <p:cNvSpPr txBox="true"/>
          <p:nvPr/>
        </p:nvSpPr>
        <p:spPr>
          <a:xfrm rot="0">
            <a:off x="1548496" y="1417883"/>
            <a:ext cx="6923530" cy="1642110"/>
          </a:xfrm>
          <a:prstGeom prst="rect">
            <a:avLst/>
          </a:prstGeom>
        </p:spPr>
        <p:txBody>
          <a:bodyPr anchor="t" rtlCol="false" tIns="0" lIns="0" bIns="0" rIns="0">
            <a:spAutoFit/>
          </a:bodyPr>
          <a:lstStyle/>
          <a:p>
            <a:pPr algn="l">
              <a:lnSpc>
                <a:spcPts val="13439"/>
              </a:lnSpc>
            </a:pPr>
            <a:r>
              <a:rPr lang="en-US" sz="9600" spc="-1344">
                <a:solidFill>
                  <a:srgbClr val="B63336"/>
                </a:solidFill>
                <a:latin typeface="Barber FIll"/>
                <a:ea typeface="Barber FIll"/>
                <a:cs typeface="Barber FIll"/>
                <a:sym typeface="Barber FIll"/>
              </a:rPr>
              <a:t>TƯ </a:t>
            </a:r>
            <a:r>
              <a:rPr lang="en-US" sz="9600" spc="-1344">
                <a:solidFill>
                  <a:srgbClr val="B63336"/>
                </a:solidFill>
                <a:latin typeface="Barber FIll"/>
                <a:ea typeface="Barber FIll"/>
                <a:cs typeface="Barber FIll"/>
                <a:sym typeface="Barber FIll"/>
              </a:rPr>
              <a:t>TƯỞNG</a:t>
            </a:r>
          </a:p>
        </p:txBody>
      </p:sp>
      <p:sp>
        <p:nvSpPr>
          <p:cNvPr name="TextBox 27" id="27"/>
          <p:cNvSpPr txBox="true"/>
          <p:nvPr/>
        </p:nvSpPr>
        <p:spPr>
          <a:xfrm rot="0">
            <a:off x="1548496" y="2983793"/>
            <a:ext cx="6923530" cy="622935"/>
          </a:xfrm>
          <a:prstGeom prst="rect">
            <a:avLst/>
          </a:prstGeom>
        </p:spPr>
        <p:txBody>
          <a:bodyPr anchor="t" rtlCol="false" tIns="0" lIns="0" bIns="0" rIns="0">
            <a:spAutoFit/>
          </a:bodyPr>
          <a:lstStyle/>
          <a:p>
            <a:pPr algn="l">
              <a:lnSpc>
                <a:spcPts val="5040"/>
              </a:lnSpc>
            </a:pPr>
            <a:r>
              <a:rPr lang="en-US" sz="3600" spc="-504">
                <a:solidFill>
                  <a:srgbClr val="4A4A4A"/>
                </a:solidFill>
                <a:latin typeface="Barber FIll"/>
                <a:ea typeface="Barber FIll"/>
                <a:cs typeface="Barber FIll"/>
                <a:sym typeface="Barber FIll"/>
              </a:rPr>
              <a:t>VÀ PHONG </a:t>
            </a:r>
            <a:r>
              <a:rPr lang="en-US" sz="3600" spc="-504">
                <a:solidFill>
                  <a:srgbClr val="4A4A4A"/>
                </a:solidFill>
                <a:latin typeface="Barber FIll"/>
                <a:ea typeface="Barber FIll"/>
                <a:cs typeface="Barber FIll"/>
                <a:sym typeface="Barber FIll"/>
              </a:rPr>
              <a:t>CÁCH ĐẠO ĐỨC</a:t>
            </a:r>
          </a:p>
        </p:txBody>
      </p:sp>
      <p:sp>
        <p:nvSpPr>
          <p:cNvPr name="TextBox 28" id="28"/>
          <p:cNvSpPr txBox="true"/>
          <p:nvPr/>
        </p:nvSpPr>
        <p:spPr>
          <a:xfrm rot="0">
            <a:off x="1868642" y="6283168"/>
            <a:ext cx="5566240" cy="405765"/>
          </a:xfrm>
          <a:prstGeom prst="rect">
            <a:avLst/>
          </a:prstGeom>
        </p:spPr>
        <p:txBody>
          <a:bodyPr anchor="t" rtlCol="false" tIns="0" lIns="0" bIns="0" rIns="0">
            <a:spAutoFit/>
          </a:bodyPr>
          <a:lstStyle/>
          <a:p>
            <a:pPr algn="l">
              <a:lnSpc>
                <a:spcPts val="3359"/>
              </a:lnSpc>
            </a:pPr>
            <a:r>
              <a:rPr lang="en-US" sz="2400" spc="-336">
                <a:solidFill>
                  <a:srgbClr val="B63336"/>
                </a:solidFill>
                <a:latin typeface="Barber FIll"/>
                <a:ea typeface="Barber FIll"/>
                <a:cs typeface="Barber FIll"/>
                <a:sym typeface="Barber FIll"/>
              </a:rPr>
              <a:t>LÒ</a:t>
            </a:r>
            <a:r>
              <a:rPr lang="en-US" sz="2400" spc="-336">
                <a:solidFill>
                  <a:srgbClr val="B63336"/>
                </a:solidFill>
                <a:latin typeface="Barber FIll"/>
                <a:ea typeface="Barber FIll"/>
                <a:cs typeface="Barber FIll"/>
                <a:sym typeface="Barber FIll"/>
              </a:rPr>
              <a:t>NG YÊU THƯƠNG CON NGƯỜI</a:t>
            </a:r>
          </a:p>
        </p:txBody>
      </p:sp>
      <p:sp>
        <p:nvSpPr>
          <p:cNvPr name="TextBox 29" id="29"/>
          <p:cNvSpPr txBox="true"/>
          <p:nvPr/>
        </p:nvSpPr>
        <p:spPr>
          <a:xfrm rot="0">
            <a:off x="1868642" y="4172790"/>
            <a:ext cx="5566240" cy="405765"/>
          </a:xfrm>
          <a:prstGeom prst="rect">
            <a:avLst/>
          </a:prstGeom>
        </p:spPr>
        <p:txBody>
          <a:bodyPr anchor="t" rtlCol="false" tIns="0" lIns="0" bIns="0" rIns="0">
            <a:spAutoFit/>
          </a:bodyPr>
          <a:lstStyle/>
          <a:p>
            <a:pPr algn="l">
              <a:lnSpc>
                <a:spcPts val="3359"/>
              </a:lnSpc>
            </a:pPr>
            <a:r>
              <a:rPr lang="en-US" sz="2400" spc="-336">
                <a:solidFill>
                  <a:srgbClr val="B63336"/>
                </a:solidFill>
                <a:latin typeface="Barber FIll"/>
                <a:ea typeface="Barber FIll"/>
                <a:cs typeface="Barber FIll"/>
                <a:sym typeface="Barber FIll"/>
              </a:rPr>
              <a:t>TINH THẦN CẦN KIỆM LIÊM CHÍNH</a:t>
            </a:r>
          </a:p>
        </p:txBody>
      </p:sp>
    </p:spTree>
  </p:cSld>
  <p:clrMapOvr>
    <a:masterClrMapping/>
  </p:clrMapOvr>
  <p:transition spd="med">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EF6"/>
        </a:solidFill>
      </p:bgPr>
    </p:bg>
    <p:spTree>
      <p:nvGrpSpPr>
        <p:cNvPr id="1" name=""/>
        <p:cNvGrpSpPr/>
        <p:nvPr/>
      </p:nvGrpSpPr>
      <p:grpSpPr>
        <a:xfrm>
          <a:off x="0" y="0"/>
          <a:ext cx="0" cy="0"/>
          <a:chOff x="0" y="0"/>
          <a:chExt cx="0" cy="0"/>
        </a:xfrm>
      </p:grpSpPr>
      <p:grpSp>
        <p:nvGrpSpPr>
          <p:cNvPr name="Group 2" id="2"/>
          <p:cNvGrpSpPr/>
          <p:nvPr/>
        </p:nvGrpSpPr>
        <p:grpSpPr>
          <a:xfrm rot="0">
            <a:off x="-46997" y="9258300"/>
            <a:ext cx="18381994" cy="1028700"/>
            <a:chOff x="0" y="0"/>
            <a:chExt cx="4841348" cy="270933"/>
          </a:xfrm>
        </p:grpSpPr>
        <p:sp>
          <p:nvSpPr>
            <p:cNvPr name="Freeform 3" id="3"/>
            <p:cNvSpPr/>
            <p:nvPr/>
          </p:nvSpPr>
          <p:spPr>
            <a:xfrm flipH="false" flipV="false" rot="0">
              <a:off x="0" y="0"/>
              <a:ext cx="4841348" cy="270933"/>
            </a:xfrm>
            <a:custGeom>
              <a:avLst/>
              <a:gdLst/>
              <a:ahLst/>
              <a:cxnLst/>
              <a:rect r="r" b="b" t="t" l="l"/>
              <a:pathLst>
                <a:path h="270933" w="4841348">
                  <a:moveTo>
                    <a:pt x="0" y="0"/>
                  </a:moveTo>
                  <a:lnTo>
                    <a:pt x="4841348" y="0"/>
                  </a:lnTo>
                  <a:lnTo>
                    <a:pt x="4841348" y="270933"/>
                  </a:lnTo>
                  <a:lnTo>
                    <a:pt x="0" y="270933"/>
                  </a:lnTo>
                  <a:close/>
                </a:path>
              </a:pathLst>
            </a:custGeom>
            <a:solidFill>
              <a:srgbClr val="B63D40"/>
            </a:solidFill>
          </p:spPr>
        </p:sp>
        <p:sp>
          <p:nvSpPr>
            <p:cNvPr name="TextBox 4" id="4"/>
            <p:cNvSpPr txBox="true"/>
            <p:nvPr/>
          </p:nvSpPr>
          <p:spPr>
            <a:xfrm>
              <a:off x="0" y="-76200"/>
              <a:ext cx="4841348" cy="347133"/>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622336">
            <a:off x="-2220640" y="-451141"/>
            <a:ext cx="7779542" cy="5019716"/>
          </a:xfrm>
          <a:custGeom>
            <a:avLst/>
            <a:gdLst/>
            <a:ahLst/>
            <a:cxnLst/>
            <a:rect r="r" b="b" t="t" l="l"/>
            <a:pathLst>
              <a:path h="5019716" w="7779542">
                <a:moveTo>
                  <a:pt x="0" y="0"/>
                </a:moveTo>
                <a:lnTo>
                  <a:pt x="7779542" y="0"/>
                </a:lnTo>
                <a:lnTo>
                  <a:pt x="7779542" y="5019716"/>
                </a:lnTo>
                <a:lnTo>
                  <a:pt x="0" y="5019716"/>
                </a:lnTo>
                <a:lnTo>
                  <a:pt x="0" y="0"/>
                </a:lnTo>
                <a:close/>
              </a:path>
            </a:pathLst>
          </a:custGeom>
          <a:blipFill>
            <a:blip r:embed="rId2"/>
            <a:stretch>
              <a:fillRect l="-17625" t="0" r="0" b="-2541"/>
            </a:stretch>
          </a:blipFill>
        </p:spPr>
      </p:sp>
      <p:sp>
        <p:nvSpPr>
          <p:cNvPr name="Freeform 6" id="6"/>
          <p:cNvSpPr/>
          <p:nvPr/>
        </p:nvSpPr>
        <p:spPr>
          <a:xfrm flipH="true" flipV="false" rot="-618342">
            <a:off x="12731156" y="-451141"/>
            <a:ext cx="7779542" cy="5019716"/>
          </a:xfrm>
          <a:custGeom>
            <a:avLst/>
            <a:gdLst/>
            <a:ahLst/>
            <a:cxnLst/>
            <a:rect r="r" b="b" t="t" l="l"/>
            <a:pathLst>
              <a:path h="5019716" w="7779542">
                <a:moveTo>
                  <a:pt x="7779542" y="0"/>
                </a:moveTo>
                <a:lnTo>
                  <a:pt x="0" y="0"/>
                </a:lnTo>
                <a:lnTo>
                  <a:pt x="0" y="5019716"/>
                </a:lnTo>
                <a:lnTo>
                  <a:pt x="7779542" y="5019716"/>
                </a:lnTo>
                <a:lnTo>
                  <a:pt x="7779542" y="0"/>
                </a:lnTo>
                <a:close/>
              </a:path>
            </a:pathLst>
          </a:custGeom>
          <a:blipFill>
            <a:blip r:embed="rId2"/>
            <a:stretch>
              <a:fillRect l="-17625" t="0" r="0" b="-2541"/>
            </a:stretch>
          </a:blipFill>
        </p:spPr>
      </p:sp>
      <p:grpSp>
        <p:nvGrpSpPr>
          <p:cNvPr name="Group 7" id="7"/>
          <p:cNvGrpSpPr/>
          <p:nvPr/>
        </p:nvGrpSpPr>
        <p:grpSpPr>
          <a:xfrm rot="0">
            <a:off x="5622471" y="-946972"/>
            <a:ext cx="7043057" cy="6712914"/>
            <a:chOff x="0" y="0"/>
            <a:chExt cx="812800" cy="774700"/>
          </a:xfrm>
        </p:grpSpPr>
        <p:sp>
          <p:nvSpPr>
            <p:cNvPr name="Freeform 8" id="8"/>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B63336">
                <a:alpha val="5882"/>
              </a:srgbClr>
            </a:solidFill>
          </p:spPr>
        </p:sp>
        <p:sp>
          <p:nvSpPr>
            <p:cNvPr name="TextBox 9" id="9"/>
            <p:cNvSpPr txBox="true"/>
            <p:nvPr/>
          </p:nvSpPr>
          <p:spPr>
            <a:xfrm>
              <a:off x="228600" y="190500"/>
              <a:ext cx="355600" cy="419100"/>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0">
            <a:off x="1548496" y="4043008"/>
            <a:ext cx="4852065" cy="3855704"/>
            <a:chOff x="0" y="0"/>
            <a:chExt cx="1277910" cy="1015494"/>
          </a:xfrm>
        </p:grpSpPr>
        <p:sp>
          <p:nvSpPr>
            <p:cNvPr name="Freeform 11" id="11"/>
            <p:cNvSpPr/>
            <p:nvPr/>
          </p:nvSpPr>
          <p:spPr>
            <a:xfrm flipH="false" flipV="false" rot="0">
              <a:off x="0" y="0"/>
              <a:ext cx="1277910" cy="1015494"/>
            </a:xfrm>
            <a:custGeom>
              <a:avLst/>
              <a:gdLst/>
              <a:ahLst/>
              <a:cxnLst/>
              <a:rect r="r" b="b" t="t" l="l"/>
              <a:pathLst>
                <a:path h="1015494" w="1277910">
                  <a:moveTo>
                    <a:pt x="0" y="0"/>
                  </a:moveTo>
                  <a:lnTo>
                    <a:pt x="1277910" y="0"/>
                  </a:lnTo>
                  <a:lnTo>
                    <a:pt x="1277910" y="1015494"/>
                  </a:lnTo>
                  <a:lnTo>
                    <a:pt x="0" y="1015494"/>
                  </a:lnTo>
                  <a:close/>
                </a:path>
              </a:pathLst>
            </a:custGeom>
            <a:solidFill>
              <a:srgbClr val="FFFEF6"/>
            </a:solidFill>
            <a:ln w="28575" cap="sq">
              <a:solidFill>
                <a:srgbClr val="B63336"/>
              </a:solidFill>
              <a:prstDash val="solid"/>
              <a:miter/>
            </a:ln>
          </p:spPr>
        </p:sp>
        <p:sp>
          <p:nvSpPr>
            <p:cNvPr name="TextBox 12" id="12"/>
            <p:cNvSpPr txBox="true"/>
            <p:nvPr/>
          </p:nvSpPr>
          <p:spPr>
            <a:xfrm>
              <a:off x="0" y="-76200"/>
              <a:ext cx="1277910" cy="1091694"/>
            </a:xfrm>
            <a:prstGeom prst="rect">
              <a:avLst/>
            </a:prstGeom>
          </p:spPr>
          <p:txBody>
            <a:bodyPr anchor="ctr" rtlCol="false" tIns="50800" lIns="50800" bIns="50800" rIns="50800"/>
            <a:lstStyle/>
            <a:p>
              <a:pPr algn="ctr">
                <a:lnSpc>
                  <a:spcPts val="2520"/>
                </a:lnSpc>
              </a:pPr>
            </a:p>
          </p:txBody>
        </p:sp>
      </p:grpSp>
      <p:grpSp>
        <p:nvGrpSpPr>
          <p:cNvPr name="Group 13" id="13"/>
          <p:cNvGrpSpPr/>
          <p:nvPr/>
        </p:nvGrpSpPr>
        <p:grpSpPr>
          <a:xfrm rot="0">
            <a:off x="6708179" y="4043008"/>
            <a:ext cx="4852065" cy="3855704"/>
            <a:chOff x="0" y="0"/>
            <a:chExt cx="1277910" cy="1015494"/>
          </a:xfrm>
        </p:grpSpPr>
        <p:sp>
          <p:nvSpPr>
            <p:cNvPr name="Freeform 14" id="14"/>
            <p:cNvSpPr/>
            <p:nvPr/>
          </p:nvSpPr>
          <p:spPr>
            <a:xfrm flipH="false" flipV="false" rot="0">
              <a:off x="0" y="0"/>
              <a:ext cx="1277910" cy="1015494"/>
            </a:xfrm>
            <a:custGeom>
              <a:avLst/>
              <a:gdLst/>
              <a:ahLst/>
              <a:cxnLst/>
              <a:rect r="r" b="b" t="t" l="l"/>
              <a:pathLst>
                <a:path h="1015494" w="1277910">
                  <a:moveTo>
                    <a:pt x="0" y="0"/>
                  </a:moveTo>
                  <a:lnTo>
                    <a:pt x="1277910" y="0"/>
                  </a:lnTo>
                  <a:lnTo>
                    <a:pt x="1277910" y="1015494"/>
                  </a:lnTo>
                  <a:lnTo>
                    <a:pt x="0" y="1015494"/>
                  </a:lnTo>
                  <a:close/>
                </a:path>
              </a:pathLst>
            </a:custGeom>
            <a:solidFill>
              <a:srgbClr val="FFFEF6"/>
            </a:solidFill>
            <a:ln w="28575" cap="sq">
              <a:solidFill>
                <a:srgbClr val="B63336"/>
              </a:solidFill>
              <a:prstDash val="solid"/>
              <a:miter/>
            </a:ln>
          </p:spPr>
        </p:sp>
        <p:sp>
          <p:nvSpPr>
            <p:cNvPr name="TextBox 15" id="15"/>
            <p:cNvSpPr txBox="true"/>
            <p:nvPr/>
          </p:nvSpPr>
          <p:spPr>
            <a:xfrm>
              <a:off x="0" y="-76200"/>
              <a:ext cx="1277910" cy="1091694"/>
            </a:xfrm>
            <a:prstGeom prst="rect">
              <a:avLst/>
            </a:prstGeom>
          </p:spPr>
          <p:txBody>
            <a:bodyPr anchor="ctr" rtlCol="false" tIns="50800" lIns="50800" bIns="50800" rIns="50800"/>
            <a:lstStyle/>
            <a:p>
              <a:pPr algn="ctr">
                <a:lnSpc>
                  <a:spcPts val="2520"/>
                </a:lnSpc>
              </a:pPr>
            </a:p>
          </p:txBody>
        </p:sp>
      </p:grpSp>
      <p:grpSp>
        <p:nvGrpSpPr>
          <p:cNvPr name="Group 16" id="16"/>
          <p:cNvGrpSpPr/>
          <p:nvPr/>
        </p:nvGrpSpPr>
        <p:grpSpPr>
          <a:xfrm rot="0">
            <a:off x="11867863" y="4043008"/>
            <a:ext cx="4852065" cy="3855704"/>
            <a:chOff x="0" y="0"/>
            <a:chExt cx="1277910" cy="1015494"/>
          </a:xfrm>
        </p:grpSpPr>
        <p:sp>
          <p:nvSpPr>
            <p:cNvPr name="Freeform 17" id="17"/>
            <p:cNvSpPr/>
            <p:nvPr/>
          </p:nvSpPr>
          <p:spPr>
            <a:xfrm flipH="false" flipV="false" rot="0">
              <a:off x="0" y="0"/>
              <a:ext cx="1277910" cy="1015494"/>
            </a:xfrm>
            <a:custGeom>
              <a:avLst/>
              <a:gdLst/>
              <a:ahLst/>
              <a:cxnLst/>
              <a:rect r="r" b="b" t="t" l="l"/>
              <a:pathLst>
                <a:path h="1015494" w="1277910">
                  <a:moveTo>
                    <a:pt x="0" y="0"/>
                  </a:moveTo>
                  <a:lnTo>
                    <a:pt x="1277910" y="0"/>
                  </a:lnTo>
                  <a:lnTo>
                    <a:pt x="1277910" y="1015494"/>
                  </a:lnTo>
                  <a:lnTo>
                    <a:pt x="0" y="1015494"/>
                  </a:lnTo>
                  <a:close/>
                </a:path>
              </a:pathLst>
            </a:custGeom>
            <a:solidFill>
              <a:srgbClr val="FFFEF6"/>
            </a:solidFill>
            <a:ln w="28575" cap="sq">
              <a:solidFill>
                <a:srgbClr val="B63336"/>
              </a:solidFill>
              <a:prstDash val="solid"/>
              <a:miter/>
            </a:ln>
          </p:spPr>
        </p:sp>
        <p:sp>
          <p:nvSpPr>
            <p:cNvPr name="TextBox 18" id="18"/>
            <p:cNvSpPr txBox="true"/>
            <p:nvPr/>
          </p:nvSpPr>
          <p:spPr>
            <a:xfrm>
              <a:off x="0" y="-76200"/>
              <a:ext cx="1277910" cy="1091694"/>
            </a:xfrm>
            <a:prstGeom prst="rect">
              <a:avLst/>
            </a:prstGeom>
          </p:spPr>
          <p:txBody>
            <a:bodyPr anchor="ctr" rtlCol="false" tIns="50800" lIns="50800" bIns="50800" rIns="50800"/>
            <a:lstStyle/>
            <a:p>
              <a:pPr algn="ctr">
                <a:lnSpc>
                  <a:spcPts val="2520"/>
                </a:lnSpc>
              </a:pPr>
            </a:p>
          </p:txBody>
        </p:sp>
      </p:grpSp>
      <p:sp>
        <p:nvSpPr>
          <p:cNvPr name="TextBox 19" id="19"/>
          <p:cNvSpPr txBox="true"/>
          <p:nvPr/>
        </p:nvSpPr>
        <p:spPr>
          <a:xfrm rot="0">
            <a:off x="7114736" y="9545519"/>
            <a:ext cx="4312484" cy="344805"/>
          </a:xfrm>
          <a:prstGeom prst="rect">
            <a:avLst/>
          </a:prstGeom>
        </p:spPr>
        <p:txBody>
          <a:bodyPr anchor="t" rtlCol="false" tIns="0" lIns="0" bIns="0" rIns="0">
            <a:spAutoFit/>
          </a:bodyPr>
          <a:lstStyle/>
          <a:p>
            <a:pPr algn="ctr" marL="0" indent="0" lvl="0">
              <a:lnSpc>
                <a:spcPts val="2520"/>
              </a:lnSpc>
              <a:spcBef>
                <a:spcPct val="0"/>
              </a:spcBef>
            </a:pPr>
            <a:r>
              <a:rPr lang="en-US" sz="1800">
                <a:solidFill>
                  <a:srgbClr val="FFFEF6"/>
                </a:solidFill>
                <a:latin typeface="True Typewriter"/>
                <a:ea typeface="True Typewriter"/>
                <a:cs typeface="True Typewriter"/>
                <a:sym typeface="True Typewriter"/>
              </a:rPr>
              <a:t>CUỘ</a:t>
            </a:r>
            <a:r>
              <a:rPr lang="en-US" sz="1800" strike="noStrike" u="none">
                <a:solidFill>
                  <a:srgbClr val="FFFEF6"/>
                </a:solidFill>
                <a:latin typeface="True Typewriter"/>
                <a:ea typeface="True Typewriter"/>
                <a:cs typeface="True Typewriter"/>
                <a:sym typeface="True Typewriter"/>
              </a:rPr>
              <a:t>C ĐỜI VÀ SỰ NGHIỆP CHỦ TỊCH HỒ CHÍ MINH </a:t>
            </a:r>
          </a:p>
        </p:txBody>
      </p:sp>
      <p:sp>
        <p:nvSpPr>
          <p:cNvPr name="TextBox 20" id="20"/>
          <p:cNvSpPr txBox="true"/>
          <p:nvPr/>
        </p:nvSpPr>
        <p:spPr>
          <a:xfrm rot="0">
            <a:off x="1548496" y="9545519"/>
            <a:ext cx="2887222" cy="344805"/>
          </a:xfrm>
          <a:prstGeom prst="rect">
            <a:avLst/>
          </a:prstGeom>
        </p:spPr>
        <p:txBody>
          <a:bodyPr anchor="t" rtlCol="false" tIns="0" lIns="0" bIns="0" rIns="0">
            <a:spAutoFit/>
          </a:bodyPr>
          <a:lstStyle/>
          <a:p>
            <a:pPr algn="l">
              <a:lnSpc>
                <a:spcPts val="2520"/>
              </a:lnSpc>
              <a:spcBef>
                <a:spcPct val="0"/>
              </a:spcBef>
            </a:pPr>
            <a:r>
              <a:rPr lang="en-US" sz="1800">
                <a:solidFill>
                  <a:srgbClr val="FFFEF6"/>
                </a:solidFill>
                <a:latin typeface="True Typewriter"/>
                <a:ea typeface="True Typewriter"/>
                <a:cs typeface="True Typewriter"/>
                <a:sym typeface="True Typewriter"/>
              </a:rPr>
              <a:t>GIÁO VIÊN THỰC HIỆN: NGUYỄN HƯƠNG LY</a:t>
            </a:r>
          </a:p>
        </p:txBody>
      </p:sp>
      <p:sp>
        <p:nvSpPr>
          <p:cNvPr name="TextBox 21" id="21"/>
          <p:cNvSpPr txBox="true"/>
          <p:nvPr/>
        </p:nvSpPr>
        <p:spPr>
          <a:xfrm rot="0">
            <a:off x="14086662" y="9545519"/>
            <a:ext cx="2633266" cy="344805"/>
          </a:xfrm>
          <a:prstGeom prst="rect">
            <a:avLst/>
          </a:prstGeom>
        </p:spPr>
        <p:txBody>
          <a:bodyPr anchor="t" rtlCol="false" tIns="0" lIns="0" bIns="0" rIns="0">
            <a:spAutoFit/>
          </a:bodyPr>
          <a:lstStyle/>
          <a:p>
            <a:pPr algn="r">
              <a:lnSpc>
                <a:spcPts val="2520"/>
              </a:lnSpc>
              <a:spcBef>
                <a:spcPct val="0"/>
              </a:spcBef>
            </a:pPr>
            <a:r>
              <a:rPr lang="en-US" sz="1800">
                <a:solidFill>
                  <a:srgbClr val="FFFEF6"/>
                </a:solidFill>
                <a:latin typeface="True Typewriter"/>
                <a:ea typeface="True Typewriter"/>
                <a:cs typeface="True Typewriter"/>
                <a:sym typeface="True Typewriter"/>
              </a:rPr>
              <a:t>WWW.REALLYGREATSITE.COM</a:t>
            </a:r>
          </a:p>
        </p:txBody>
      </p:sp>
      <p:sp>
        <p:nvSpPr>
          <p:cNvPr name="TextBox 22" id="22"/>
          <p:cNvSpPr txBox="true"/>
          <p:nvPr/>
        </p:nvSpPr>
        <p:spPr>
          <a:xfrm rot="0">
            <a:off x="5217924" y="1417883"/>
            <a:ext cx="7852151" cy="1642110"/>
          </a:xfrm>
          <a:prstGeom prst="rect">
            <a:avLst/>
          </a:prstGeom>
        </p:spPr>
        <p:txBody>
          <a:bodyPr anchor="t" rtlCol="false" tIns="0" lIns="0" bIns="0" rIns="0">
            <a:spAutoFit/>
          </a:bodyPr>
          <a:lstStyle/>
          <a:p>
            <a:pPr algn="ctr">
              <a:lnSpc>
                <a:spcPts val="13439"/>
              </a:lnSpc>
            </a:pPr>
            <a:r>
              <a:rPr lang="en-US" sz="9600" spc="-1344">
                <a:solidFill>
                  <a:srgbClr val="B63336"/>
                </a:solidFill>
                <a:latin typeface="Barber FIll"/>
                <a:ea typeface="Barber FIll"/>
                <a:cs typeface="Barber FIll"/>
                <a:sym typeface="Barber FIll"/>
              </a:rPr>
              <a:t>DI SẢN</a:t>
            </a:r>
          </a:p>
        </p:txBody>
      </p:sp>
      <p:sp>
        <p:nvSpPr>
          <p:cNvPr name="TextBox 23" id="23"/>
          <p:cNvSpPr txBox="true"/>
          <p:nvPr/>
        </p:nvSpPr>
        <p:spPr>
          <a:xfrm rot="0">
            <a:off x="5945163" y="2983793"/>
            <a:ext cx="6397673" cy="622935"/>
          </a:xfrm>
          <a:prstGeom prst="rect">
            <a:avLst/>
          </a:prstGeom>
        </p:spPr>
        <p:txBody>
          <a:bodyPr anchor="t" rtlCol="false" tIns="0" lIns="0" bIns="0" rIns="0">
            <a:spAutoFit/>
          </a:bodyPr>
          <a:lstStyle/>
          <a:p>
            <a:pPr algn="ctr">
              <a:lnSpc>
                <a:spcPts val="5040"/>
              </a:lnSpc>
            </a:pPr>
            <a:r>
              <a:rPr lang="en-US" sz="3600" spc="-504">
                <a:solidFill>
                  <a:srgbClr val="4A4A4A"/>
                </a:solidFill>
                <a:latin typeface="Barber FIll"/>
                <a:ea typeface="Barber FIll"/>
                <a:cs typeface="Barber FIll"/>
                <a:sym typeface="Barber FIll"/>
              </a:rPr>
              <a:t>VĂN HÓA VÀ VĂN </a:t>
            </a:r>
            <a:r>
              <a:rPr lang="en-US" sz="3600" spc="-504">
                <a:solidFill>
                  <a:srgbClr val="4A4A4A"/>
                </a:solidFill>
                <a:latin typeface="Barber FIll"/>
                <a:ea typeface="Barber FIll"/>
                <a:cs typeface="Barber FIll"/>
                <a:sym typeface="Barber FIll"/>
              </a:rPr>
              <a:t>HỌC</a:t>
            </a:r>
          </a:p>
        </p:txBody>
      </p:sp>
      <p:sp>
        <p:nvSpPr>
          <p:cNvPr name="TextBox 24" id="24"/>
          <p:cNvSpPr txBox="true"/>
          <p:nvPr/>
        </p:nvSpPr>
        <p:spPr>
          <a:xfrm rot="0">
            <a:off x="2240760" y="4429997"/>
            <a:ext cx="3470355" cy="405765"/>
          </a:xfrm>
          <a:prstGeom prst="rect">
            <a:avLst/>
          </a:prstGeom>
        </p:spPr>
        <p:txBody>
          <a:bodyPr anchor="t" rtlCol="false" tIns="0" lIns="0" bIns="0" rIns="0">
            <a:spAutoFit/>
          </a:bodyPr>
          <a:lstStyle/>
          <a:p>
            <a:pPr algn="ctr">
              <a:lnSpc>
                <a:spcPts val="3359"/>
              </a:lnSpc>
            </a:pPr>
            <a:r>
              <a:rPr lang="en-US" sz="2400" spc="-336">
                <a:solidFill>
                  <a:srgbClr val="B63336"/>
                </a:solidFill>
                <a:latin typeface="Barber FIll"/>
                <a:ea typeface="Barber FIll"/>
                <a:cs typeface="Barber FIll"/>
                <a:sym typeface="Barber FIll"/>
              </a:rPr>
              <a:t>TÁC PHẨM NHẬT KÝ</a:t>
            </a:r>
          </a:p>
        </p:txBody>
      </p:sp>
      <p:sp>
        <p:nvSpPr>
          <p:cNvPr name="TextBox 25" id="25"/>
          <p:cNvSpPr txBox="true"/>
          <p:nvPr/>
        </p:nvSpPr>
        <p:spPr>
          <a:xfrm rot="0">
            <a:off x="6928062" y="4429997"/>
            <a:ext cx="4415119" cy="405765"/>
          </a:xfrm>
          <a:prstGeom prst="rect">
            <a:avLst/>
          </a:prstGeom>
        </p:spPr>
        <p:txBody>
          <a:bodyPr anchor="t" rtlCol="false" tIns="0" lIns="0" bIns="0" rIns="0">
            <a:spAutoFit/>
          </a:bodyPr>
          <a:lstStyle/>
          <a:p>
            <a:pPr algn="ctr">
              <a:lnSpc>
                <a:spcPts val="3359"/>
              </a:lnSpc>
            </a:pPr>
            <a:r>
              <a:rPr lang="en-US" sz="2400" spc="-336">
                <a:solidFill>
                  <a:srgbClr val="B63336"/>
                </a:solidFill>
                <a:latin typeface="Barber FIll"/>
                <a:ea typeface="Barber FIll"/>
                <a:cs typeface="Barber FIll"/>
                <a:sym typeface="Barber FIll"/>
              </a:rPr>
              <a:t>BẢN </a:t>
            </a:r>
            <a:r>
              <a:rPr lang="en-US" sz="2400" spc="-336">
                <a:solidFill>
                  <a:srgbClr val="B63336"/>
                </a:solidFill>
                <a:latin typeface="Barber FIll"/>
                <a:ea typeface="Barber FIll"/>
                <a:cs typeface="Barber FIll"/>
                <a:sym typeface="Barber FIll"/>
              </a:rPr>
              <a:t>TUYÊN NGÔN ĐỘC LẬP</a:t>
            </a:r>
          </a:p>
        </p:txBody>
      </p:sp>
      <p:sp>
        <p:nvSpPr>
          <p:cNvPr name="TextBox 26" id="26"/>
          <p:cNvSpPr txBox="true"/>
          <p:nvPr/>
        </p:nvSpPr>
        <p:spPr>
          <a:xfrm rot="0">
            <a:off x="1945774" y="4934257"/>
            <a:ext cx="4057508" cy="2529840"/>
          </a:xfrm>
          <a:prstGeom prst="rect">
            <a:avLst/>
          </a:prstGeom>
        </p:spPr>
        <p:txBody>
          <a:bodyPr anchor="t" rtlCol="false" tIns="0" lIns="0" bIns="0" rIns="0">
            <a:spAutoFit/>
          </a:bodyPr>
          <a:lstStyle/>
          <a:p>
            <a:pPr algn="ctr">
              <a:lnSpc>
                <a:spcPts val="3359"/>
              </a:lnSpc>
            </a:pPr>
            <a:r>
              <a:rPr lang="en-US" sz="2399" spc="-23">
                <a:solidFill>
                  <a:srgbClr val="4A4A4A"/>
                </a:solidFill>
                <a:latin typeface="True Typewriter"/>
                <a:ea typeface="True Typewriter"/>
                <a:cs typeface="True Typewriter"/>
                <a:sym typeface="True Typewriter"/>
              </a:rPr>
              <a:t>Tập</a:t>
            </a:r>
            <a:r>
              <a:rPr lang="en-US" sz="2399" spc="-23">
                <a:solidFill>
                  <a:srgbClr val="4A4A4A"/>
                </a:solidFill>
                <a:latin typeface="True Typewriter"/>
                <a:ea typeface="True Typewriter"/>
                <a:cs typeface="True Typewriter"/>
                <a:sym typeface="True Typewriter"/>
              </a:rPr>
              <a:t> thơ gồm các bài chữ Hán ghi lại những năm tháng gian nan nhưng đầy khí phách. Đây không chỉ là di sản văn học mà còn là biểu tượng của tinh thần lạc quan.</a:t>
            </a:r>
          </a:p>
        </p:txBody>
      </p:sp>
      <p:sp>
        <p:nvSpPr>
          <p:cNvPr name="TextBox 27" id="27"/>
          <p:cNvSpPr txBox="true"/>
          <p:nvPr/>
        </p:nvSpPr>
        <p:spPr>
          <a:xfrm rot="0">
            <a:off x="7105458" y="4934257"/>
            <a:ext cx="4057508" cy="2529840"/>
          </a:xfrm>
          <a:prstGeom prst="rect">
            <a:avLst/>
          </a:prstGeom>
        </p:spPr>
        <p:txBody>
          <a:bodyPr anchor="t" rtlCol="false" tIns="0" lIns="0" bIns="0" rIns="0">
            <a:spAutoFit/>
          </a:bodyPr>
          <a:lstStyle/>
          <a:p>
            <a:pPr algn="ctr">
              <a:lnSpc>
                <a:spcPts val="3359"/>
              </a:lnSpc>
            </a:pPr>
            <a:r>
              <a:rPr lang="en-US" sz="2399" spc="-23">
                <a:solidFill>
                  <a:srgbClr val="4A4A4A"/>
                </a:solidFill>
                <a:latin typeface="True Typewriter"/>
                <a:ea typeface="True Typewriter"/>
                <a:cs typeface="True Typewriter"/>
                <a:sym typeface="True Typewriter"/>
              </a:rPr>
              <a:t>Đây</a:t>
            </a:r>
            <a:r>
              <a:rPr lang="en-US" sz="2399" spc="-23">
                <a:solidFill>
                  <a:srgbClr val="4A4A4A"/>
                </a:solidFill>
                <a:latin typeface="True Typewriter"/>
                <a:ea typeface="True Typewriter"/>
                <a:cs typeface="True Typewriter"/>
                <a:sym typeface="True Typewriter"/>
              </a:rPr>
              <a:t> là văn kiện lịch sử quan trọng khẳng định quyền tự do và bình đẳng của dân tộc. Ngôn ngữ trong bản tuyên ngôn sắc bén, hùng hồn và mang tầm vóc của thời đại mới.</a:t>
            </a:r>
          </a:p>
        </p:txBody>
      </p:sp>
      <p:sp>
        <p:nvSpPr>
          <p:cNvPr name="TextBox 28" id="28"/>
          <p:cNvSpPr txBox="true"/>
          <p:nvPr/>
        </p:nvSpPr>
        <p:spPr>
          <a:xfrm rot="0">
            <a:off x="12075936" y="4429997"/>
            <a:ext cx="4438738" cy="405765"/>
          </a:xfrm>
          <a:prstGeom prst="rect">
            <a:avLst/>
          </a:prstGeom>
        </p:spPr>
        <p:txBody>
          <a:bodyPr anchor="t" rtlCol="false" tIns="0" lIns="0" bIns="0" rIns="0">
            <a:spAutoFit/>
          </a:bodyPr>
          <a:lstStyle/>
          <a:p>
            <a:pPr algn="ctr">
              <a:lnSpc>
                <a:spcPts val="3359"/>
              </a:lnSpc>
            </a:pPr>
            <a:r>
              <a:rPr lang="en-US" sz="2400" spc="-336">
                <a:solidFill>
                  <a:srgbClr val="B63336"/>
                </a:solidFill>
                <a:latin typeface="Barber FIll"/>
                <a:ea typeface="Barber FIll"/>
                <a:cs typeface="Barber FIll"/>
                <a:sym typeface="Barber FIll"/>
              </a:rPr>
              <a:t>C</a:t>
            </a:r>
            <a:r>
              <a:rPr lang="en-US" sz="2400" spc="-336">
                <a:solidFill>
                  <a:srgbClr val="B63336"/>
                </a:solidFill>
                <a:latin typeface="Barber FIll"/>
                <a:ea typeface="Barber FIll"/>
                <a:cs typeface="Barber FIll"/>
                <a:sym typeface="Barber FIll"/>
              </a:rPr>
              <a:t>ÁC BÀI BÁO VÀ TIỂU PHẨM</a:t>
            </a:r>
          </a:p>
        </p:txBody>
      </p:sp>
      <p:sp>
        <p:nvSpPr>
          <p:cNvPr name="TextBox 29" id="29"/>
          <p:cNvSpPr txBox="true"/>
          <p:nvPr/>
        </p:nvSpPr>
        <p:spPr>
          <a:xfrm rot="0">
            <a:off x="12265142" y="4934257"/>
            <a:ext cx="4057508" cy="2529840"/>
          </a:xfrm>
          <a:prstGeom prst="rect">
            <a:avLst/>
          </a:prstGeom>
        </p:spPr>
        <p:txBody>
          <a:bodyPr anchor="t" rtlCol="false" tIns="0" lIns="0" bIns="0" rIns="0">
            <a:spAutoFit/>
          </a:bodyPr>
          <a:lstStyle/>
          <a:p>
            <a:pPr algn="ctr">
              <a:lnSpc>
                <a:spcPts val="3359"/>
              </a:lnSpc>
            </a:pPr>
            <a:r>
              <a:rPr lang="en-US" sz="2399" spc="-71">
                <a:solidFill>
                  <a:srgbClr val="4A4A4A"/>
                </a:solidFill>
                <a:latin typeface="True Typewriter"/>
                <a:ea typeface="True Typewriter"/>
                <a:cs typeface="True Typewriter"/>
                <a:sym typeface="True Typewriter"/>
              </a:rPr>
              <a:t>N</a:t>
            </a:r>
            <a:r>
              <a:rPr lang="en-US" sz="2399" spc="-71">
                <a:solidFill>
                  <a:srgbClr val="4A4A4A"/>
                </a:solidFill>
                <a:latin typeface="True Typewriter"/>
                <a:ea typeface="True Typewriter"/>
                <a:cs typeface="True Typewriter"/>
                <a:sym typeface="True Typewriter"/>
              </a:rPr>
              <a:t>gười sử dụng ngòi bút như một công cụ sắc bén trên mặt trận văn hóa quốc tế. Các bài viết luôn ngắn gọn, dễ hiểu và truyền tải sâu sắc tinh thần yêu chuộng hòa bình của Việt Nam.</a:t>
            </a:r>
          </a:p>
        </p:txBody>
      </p:sp>
    </p:spTree>
  </p:cSld>
  <p:clrMapOvr>
    <a:masterClrMapping/>
  </p:clrMapOvr>
  <p:transition spd="med">
    <p:fade/>
  </p:transition>
</p:sld>
</file>

<file path=ppt/slides/slide8.xml><?xml version="1.0" encoding="utf-8"?>
<p:sld xmlns:p="http://schemas.openxmlformats.org/presentationml/2006/main" xmlns:a="http://schemas.openxmlformats.org/drawingml/2006/main">
  <p:cSld>
    <p:bg>
      <p:bgPr>
        <a:solidFill>
          <a:srgbClr val="B63335"/>
        </a:solidFill>
      </p:bgPr>
    </p:bg>
    <p:spTree>
      <p:nvGrpSpPr>
        <p:cNvPr id="1" name=""/>
        <p:cNvGrpSpPr/>
        <p:nvPr/>
      </p:nvGrpSpPr>
      <p:grpSpPr>
        <a:xfrm>
          <a:off x="0" y="0"/>
          <a:ext cx="0" cy="0"/>
          <a:chOff x="0" y="0"/>
          <a:chExt cx="0" cy="0"/>
        </a:xfrm>
      </p:grpSpPr>
      <p:grpSp>
        <p:nvGrpSpPr>
          <p:cNvPr name="Group 2" id="2"/>
          <p:cNvGrpSpPr/>
          <p:nvPr/>
        </p:nvGrpSpPr>
        <p:grpSpPr>
          <a:xfrm rot="0">
            <a:off x="5622471" y="-946972"/>
            <a:ext cx="7043057" cy="6712914"/>
            <a:chOff x="0" y="0"/>
            <a:chExt cx="812800" cy="774700"/>
          </a:xfrm>
        </p:grpSpPr>
        <p:sp>
          <p:nvSpPr>
            <p:cNvPr name="Freeform 3" id="3"/>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4DC71">
                <a:alpha val="11765"/>
              </a:srgbClr>
            </a:solidFill>
          </p:spPr>
        </p:sp>
        <p:sp>
          <p:nvSpPr>
            <p:cNvPr name="TextBox 4" id="4"/>
            <p:cNvSpPr txBox="true"/>
            <p:nvPr/>
          </p:nvSpPr>
          <p:spPr>
            <a:xfrm>
              <a:off x="228600" y="190500"/>
              <a:ext cx="355600" cy="419100"/>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548496" y="4052273"/>
            <a:ext cx="7177785" cy="3846439"/>
            <a:chOff x="0" y="0"/>
            <a:chExt cx="1890445" cy="1013054"/>
          </a:xfrm>
        </p:grpSpPr>
        <p:sp>
          <p:nvSpPr>
            <p:cNvPr name="Freeform 6" id="6"/>
            <p:cNvSpPr/>
            <p:nvPr/>
          </p:nvSpPr>
          <p:spPr>
            <a:xfrm flipH="false" flipV="false" rot="0">
              <a:off x="0" y="0"/>
              <a:ext cx="1890445" cy="1013054"/>
            </a:xfrm>
            <a:custGeom>
              <a:avLst/>
              <a:gdLst/>
              <a:ahLst/>
              <a:cxnLst/>
              <a:rect r="r" b="b" t="t" l="l"/>
              <a:pathLst>
                <a:path h="1013054" w="1890445">
                  <a:moveTo>
                    <a:pt x="0" y="0"/>
                  </a:moveTo>
                  <a:lnTo>
                    <a:pt x="1890445" y="0"/>
                  </a:lnTo>
                  <a:lnTo>
                    <a:pt x="1890445" y="1013054"/>
                  </a:lnTo>
                  <a:lnTo>
                    <a:pt x="0" y="1013054"/>
                  </a:lnTo>
                  <a:close/>
                </a:path>
              </a:pathLst>
            </a:custGeom>
            <a:solidFill>
              <a:srgbClr val="B63336"/>
            </a:solidFill>
            <a:ln w="28575" cap="sq">
              <a:solidFill>
                <a:srgbClr val="F4DC71"/>
              </a:solidFill>
              <a:prstDash val="solid"/>
              <a:miter/>
            </a:ln>
          </p:spPr>
        </p:sp>
        <p:sp>
          <p:nvSpPr>
            <p:cNvPr name="TextBox 7" id="7"/>
            <p:cNvSpPr txBox="true"/>
            <p:nvPr/>
          </p:nvSpPr>
          <p:spPr>
            <a:xfrm>
              <a:off x="0" y="-76200"/>
              <a:ext cx="1890445" cy="1089254"/>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9542143" y="4052273"/>
            <a:ext cx="7177785" cy="3846439"/>
            <a:chOff x="0" y="0"/>
            <a:chExt cx="1890445" cy="1013054"/>
          </a:xfrm>
        </p:grpSpPr>
        <p:sp>
          <p:nvSpPr>
            <p:cNvPr name="Freeform 9" id="9"/>
            <p:cNvSpPr/>
            <p:nvPr/>
          </p:nvSpPr>
          <p:spPr>
            <a:xfrm flipH="false" flipV="false" rot="0">
              <a:off x="0" y="0"/>
              <a:ext cx="1890445" cy="1013054"/>
            </a:xfrm>
            <a:custGeom>
              <a:avLst/>
              <a:gdLst/>
              <a:ahLst/>
              <a:cxnLst/>
              <a:rect r="r" b="b" t="t" l="l"/>
              <a:pathLst>
                <a:path h="1013054" w="1890445">
                  <a:moveTo>
                    <a:pt x="0" y="0"/>
                  </a:moveTo>
                  <a:lnTo>
                    <a:pt x="1890445" y="0"/>
                  </a:lnTo>
                  <a:lnTo>
                    <a:pt x="1890445" y="1013054"/>
                  </a:lnTo>
                  <a:lnTo>
                    <a:pt x="0" y="1013054"/>
                  </a:lnTo>
                  <a:close/>
                </a:path>
              </a:pathLst>
            </a:custGeom>
            <a:solidFill>
              <a:srgbClr val="B63336"/>
            </a:solidFill>
            <a:ln w="28575" cap="sq">
              <a:solidFill>
                <a:srgbClr val="F4DC71"/>
              </a:solidFill>
              <a:prstDash val="solid"/>
              <a:miter/>
            </a:ln>
          </p:spPr>
        </p:sp>
        <p:sp>
          <p:nvSpPr>
            <p:cNvPr name="TextBox 10" id="10"/>
            <p:cNvSpPr txBox="true"/>
            <p:nvPr/>
          </p:nvSpPr>
          <p:spPr>
            <a:xfrm>
              <a:off x="0" y="-76200"/>
              <a:ext cx="1890445" cy="1089254"/>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0">
            <a:off x="-46997" y="9258300"/>
            <a:ext cx="18381994" cy="1028700"/>
            <a:chOff x="0" y="0"/>
            <a:chExt cx="4841348" cy="270933"/>
          </a:xfrm>
        </p:grpSpPr>
        <p:sp>
          <p:nvSpPr>
            <p:cNvPr name="Freeform 12" id="12"/>
            <p:cNvSpPr/>
            <p:nvPr/>
          </p:nvSpPr>
          <p:spPr>
            <a:xfrm flipH="false" flipV="false" rot="0">
              <a:off x="0" y="0"/>
              <a:ext cx="4841348" cy="270933"/>
            </a:xfrm>
            <a:custGeom>
              <a:avLst/>
              <a:gdLst/>
              <a:ahLst/>
              <a:cxnLst/>
              <a:rect r="r" b="b" t="t" l="l"/>
              <a:pathLst>
                <a:path h="270933" w="4841348">
                  <a:moveTo>
                    <a:pt x="0" y="0"/>
                  </a:moveTo>
                  <a:lnTo>
                    <a:pt x="4841348" y="0"/>
                  </a:lnTo>
                  <a:lnTo>
                    <a:pt x="4841348" y="270933"/>
                  </a:lnTo>
                  <a:lnTo>
                    <a:pt x="0" y="270933"/>
                  </a:lnTo>
                  <a:close/>
                </a:path>
              </a:pathLst>
            </a:custGeom>
            <a:solidFill>
              <a:srgbClr val="FFFEF6"/>
            </a:solidFill>
          </p:spPr>
        </p:sp>
        <p:sp>
          <p:nvSpPr>
            <p:cNvPr name="TextBox 13" id="13"/>
            <p:cNvSpPr txBox="true"/>
            <p:nvPr/>
          </p:nvSpPr>
          <p:spPr>
            <a:xfrm>
              <a:off x="0" y="-76200"/>
              <a:ext cx="4841348" cy="347133"/>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2203518" y="4856126"/>
            <a:ext cx="5867741" cy="2529840"/>
          </a:xfrm>
          <a:prstGeom prst="rect">
            <a:avLst/>
          </a:prstGeom>
        </p:spPr>
        <p:txBody>
          <a:bodyPr anchor="t" rtlCol="false" tIns="0" lIns="0" bIns="0" rIns="0">
            <a:spAutoFit/>
          </a:bodyPr>
          <a:lstStyle/>
          <a:p>
            <a:pPr algn="ctr" marL="518158" indent="-259079" lvl="1">
              <a:lnSpc>
                <a:spcPts val="3359"/>
              </a:lnSpc>
              <a:buFont typeface="Arial"/>
              <a:buChar char="•"/>
            </a:pPr>
            <a:r>
              <a:rPr lang="en-US" sz="2399" spc="-23">
                <a:solidFill>
                  <a:srgbClr val="FFFEF6"/>
                </a:solidFill>
                <a:latin typeface="True Typewriter"/>
                <a:ea typeface="True Typewriter"/>
                <a:cs typeface="True Typewriter"/>
                <a:sym typeface="True Typewriter"/>
              </a:rPr>
              <a:t>T</a:t>
            </a:r>
            <a:r>
              <a:rPr lang="en-US" sz="2399" spc="-23">
                <a:solidFill>
                  <a:srgbClr val="FFFEF6"/>
                </a:solidFill>
                <a:latin typeface="True Typewriter"/>
                <a:ea typeface="True Typewriter"/>
                <a:cs typeface="True Typewriter"/>
                <a:sym typeface="True Typewriter"/>
              </a:rPr>
              <a:t>iếng Anh: 25 bản dịch.</a:t>
            </a:r>
          </a:p>
          <a:p>
            <a:pPr algn="ctr" marL="518158" indent="-259079" lvl="1">
              <a:lnSpc>
                <a:spcPts val="3359"/>
              </a:lnSpc>
              <a:buFont typeface="Arial"/>
              <a:buChar char="•"/>
            </a:pPr>
            <a:r>
              <a:rPr lang="en-US" sz="2399" spc="-23">
                <a:solidFill>
                  <a:srgbClr val="FFFEF6"/>
                </a:solidFill>
                <a:latin typeface="True Typewriter"/>
                <a:ea typeface="True Typewriter"/>
                <a:cs typeface="True Typewriter"/>
                <a:sym typeface="True Typewriter"/>
              </a:rPr>
              <a:t>Tiếng Pháp: 18 bản dịch.</a:t>
            </a:r>
          </a:p>
          <a:p>
            <a:pPr algn="ctr" marL="518158" indent="-259079" lvl="1">
              <a:lnSpc>
                <a:spcPts val="3359"/>
              </a:lnSpc>
              <a:buFont typeface="Arial"/>
              <a:buChar char="•"/>
            </a:pPr>
            <a:r>
              <a:rPr lang="en-US" sz="2399" spc="-23">
                <a:solidFill>
                  <a:srgbClr val="FFFEF6"/>
                </a:solidFill>
                <a:latin typeface="True Typewriter"/>
                <a:ea typeface="True Typewriter"/>
                <a:cs typeface="True Typewriter"/>
                <a:sym typeface="True Typewriter"/>
              </a:rPr>
              <a:t>Tiếng Trung: 22 bản dịch.</a:t>
            </a:r>
          </a:p>
          <a:p>
            <a:pPr algn="ctr" marL="518158" indent="-259079" lvl="1">
              <a:lnSpc>
                <a:spcPts val="3359"/>
              </a:lnSpc>
              <a:buFont typeface="Arial"/>
              <a:buChar char="•"/>
            </a:pPr>
            <a:r>
              <a:rPr lang="en-US" sz="2399" spc="-23">
                <a:solidFill>
                  <a:srgbClr val="FFFEF6"/>
                </a:solidFill>
                <a:latin typeface="True Typewriter"/>
                <a:ea typeface="True Typewriter"/>
                <a:cs typeface="True Typewriter"/>
                <a:sym typeface="True Typewriter"/>
              </a:rPr>
              <a:t>Tiếng Nga: 15 bản dịch.</a:t>
            </a:r>
          </a:p>
          <a:p>
            <a:pPr algn="ctr" marL="518158" indent="-259079" lvl="1">
              <a:lnSpc>
                <a:spcPts val="3359"/>
              </a:lnSpc>
              <a:buFont typeface="Arial"/>
              <a:buChar char="•"/>
            </a:pPr>
            <a:r>
              <a:rPr lang="en-US" sz="2399" spc="-23">
                <a:solidFill>
                  <a:srgbClr val="FFFEF6"/>
                </a:solidFill>
                <a:latin typeface="True Typewriter"/>
                <a:ea typeface="True Typewriter"/>
                <a:cs typeface="True Typewriter"/>
                <a:sym typeface="True Typewriter"/>
              </a:rPr>
              <a:t>Tiếng Tây Ban Nha: 12 bản dịch.</a:t>
            </a:r>
          </a:p>
          <a:p>
            <a:pPr algn="ctr" marL="518158" indent="-259079" lvl="1">
              <a:lnSpc>
                <a:spcPts val="3359"/>
              </a:lnSpc>
              <a:buFont typeface="Arial"/>
              <a:buChar char="•"/>
            </a:pPr>
            <a:r>
              <a:rPr lang="en-US" sz="2399" spc="-23">
                <a:solidFill>
                  <a:srgbClr val="FFFEF6"/>
                </a:solidFill>
                <a:latin typeface="True Typewriter"/>
                <a:ea typeface="True Typewriter"/>
                <a:cs typeface="True Typewriter"/>
                <a:sym typeface="True Typewriter"/>
              </a:rPr>
              <a:t>Tiếng Đức: 10 bản dịch.</a:t>
            </a:r>
          </a:p>
        </p:txBody>
      </p:sp>
      <p:sp>
        <p:nvSpPr>
          <p:cNvPr name="TextBox 15" id="15"/>
          <p:cNvSpPr txBox="true"/>
          <p:nvPr/>
        </p:nvSpPr>
        <p:spPr>
          <a:xfrm rot="0">
            <a:off x="10197166" y="5065676"/>
            <a:ext cx="5867741" cy="2110740"/>
          </a:xfrm>
          <a:prstGeom prst="rect">
            <a:avLst/>
          </a:prstGeom>
        </p:spPr>
        <p:txBody>
          <a:bodyPr anchor="t" rtlCol="false" tIns="0" lIns="0" bIns="0" rIns="0">
            <a:spAutoFit/>
          </a:bodyPr>
          <a:lstStyle/>
          <a:p>
            <a:pPr algn="ctr" marL="518158" indent="-259079" lvl="1">
              <a:lnSpc>
                <a:spcPts val="3359"/>
              </a:lnSpc>
              <a:buFont typeface="Arial"/>
              <a:buChar char="•"/>
            </a:pPr>
            <a:r>
              <a:rPr lang="en-US" sz="2399" spc="-23">
                <a:solidFill>
                  <a:srgbClr val="FFFEF6"/>
                </a:solidFill>
                <a:latin typeface="True Typewriter"/>
                <a:ea typeface="True Typewriter"/>
                <a:cs typeface="True Typewriter"/>
                <a:sym typeface="True Typewriter"/>
              </a:rPr>
              <a:t>Pháp</a:t>
            </a:r>
            <a:r>
              <a:rPr lang="en-US" sz="2399" spc="-23">
                <a:solidFill>
                  <a:srgbClr val="FFFEF6"/>
                </a:solidFill>
                <a:latin typeface="True Typewriter"/>
                <a:ea typeface="True Typewriter"/>
                <a:cs typeface="True Typewriter"/>
                <a:sym typeface="True Typewriter"/>
              </a:rPr>
              <a:t> (Châu Âu): 6 năm.</a:t>
            </a:r>
          </a:p>
          <a:p>
            <a:pPr algn="ctr" marL="518158" indent="-259079" lvl="1">
              <a:lnSpc>
                <a:spcPts val="3359"/>
              </a:lnSpc>
              <a:buFont typeface="Arial"/>
              <a:buChar char="•"/>
            </a:pPr>
            <a:r>
              <a:rPr lang="en-US" sz="2399" spc="-23">
                <a:solidFill>
                  <a:srgbClr val="FFFEF6"/>
                </a:solidFill>
                <a:latin typeface="True Typewriter"/>
                <a:ea typeface="True Typewriter"/>
                <a:cs typeface="True Typewriter"/>
                <a:sym typeface="True Typewriter"/>
              </a:rPr>
              <a:t>N</a:t>
            </a:r>
            <a:r>
              <a:rPr lang="en-US" sz="2399" spc="-23">
                <a:solidFill>
                  <a:srgbClr val="FFFEF6"/>
                </a:solidFill>
                <a:latin typeface="True Typewriter"/>
                <a:ea typeface="True Typewriter"/>
                <a:cs typeface="True Typewriter"/>
                <a:sym typeface="True Typewriter"/>
              </a:rPr>
              <a:t>ga (Châu Âu/Á): 5 năm.</a:t>
            </a:r>
          </a:p>
          <a:p>
            <a:pPr algn="ctr" marL="518158" indent="-259079" lvl="1">
              <a:lnSpc>
                <a:spcPts val="3359"/>
              </a:lnSpc>
              <a:buFont typeface="Arial"/>
              <a:buChar char="•"/>
            </a:pPr>
            <a:r>
              <a:rPr lang="en-US" sz="2399" spc="-23">
                <a:solidFill>
                  <a:srgbClr val="FFFEF6"/>
                </a:solidFill>
                <a:latin typeface="True Typewriter"/>
                <a:ea typeface="True Typewriter"/>
                <a:cs typeface="True Typewriter"/>
                <a:sym typeface="True Typewriter"/>
              </a:rPr>
              <a:t>Trung Quốc (Châu Á): 10 năm.</a:t>
            </a:r>
          </a:p>
          <a:p>
            <a:pPr algn="ctr" marL="518158" indent="-259079" lvl="1">
              <a:lnSpc>
                <a:spcPts val="3359"/>
              </a:lnSpc>
              <a:buFont typeface="Arial"/>
              <a:buChar char="•"/>
            </a:pPr>
            <a:r>
              <a:rPr lang="en-US" sz="2399" spc="-23">
                <a:solidFill>
                  <a:srgbClr val="FFFEF6"/>
                </a:solidFill>
                <a:latin typeface="True Typewriter"/>
                <a:ea typeface="True Typewriter"/>
                <a:cs typeface="True Typewriter"/>
                <a:sym typeface="True Typewriter"/>
              </a:rPr>
              <a:t>Thái Lan (Châu Á): 2 năm.</a:t>
            </a:r>
          </a:p>
          <a:p>
            <a:pPr algn="ctr" marL="518158" indent="-259079" lvl="1">
              <a:lnSpc>
                <a:spcPts val="3359"/>
              </a:lnSpc>
              <a:buFont typeface="Arial"/>
              <a:buChar char="•"/>
            </a:pPr>
            <a:r>
              <a:rPr lang="en-US" sz="2399" spc="-23">
                <a:solidFill>
                  <a:srgbClr val="FFFEF6"/>
                </a:solidFill>
                <a:latin typeface="True Typewriter"/>
                <a:ea typeface="True Typewriter"/>
                <a:cs typeface="True Typewriter"/>
                <a:sym typeface="True Typewriter"/>
              </a:rPr>
              <a:t>Mỹ</a:t>
            </a:r>
            <a:r>
              <a:rPr lang="en-US" sz="2399" spc="-23">
                <a:solidFill>
                  <a:srgbClr val="FFFEF6"/>
                </a:solidFill>
                <a:latin typeface="True Typewriter"/>
                <a:ea typeface="True Typewriter"/>
                <a:cs typeface="True Typewriter"/>
                <a:sym typeface="True Typewriter"/>
              </a:rPr>
              <a:t> (Châu Mỹ): 1 năm</a:t>
            </a:r>
          </a:p>
        </p:txBody>
      </p:sp>
      <p:sp>
        <p:nvSpPr>
          <p:cNvPr name="TextBox 16" id="16"/>
          <p:cNvSpPr txBox="true"/>
          <p:nvPr/>
        </p:nvSpPr>
        <p:spPr>
          <a:xfrm rot="0">
            <a:off x="3714324" y="1417883"/>
            <a:ext cx="10859353" cy="1642110"/>
          </a:xfrm>
          <a:prstGeom prst="rect">
            <a:avLst/>
          </a:prstGeom>
        </p:spPr>
        <p:txBody>
          <a:bodyPr anchor="t" rtlCol="false" tIns="0" lIns="0" bIns="0" rIns="0">
            <a:spAutoFit/>
          </a:bodyPr>
          <a:lstStyle/>
          <a:p>
            <a:pPr algn="ctr">
              <a:lnSpc>
                <a:spcPts val="13439"/>
              </a:lnSpc>
            </a:pPr>
            <a:r>
              <a:rPr lang="en-US" sz="9600" spc="-1344">
                <a:solidFill>
                  <a:srgbClr val="F4DC71"/>
                </a:solidFill>
                <a:latin typeface="Barber FIll"/>
                <a:ea typeface="Barber FIll"/>
                <a:cs typeface="Barber FIll"/>
                <a:sym typeface="Barber FIll"/>
              </a:rPr>
              <a:t>TẦM ẢNH HƯỞNG</a:t>
            </a:r>
          </a:p>
        </p:txBody>
      </p:sp>
      <p:grpSp>
        <p:nvGrpSpPr>
          <p:cNvPr name="Group 17" id="17"/>
          <p:cNvGrpSpPr/>
          <p:nvPr/>
        </p:nvGrpSpPr>
        <p:grpSpPr>
          <a:xfrm rot="0">
            <a:off x="1876176" y="3669125"/>
            <a:ext cx="6522423" cy="766295"/>
            <a:chOff x="0" y="0"/>
            <a:chExt cx="8696564" cy="1021726"/>
          </a:xfrm>
        </p:grpSpPr>
        <p:grpSp>
          <p:nvGrpSpPr>
            <p:cNvPr name="Group 18" id="18"/>
            <p:cNvGrpSpPr/>
            <p:nvPr/>
          </p:nvGrpSpPr>
          <p:grpSpPr>
            <a:xfrm rot="0">
              <a:off x="0" y="0"/>
              <a:ext cx="8696564" cy="1021726"/>
              <a:chOff x="0" y="0"/>
              <a:chExt cx="1890445" cy="222101"/>
            </a:xfrm>
          </p:grpSpPr>
          <p:sp>
            <p:nvSpPr>
              <p:cNvPr name="Freeform 19" id="19"/>
              <p:cNvSpPr/>
              <p:nvPr/>
            </p:nvSpPr>
            <p:spPr>
              <a:xfrm flipH="false" flipV="false" rot="0">
                <a:off x="0" y="0"/>
                <a:ext cx="1890445" cy="222101"/>
              </a:xfrm>
              <a:custGeom>
                <a:avLst/>
                <a:gdLst/>
                <a:ahLst/>
                <a:cxnLst/>
                <a:rect r="r" b="b" t="t" l="l"/>
                <a:pathLst>
                  <a:path h="222101" w="1890445">
                    <a:moveTo>
                      <a:pt x="0" y="0"/>
                    </a:moveTo>
                    <a:lnTo>
                      <a:pt x="1890445" y="0"/>
                    </a:lnTo>
                    <a:lnTo>
                      <a:pt x="1890445" y="222101"/>
                    </a:lnTo>
                    <a:lnTo>
                      <a:pt x="0" y="222101"/>
                    </a:lnTo>
                    <a:close/>
                  </a:path>
                </a:pathLst>
              </a:custGeom>
              <a:solidFill>
                <a:srgbClr val="F4DC71"/>
              </a:solidFill>
            </p:spPr>
          </p:sp>
          <p:sp>
            <p:nvSpPr>
              <p:cNvPr name="TextBox 20" id="20"/>
              <p:cNvSpPr txBox="true"/>
              <p:nvPr/>
            </p:nvSpPr>
            <p:spPr>
              <a:xfrm>
                <a:off x="0" y="-76200"/>
                <a:ext cx="1890445" cy="298301"/>
              </a:xfrm>
              <a:prstGeom prst="rect">
                <a:avLst/>
              </a:prstGeom>
            </p:spPr>
            <p:txBody>
              <a:bodyPr anchor="ctr" rtlCol="false" tIns="50800" lIns="50800" bIns="50800" rIns="50800"/>
              <a:lstStyle/>
              <a:p>
                <a:pPr algn="ctr">
                  <a:lnSpc>
                    <a:spcPts val="2520"/>
                  </a:lnSpc>
                </a:pPr>
              </a:p>
            </p:txBody>
          </p:sp>
        </p:grpSp>
        <p:sp>
          <p:nvSpPr>
            <p:cNvPr name="TextBox 21" id="21"/>
            <p:cNvSpPr txBox="true"/>
            <p:nvPr/>
          </p:nvSpPr>
          <p:spPr>
            <a:xfrm rot="0">
              <a:off x="400883" y="269563"/>
              <a:ext cx="7894799" cy="482600"/>
            </a:xfrm>
            <a:prstGeom prst="rect">
              <a:avLst/>
            </a:prstGeom>
          </p:spPr>
          <p:txBody>
            <a:bodyPr anchor="t" rtlCol="false" tIns="0" lIns="0" bIns="0" rIns="0">
              <a:spAutoFit/>
            </a:bodyPr>
            <a:lstStyle/>
            <a:p>
              <a:pPr algn="ctr">
                <a:lnSpc>
                  <a:spcPts val="2879"/>
                </a:lnSpc>
              </a:pPr>
              <a:r>
                <a:rPr lang="en-US" sz="2400" spc="-336">
                  <a:solidFill>
                    <a:srgbClr val="B63336"/>
                  </a:solidFill>
                  <a:latin typeface="Barber FIll"/>
                  <a:ea typeface="Barber FIll"/>
                  <a:cs typeface="Barber FIll"/>
                  <a:sym typeface="Barber FIll"/>
                </a:rPr>
                <a:t>THỐNG KÊ DỊCH THUẬT TÁC PHẨM </a:t>
              </a:r>
            </a:p>
          </p:txBody>
        </p:sp>
      </p:grpSp>
      <p:grpSp>
        <p:nvGrpSpPr>
          <p:cNvPr name="Group 22" id="22"/>
          <p:cNvGrpSpPr/>
          <p:nvPr/>
        </p:nvGrpSpPr>
        <p:grpSpPr>
          <a:xfrm rot="0">
            <a:off x="9869824" y="3669125"/>
            <a:ext cx="6522423" cy="766295"/>
            <a:chOff x="0" y="0"/>
            <a:chExt cx="8696564" cy="1021726"/>
          </a:xfrm>
        </p:grpSpPr>
        <p:grpSp>
          <p:nvGrpSpPr>
            <p:cNvPr name="Group 23" id="23"/>
            <p:cNvGrpSpPr/>
            <p:nvPr/>
          </p:nvGrpSpPr>
          <p:grpSpPr>
            <a:xfrm rot="0">
              <a:off x="0" y="0"/>
              <a:ext cx="8696564" cy="1021726"/>
              <a:chOff x="0" y="0"/>
              <a:chExt cx="1890445" cy="222101"/>
            </a:xfrm>
          </p:grpSpPr>
          <p:sp>
            <p:nvSpPr>
              <p:cNvPr name="Freeform 24" id="24"/>
              <p:cNvSpPr/>
              <p:nvPr/>
            </p:nvSpPr>
            <p:spPr>
              <a:xfrm flipH="false" flipV="false" rot="0">
                <a:off x="0" y="0"/>
                <a:ext cx="1890445" cy="222101"/>
              </a:xfrm>
              <a:custGeom>
                <a:avLst/>
                <a:gdLst/>
                <a:ahLst/>
                <a:cxnLst/>
                <a:rect r="r" b="b" t="t" l="l"/>
                <a:pathLst>
                  <a:path h="222101" w="1890445">
                    <a:moveTo>
                      <a:pt x="0" y="0"/>
                    </a:moveTo>
                    <a:lnTo>
                      <a:pt x="1890445" y="0"/>
                    </a:lnTo>
                    <a:lnTo>
                      <a:pt x="1890445" y="222101"/>
                    </a:lnTo>
                    <a:lnTo>
                      <a:pt x="0" y="222101"/>
                    </a:lnTo>
                    <a:close/>
                  </a:path>
                </a:pathLst>
              </a:custGeom>
              <a:solidFill>
                <a:srgbClr val="F4DC71"/>
              </a:solidFill>
            </p:spPr>
          </p:sp>
          <p:sp>
            <p:nvSpPr>
              <p:cNvPr name="TextBox 25" id="25"/>
              <p:cNvSpPr txBox="true"/>
              <p:nvPr/>
            </p:nvSpPr>
            <p:spPr>
              <a:xfrm>
                <a:off x="0" y="-76200"/>
                <a:ext cx="1890445" cy="298301"/>
              </a:xfrm>
              <a:prstGeom prst="rect">
                <a:avLst/>
              </a:prstGeom>
            </p:spPr>
            <p:txBody>
              <a:bodyPr anchor="ctr" rtlCol="false" tIns="50800" lIns="50800" bIns="50800" rIns="50800"/>
              <a:lstStyle/>
              <a:p>
                <a:pPr algn="ctr">
                  <a:lnSpc>
                    <a:spcPts val="2520"/>
                  </a:lnSpc>
                </a:pPr>
              </a:p>
            </p:txBody>
          </p:sp>
        </p:grpSp>
        <p:sp>
          <p:nvSpPr>
            <p:cNvPr name="TextBox 26" id="26"/>
            <p:cNvSpPr txBox="true"/>
            <p:nvPr/>
          </p:nvSpPr>
          <p:spPr>
            <a:xfrm rot="0">
              <a:off x="400883" y="269563"/>
              <a:ext cx="7894799" cy="482600"/>
            </a:xfrm>
            <a:prstGeom prst="rect">
              <a:avLst/>
            </a:prstGeom>
          </p:spPr>
          <p:txBody>
            <a:bodyPr anchor="t" rtlCol="false" tIns="0" lIns="0" bIns="0" rIns="0">
              <a:spAutoFit/>
            </a:bodyPr>
            <a:lstStyle/>
            <a:p>
              <a:pPr algn="ctr">
                <a:lnSpc>
                  <a:spcPts val="2879"/>
                </a:lnSpc>
              </a:pPr>
              <a:r>
                <a:rPr lang="en-US" sz="2400" spc="-336">
                  <a:solidFill>
                    <a:srgbClr val="B63336"/>
                  </a:solidFill>
                  <a:latin typeface="Barber FIll"/>
                  <a:ea typeface="Barber FIll"/>
                  <a:cs typeface="Barber FIll"/>
                  <a:sym typeface="Barber FIll"/>
                </a:rPr>
                <a:t>HOẠT ĐỘNG TẠI CÁC CHÂU LỤC</a:t>
              </a:r>
            </a:p>
          </p:txBody>
        </p:sp>
      </p:grpSp>
      <p:sp>
        <p:nvSpPr>
          <p:cNvPr name="TextBox 27" id="27"/>
          <p:cNvSpPr txBox="true"/>
          <p:nvPr/>
        </p:nvSpPr>
        <p:spPr>
          <a:xfrm rot="0">
            <a:off x="7114736" y="9545519"/>
            <a:ext cx="4312484" cy="344805"/>
          </a:xfrm>
          <a:prstGeom prst="rect">
            <a:avLst/>
          </a:prstGeom>
        </p:spPr>
        <p:txBody>
          <a:bodyPr anchor="t" rtlCol="false" tIns="0" lIns="0" bIns="0" rIns="0">
            <a:spAutoFit/>
          </a:bodyPr>
          <a:lstStyle/>
          <a:p>
            <a:pPr algn="ctr" marL="0" indent="0" lvl="0">
              <a:lnSpc>
                <a:spcPts val="2520"/>
              </a:lnSpc>
              <a:spcBef>
                <a:spcPct val="0"/>
              </a:spcBef>
            </a:pPr>
            <a:r>
              <a:rPr lang="en-US" sz="1800">
                <a:solidFill>
                  <a:srgbClr val="4A4A4A"/>
                </a:solidFill>
                <a:latin typeface="True Typewriter"/>
                <a:ea typeface="True Typewriter"/>
                <a:cs typeface="True Typewriter"/>
                <a:sym typeface="True Typewriter"/>
              </a:rPr>
              <a:t>CUỘ</a:t>
            </a:r>
            <a:r>
              <a:rPr lang="en-US" sz="1800" strike="noStrike" u="none">
                <a:solidFill>
                  <a:srgbClr val="4A4A4A"/>
                </a:solidFill>
                <a:latin typeface="True Typewriter"/>
                <a:ea typeface="True Typewriter"/>
                <a:cs typeface="True Typewriter"/>
                <a:sym typeface="True Typewriter"/>
              </a:rPr>
              <a:t>C ĐỜI VÀ SỰ NGHIỆP CHỦ TỊCH HỒ CHÍ MINH </a:t>
            </a:r>
          </a:p>
        </p:txBody>
      </p:sp>
      <p:sp>
        <p:nvSpPr>
          <p:cNvPr name="TextBox 28" id="28"/>
          <p:cNvSpPr txBox="true"/>
          <p:nvPr/>
        </p:nvSpPr>
        <p:spPr>
          <a:xfrm rot="0">
            <a:off x="1548496" y="9545519"/>
            <a:ext cx="2887222" cy="344805"/>
          </a:xfrm>
          <a:prstGeom prst="rect">
            <a:avLst/>
          </a:prstGeom>
        </p:spPr>
        <p:txBody>
          <a:bodyPr anchor="t" rtlCol="false" tIns="0" lIns="0" bIns="0" rIns="0">
            <a:spAutoFit/>
          </a:bodyPr>
          <a:lstStyle/>
          <a:p>
            <a:pPr algn="l">
              <a:lnSpc>
                <a:spcPts val="2520"/>
              </a:lnSpc>
              <a:spcBef>
                <a:spcPct val="0"/>
              </a:spcBef>
            </a:pPr>
            <a:r>
              <a:rPr lang="en-US" sz="1800">
                <a:solidFill>
                  <a:srgbClr val="4A4A4A"/>
                </a:solidFill>
                <a:latin typeface="True Typewriter"/>
                <a:ea typeface="True Typewriter"/>
                <a:cs typeface="True Typewriter"/>
                <a:sym typeface="True Typewriter"/>
              </a:rPr>
              <a:t>GIÁO VIÊN THỰC HIỆN: NGUYỄN HƯƠNG LY</a:t>
            </a:r>
          </a:p>
        </p:txBody>
      </p:sp>
      <p:sp>
        <p:nvSpPr>
          <p:cNvPr name="TextBox 29" id="29"/>
          <p:cNvSpPr txBox="true"/>
          <p:nvPr/>
        </p:nvSpPr>
        <p:spPr>
          <a:xfrm rot="0">
            <a:off x="14086662" y="9545519"/>
            <a:ext cx="2633266" cy="344805"/>
          </a:xfrm>
          <a:prstGeom prst="rect">
            <a:avLst/>
          </a:prstGeom>
        </p:spPr>
        <p:txBody>
          <a:bodyPr anchor="t" rtlCol="false" tIns="0" lIns="0" bIns="0" rIns="0">
            <a:spAutoFit/>
          </a:bodyPr>
          <a:lstStyle/>
          <a:p>
            <a:pPr algn="r">
              <a:lnSpc>
                <a:spcPts val="2520"/>
              </a:lnSpc>
              <a:spcBef>
                <a:spcPct val="0"/>
              </a:spcBef>
            </a:pPr>
            <a:r>
              <a:rPr lang="en-US" sz="1800">
                <a:solidFill>
                  <a:srgbClr val="4A4A4A"/>
                </a:solidFill>
                <a:latin typeface="True Typewriter"/>
                <a:ea typeface="True Typewriter"/>
                <a:cs typeface="True Typewriter"/>
                <a:sym typeface="True Typewriter"/>
              </a:rPr>
              <a:t>WWW.REALLYGREATSITE.COM</a:t>
            </a:r>
          </a:p>
        </p:txBody>
      </p:sp>
    </p:spTree>
  </p:cSld>
  <p:clrMapOvr>
    <a:masterClrMapping/>
  </p:clrMapOvr>
  <p:transition spd="med">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B63335"/>
        </a:solidFill>
      </p:bgPr>
    </p:bg>
    <p:spTree>
      <p:nvGrpSpPr>
        <p:cNvPr id="1" name=""/>
        <p:cNvGrpSpPr/>
        <p:nvPr/>
      </p:nvGrpSpPr>
      <p:grpSpPr>
        <a:xfrm>
          <a:off x="0" y="0"/>
          <a:ext cx="0" cy="0"/>
          <a:chOff x="0" y="0"/>
          <a:chExt cx="0" cy="0"/>
        </a:xfrm>
      </p:grpSpPr>
      <p:grpSp>
        <p:nvGrpSpPr>
          <p:cNvPr name="Group 2" id="2"/>
          <p:cNvGrpSpPr/>
          <p:nvPr/>
        </p:nvGrpSpPr>
        <p:grpSpPr>
          <a:xfrm rot="0">
            <a:off x="-2010593" y="-1605210"/>
            <a:ext cx="9971328" cy="9503922"/>
            <a:chOff x="0" y="0"/>
            <a:chExt cx="812800" cy="774700"/>
          </a:xfrm>
        </p:grpSpPr>
        <p:sp>
          <p:nvSpPr>
            <p:cNvPr name="Freeform 3" id="3"/>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4DC71">
                <a:alpha val="49804"/>
              </a:srgbClr>
            </a:solidFill>
          </p:spPr>
        </p:sp>
        <p:sp>
          <p:nvSpPr>
            <p:cNvPr name="TextBox 4" id="4"/>
            <p:cNvSpPr txBox="true"/>
            <p:nvPr/>
          </p:nvSpPr>
          <p:spPr>
            <a:xfrm>
              <a:off x="228600" y="190500"/>
              <a:ext cx="355600" cy="419100"/>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46997" y="9258300"/>
            <a:ext cx="18381994" cy="1028700"/>
            <a:chOff x="0" y="0"/>
            <a:chExt cx="4841348" cy="270933"/>
          </a:xfrm>
        </p:grpSpPr>
        <p:sp>
          <p:nvSpPr>
            <p:cNvPr name="Freeform 6" id="6"/>
            <p:cNvSpPr/>
            <p:nvPr/>
          </p:nvSpPr>
          <p:spPr>
            <a:xfrm flipH="false" flipV="false" rot="0">
              <a:off x="0" y="0"/>
              <a:ext cx="4841348" cy="270933"/>
            </a:xfrm>
            <a:custGeom>
              <a:avLst/>
              <a:gdLst/>
              <a:ahLst/>
              <a:cxnLst/>
              <a:rect r="r" b="b" t="t" l="l"/>
              <a:pathLst>
                <a:path h="270933" w="4841348">
                  <a:moveTo>
                    <a:pt x="0" y="0"/>
                  </a:moveTo>
                  <a:lnTo>
                    <a:pt x="4841348" y="0"/>
                  </a:lnTo>
                  <a:lnTo>
                    <a:pt x="4841348" y="270933"/>
                  </a:lnTo>
                  <a:lnTo>
                    <a:pt x="0" y="270933"/>
                  </a:lnTo>
                  <a:close/>
                </a:path>
              </a:pathLst>
            </a:custGeom>
            <a:solidFill>
              <a:srgbClr val="FFFEF6"/>
            </a:solidFill>
          </p:spPr>
        </p:sp>
        <p:sp>
          <p:nvSpPr>
            <p:cNvPr name="TextBox 7" id="7"/>
            <p:cNvSpPr txBox="true"/>
            <p:nvPr/>
          </p:nvSpPr>
          <p:spPr>
            <a:xfrm>
              <a:off x="0" y="-76200"/>
              <a:ext cx="4841348" cy="34713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760044" y="2123701"/>
            <a:ext cx="9628131" cy="7134599"/>
            <a:chOff x="0" y="0"/>
            <a:chExt cx="12837508" cy="9512799"/>
          </a:xfrm>
        </p:grpSpPr>
        <p:sp>
          <p:nvSpPr>
            <p:cNvPr name="Freeform 9" id="9"/>
            <p:cNvSpPr/>
            <p:nvPr/>
          </p:nvSpPr>
          <p:spPr>
            <a:xfrm flipH="false" flipV="false" rot="0">
              <a:off x="0" y="0"/>
              <a:ext cx="12837508" cy="9512799"/>
            </a:xfrm>
            <a:custGeom>
              <a:avLst/>
              <a:gdLst/>
              <a:ahLst/>
              <a:cxnLst/>
              <a:rect r="r" b="b" t="t" l="l"/>
              <a:pathLst>
                <a:path h="9512799" w="12837508">
                  <a:moveTo>
                    <a:pt x="0" y="0"/>
                  </a:moveTo>
                  <a:lnTo>
                    <a:pt x="12837508" y="0"/>
                  </a:lnTo>
                  <a:lnTo>
                    <a:pt x="12837508" y="9512799"/>
                  </a:lnTo>
                  <a:lnTo>
                    <a:pt x="0" y="9512799"/>
                  </a:lnTo>
                  <a:lnTo>
                    <a:pt x="0" y="0"/>
                  </a:lnTo>
                  <a:close/>
                </a:path>
              </a:pathLst>
            </a:custGeom>
            <a:blipFill>
              <a:blip r:embed="rId2"/>
              <a:stretch>
                <a:fillRect l="-23021" t="-81169" r="-131390" b="-47573"/>
              </a:stretch>
            </a:blipFill>
          </p:spPr>
        </p:sp>
        <p:grpSp>
          <p:nvGrpSpPr>
            <p:cNvPr name="Group 10" id="10"/>
            <p:cNvGrpSpPr/>
            <p:nvPr/>
          </p:nvGrpSpPr>
          <p:grpSpPr>
            <a:xfrm rot="0">
              <a:off x="9432145" y="5397999"/>
              <a:ext cx="3405363" cy="4114800"/>
              <a:chOff x="0" y="0"/>
              <a:chExt cx="672664" cy="812800"/>
            </a:xfrm>
          </p:grpSpPr>
          <p:sp>
            <p:nvSpPr>
              <p:cNvPr name="Freeform 11" id="11"/>
              <p:cNvSpPr/>
              <p:nvPr/>
            </p:nvSpPr>
            <p:spPr>
              <a:xfrm flipH="false" flipV="false" rot="0">
                <a:off x="0" y="0"/>
                <a:ext cx="672664" cy="812800"/>
              </a:xfrm>
              <a:custGeom>
                <a:avLst/>
                <a:gdLst/>
                <a:ahLst/>
                <a:cxnLst/>
                <a:rect r="r" b="b" t="t" l="l"/>
                <a:pathLst>
                  <a:path h="812800" w="672664">
                    <a:moveTo>
                      <a:pt x="0" y="0"/>
                    </a:moveTo>
                    <a:lnTo>
                      <a:pt x="672664" y="0"/>
                    </a:lnTo>
                    <a:lnTo>
                      <a:pt x="672664" y="812800"/>
                    </a:lnTo>
                    <a:lnTo>
                      <a:pt x="0" y="812800"/>
                    </a:lnTo>
                    <a:close/>
                  </a:path>
                </a:pathLst>
              </a:custGeom>
              <a:gradFill rotWithShape="true">
                <a:gsLst>
                  <a:gs pos="0">
                    <a:srgbClr val="B63336">
                      <a:alpha val="0"/>
                    </a:srgbClr>
                  </a:gs>
                  <a:gs pos="25000">
                    <a:srgbClr val="B63336">
                      <a:alpha val="25000"/>
                    </a:srgbClr>
                  </a:gs>
                  <a:gs pos="50000">
                    <a:srgbClr val="B63336">
                      <a:alpha val="54000"/>
                    </a:srgbClr>
                  </a:gs>
                  <a:gs pos="75000">
                    <a:srgbClr val="B63336">
                      <a:alpha val="87500"/>
                    </a:srgbClr>
                  </a:gs>
                  <a:gs pos="100000">
                    <a:srgbClr val="B63336">
                      <a:alpha val="100000"/>
                    </a:srgbClr>
                  </a:gs>
                </a:gsLst>
                <a:lin ang="0"/>
              </a:gradFill>
            </p:spPr>
          </p:sp>
          <p:sp>
            <p:nvSpPr>
              <p:cNvPr name="TextBox 12" id="12"/>
              <p:cNvSpPr txBox="true"/>
              <p:nvPr/>
            </p:nvSpPr>
            <p:spPr>
              <a:xfrm>
                <a:off x="0" y="-76200"/>
                <a:ext cx="672664" cy="889000"/>
              </a:xfrm>
              <a:prstGeom prst="rect">
                <a:avLst/>
              </a:prstGeom>
            </p:spPr>
            <p:txBody>
              <a:bodyPr anchor="ctr" rtlCol="false" tIns="50800" lIns="50800" bIns="50800" rIns="50800"/>
              <a:lstStyle/>
              <a:p>
                <a:pPr algn="ctr">
                  <a:lnSpc>
                    <a:spcPts val="2520"/>
                  </a:lnSpc>
                </a:pPr>
              </a:p>
            </p:txBody>
          </p:sp>
        </p:grpSp>
      </p:grpSp>
      <p:sp>
        <p:nvSpPr>
          <p:cNvPr name="TextBox 13" id="13"/>
          <p:cNvSpPr txBox="true"/>
          <p:nvPr/>
        </p:nvSpPr>
        <p:spPr>
          <a:xfrm rot="0">
            <a:off x="10385891" y="1429002"/>
            <a:ext cx="6334038" cy="1642110"/>
          </a:xfrm>
          <a:prstGeom prst="rect">
            <a:avLst/>
          </a:prstGeom>
        </p:spPr>
        <p:txBody>
          <a:bodyPr anchor="t" rtlCol="false" tIns="0" lIns="0" bIns="0" rIns="0">
            <a:spAutoFit/>
          </a:bodyPr>
          <a:lstStyle/>
          <a:p>
            <a:pPr algn="r">
              <a:lnSpc>
                <a:spcPts val="13439"/>
              </a:lnSpc>
            </a:pPr>
            <a:r>
              <a:rPr lang="en-US" sz="9600" spc="-1344">
                <a:solidFill>
                  <a:srgbClr val="F4DC71"/>
                </a:solidFill>
                <a:latin typeface="Barber FIll"/>
                <a:ea typeface="Barber FIll"/>
                <a:cs typeface="Barber FIll"/>
                <a:sym typeface="Barber FIll"/>
              </a:rPr>
              <a:t>KẾT LUẬN</a:t>
            </a:r>
          </a:p>
        </p:txBody>
      </p:sp>
      <p:sp>
        <p:nvSpPr>
          <p:cNvPr name="TextBox 14" id="14"/>
          <p:cNvSpPr txBox="true"/>
          <p:nvPr/>
        </p:nvSpPr>
        <p:spPr>
          <a:xfrm rot="0">
            <a:off x="7114736" y="9545519"/>
            <a:ext cx="4312484" cy="344805"/>
          </a:xfrm>
          <a:prstGeom prst="rect">
            <a:avLst/>
          </a:prstGeom>
        </p:spPr>
        <p:txBody>
          <a:bodyPr anchor="t" rtlCol="false" tIns="0" lIns="0" bIns="0" rIns="0">
            <a:spAutoFit/>
          </a:bodyPr>
          <a:lstStyle/>
          <a:p>
            <a:pPr algn="ctr" marL="0" indent="0" lvl="0">
              <a:lnSpc>
                <a:spcPts val="2520"/>
              </a:lnSpc>
              <a:spcBef>
                <a:spcPct val="0"/>
              </a:spcBef>
            </a:pPr>
            <a:r>
              <a:rPr lang="en-US" sz="1800">
                <a:solidFill>
                  <a:srgbClr val="4A4A4A"/>
                </a:solidFill>
                <a:latin typeface="True Typewriter"/>
                <a:ea typeface="True Typewriter"/>
                <a:cs typeface="True Typewriter"/>
                <a:sym typeface="True Typewriter"/>
              </a:rPr>
              <a:t>CUỘ</a:t>
            </a:r>
            <a:r>
              <a:rPr lang="en-US" sz="1800" strike="noStrike" u="none">
                <a:solidFill>
                  <a:srgbClr val="4A4A4A"/>
                </a:solidFill>
                <a:latin typeface="True Typewriter"/>
                <a:ea typeface="True Typewriter"/>
                <a:cs typeface="True Typewriter"/>
                <a:sym typeface="True Typewriter"/>
              </a:rPr>
              <a:t>C ĐỜI VÀ SỰ NGHIỆP CHỦ TỊCH HỒ CHÍ MINH </a:t>
            </a:r>
          </a:p>
        </p:txBody>
      </p:sp>
      <p:sp>
        <p:nvSpPr>
          <p:cNvPr name="TextBox 15" id="15"/>
          <p:cNvSpPr txBox="true"/>
          <p:nvPr/>
        </p:nvSpPr>
        <p:spPr>
          <a:xfrm rot="0">
            <a:off x="1548496" y="9545519"/>
            <a:ext cx="2887222" cy="344805"/>
          </a:xfrm>
          <a:prstGeom prst="rect">
            <a:avLst/>
          </a:prstGeom>
        </p:spPr>
        <p:txBody>
          <a:bodyPr anchor="t" rtlCol="false" tIns="0" lIns="0" bIns="0" rIns="0">
            <a:spAutoFit/>
          </a:bodyPr>
          <a:lstStyle/>
          <a:p>
            <a:pPr algn="l">
              <a:lnSpc>
                <a:spcPts val="2520"/>
              </a:lnSpc>
              <a:spcBef>
                <a:spcPct val="0"/>
              </a:spcBef>
            </a:pPr>
            <a:r>
              <a:rPr lang="en-US" sz="1800">
                <a:solidFill>
                  <a:srgbClr val="4A4A4A"/>
                </a:solidFill>
                <a:latin typeface="True Typewriter"/>
                <a:ea typeface="True Typewriter"/>
                <a:cs typeface="True Typewriter"/>
                <a:sym typeface="True Typewriter"/>
              </a:rPr>
              <a:t>GIÁO VIÊN THỰC HIỆN: NGUYỄN HƯƠNG LY</a:t>
            </a:r>
          </a:p>
        </p:txBody>
      </p:sp>
      <p:sp>
        <p:nvSpPr>
          <p:cNvPr name="TextBox 16" id="16"/>
          <p:cNvSpPr txBox="true"/>
          <p:nvPr/>
        </p:nvSpPr>
        <p:spPr>
          <a:xfrm rot="0">
            <a:off x="14086662" y="9545519"/>
            <a:ext cx="2633266" cy="344805"/>
          </a:xfrm>
          <a:prstGeom prst="rect">
            <a:avLst/>
          </a:prstGeom>
        </p:spPr>
        <p:txBody>
          <a:bodyPr anchor="t" rtlCol="false" tIns="0" lIns="0" bIns="0" rIns="0">
            <a:spAutoFit/>
          </a:bodyPr>
          <a:lstStyle/>
          <a:p>
            <a:pPr algn="r">
              <a:lnSpc>
                <a:spcPts val="2520"/>
              </a:lnSpc>
              <a:spcBef>
                <a:spcPct val="0"/>
              </a:spcBef>
            </a:pPr>
            <a:r>
              <a:rPr lang="en-US" sz="1800">
                <a:solidFill>
                  <a:srgbClr val="4A4A4A"/>
                </a:solidFill>
                <a:latin typeface="True Typewriter"/>
                <a:ea typeface="True Typewriter"/>
                <a:cs typeface="True Typewriter"/>
                <a:sym typeface="True Typewriter"/>
              </a:rPr>
              <a:t>WWW.REALLYGREATSITE.COM</a:t>
            </a:r>
          </a:p>
        </p:txBody>
      </p:sp>
      <p:sp>
        <p:nvSpPr>
          <p:cNvPr name="TextBox 17" id="17"/>
          <p:cNvSpPr txBox="true"/>
          <p:nvPr/>
        </p:nvSpPr>
        <p:spPr>
          <a:xfrm rot="0">
            <a:off x="11094369" y="4111572"/>
            <a:ext cx="5625559" cy="3787140"/>
          </a:xfrm>
          <a:prstGeom prst="rect">
            <a:avLst/>
          </a:prstGeom>
        </p:spPr>
        <p:txBody>
          <a:bodyPr anchor="t" rtlCol="false" tIns="0" lIns="0" bIns="0" rIns="0">
            <a:spAutoFit/>
          </a:bodyPr>
          <a:lstStyle/>
          <a:p>
            <a:pPr algn="r">
              <a:lnSpc>
                <a:spcPts val="3359"/>
              </a:lnSpc>
            </a:pPr>
            <a:r>
              <a:rPr lang="en-US" sz="2399" spc="-23" strike="noStrike" u="none">
                <a:solidFill>
                  <a:srgbClr val="FFFEF6"/>
                </a:solidFill>
                <a:latin typeface="True Typewriter"/>
                <a:ea typeface="True Typewriter"/>
                <a:cs typeface="True Typewriter"/>
                <a:sym typeface="True Typewriter"/>
              </a:rPr>
              <a:t>Di sản của Chủ tịch Hồ Chí Minh không chỉ thuộc về dân tộc Việt Nam mà còn có ý nghĩa to lớn đối với nền hòa bình thế giới. Những bài học về đạo đức, phong cách sống và tư tưởng của Người vẫn còn nguyên giá trị giáo dục cho đến ngày nay. Đối với thế hệ trẻ, việc học tập và làm theo tấm gương của Người là động lực để không ngừng phấn đấu vì một tương lai bền vững.</a:t>
            </a:r>
          </a:p>
        </p:txBody>
      </p:sp>
      <p:sp>
        <p:nvSpPr>
          <p:cNvPr name="TextBox 18" id="18"/>
          <p:cNvSpPr txBox="true"/>
          <p:nvPr/>
        </p:nvSpPr>
        <p:spPr>
          <a:xfrm rot="0">
            <a:off x="8219046" y="2994912"/>
            <a:ext cx="8500882" cy="622935"/>
          </a:xfrm>
          <a:prstGeom prst="rect">
            <a:avLst/>
          </a:prstGeom>
        </p:spPr>
        <p:txBody>
          <a:bodyPr anchor="t" rtlCol="false" tIns="0" lIns="0" bIns="0" rIns="0">
            <a:spAutoFit/>
          </a:bodyPr>
          <a:lstStyle/>
          <a:p>
            <a:pPr algn="r">
              <a:lnSpc>
                <a:spcPts val="5040"/>
              </a:lnSpc>
            </a:pPr>
            <a:r>
              <a:rPr lang="en-US" sz="3600" spc="-504">
                <a:solidFill>
                  <a:srgbClr val="FFFEF6"/>
                </a:solidFill>
                <a:latin typeface="Barber FIll"/>
                <a:ea typeface="Barber FIll"/>
                <a:cs typeface="Barber FIll"/>
                <a:sym typeface="Barber FIll"/>
              </a:rPr>
              <a:t>VÀ Ý NGHĨA LỊCH SỬ</a:t>
            </a:r>
          </a:p>
        </p:txBody>
      </p:sp>
    </p:spTree>
  </p:cSld>
  <p:clrMapOvr>
    <a:masterClrMapping/>
  </p:clrMapOvr>
  <p:transition spd="med">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EF6"/>
        </a:solidFill>
      </p:bgPr>
    </p:bg>
    <p:spTree>
      <p:nvGrpSpPr>
        <p:cNvPr id="1" name=""/>
        <p:cNvGrpSpPr/>
        <p:nvPr/>
      </p:nvGrpSpPr>
      <p:grpSpPr>
        <a:xfrm>
          <a:off x="0" y="0"/>
          <a:ext cx="0" cy="0"/>
          <a:chOff x="0" y="0"/>
          <a:chExt cx="0" cy="0"/>
        </a:xfrm>
      </p:grpSpPr>
      <p:grpSp>
        <p:nvGrpSpPr>
          <p:cNvPr name="Group 2" id="2"/>
          <p:cNvGrpSpPr/>
          <p:nvPr/>
        </p:nvGrpSpPr>
        <p:grpSpPr>
          <a:xfrm rot="5400000">
            <a:off x="-2242434" y="1609810"/>
            <a:ext cx="13640666" cy="7699096"/>
            <a:chOff x="0" y="0"/>
            <a:chExt cx="18187554" cy="10265462"/>
          </a:xfrm>
        </p:grpSpPr>
        <p:sp>
          <p:nvSpPr>
            <p:cNvPr name="Freeform 3" id="3"/>
            <p:cNvSpPr/>
            <p:nvPr/>
          </p:nvSpPr>
          <p:spPr>
            <a:xfrm flipH="false" flipV="false" rot="0">
              <a:off x="0" y="0"/>
              <a:ext cx="9105240" cy="10265462"/>
            </a:xfrm>
            <a:custGeom>
              <a:avLst/>
              <a:gdLst/>
              <a:ahLst/>
              <a:cxnLst/>
              <a:rect r="r" b="b" t="t" l="l"/>
              <a:pathLst>
                <a:path h="10265462" w="9105240">
                  <a:moveTo>
                    <a:pt x="0" y="0"/>
                  </a:moveTo>
                  <a:lnTo>
                    <a:pt x="9105240" y="0"/>
                  </a:lnTo>
                  <a:lnTo>
                    <a:pt x="9105240" y="10265462"/>
                  </a:lnTo>
                  <a:lnTo>
                    <a:pt x="0" y="10265462"/>
                  </a:lnTo>
                  <a:lnTo>
                    <a:pt x="0" y="0"/>
                  </a:lnTo>
                  <a:close/>
                </a:path>
              </a:pathLst>
            </a:custGeom>
            <a:blipFill>
              <a:blip r:embed="rId2">
                <a:extLst>
                  <a:ext uri="{96DAC541-7B7A-43D3-8B79-37D633B846F1}">
                    <asvg:svgBlip xmlns:asvg="http://schemas.microsoft.com/office/drawing/2016/SVG/main" r:embed="rId3"/>
                  </a:ext>
                </a:extLst>
              </a:blip>
              <a:stretch>
                <a:fillRect l="0" t="0" r="-79711" b="0"/>
              </a:stretch>
            </a:blipFill>
          </p:spPr>
        </p:sp>
        <p:sp>
          <p:nvSpPr>
            <p:cNvPr name="Freeform 4" id="4"/>
            <p:cNvSpPr/>
            <p:nvPr/>
          </p:nvSpPr>
          <p:spPr>
            <a:xfrm flipH="true" flipV="false" rot="0">
              <a:off x="9082314" y="0"/>
              <a:ext cx="9105240" cy="10265462"/>
            </a:xfrm>
            <a:custGeom>
              <a:avLst/>
              <a:gdLst/>
              <a:ahLst/>
              <a:cxnLst/>
              <a:rect r="r" b="b" t="t" l="l"/>
              <a:pathLst>
                <a:path h="10265462" w="9105240">
                  <a:moveTo>
                    <a:pt x="9105240" y="0"/>
                  </a:moveTo>
                  <a:lnTo>
                    <a:pt x="0" y="0"/>
                  </a:lnTo>
                  <a:lnTo>
                    <a:pt x="0" y="10265462"/>
                  </a:lnTo>
                  <a:lnTo>
                    <a:pt x="9105240" y="10265462"/>
                  </a:lnTo>
                  <a:lnTo>
                    <a:pt x="9105240" y="0"/>
                  </a:lnTo>
                  <a:close/>
                </a:path>
              </a:pathLst>
            </a:custGeom>
            <a:blipFill>
              <a:blip r:embed="rId2">
                <a:extLst>
                  <a:ext uri="{96DAC541-7B7A-43D3-8B79-37D633B846F1}">
                    <asvg:svgBlip xmlns:asvg="http://schemas.microsoft.com/office/drawing/2016/SVG/main" r:embed="rId3"/>
                  </a:ext>
                </a:extLst>
              </a:blip>
              <a:stretch>
                <a:fillRect l="0" t="0" r="-79711" b="0"/>
              </a:stretch>
            </a:blipFill>
          </p:spPr>
        </p:sp>
      </p:grpSp>
      <p:sp>
        <p:nvSpPr>
          <p:cNvPr name="Freeform 5" id="5"/>
          <p:cNvSpPr/>
          <p:nvPr/>
        </p:nvSpPr>
        <p:spPr>
          <a:xfrm flipH="false" flipV="false" rot="0">
            <a:off x="2160607" y="1028700"/>
            <a:ext cx="5212080" cy="8229600"/>
          </a:xfrm>
          <a:custGeom>
            <a:avLst/>
            <a:gdLst/>
            <a:ahLst/>
            <a:cxnLst/>
            <a:rect r="r" b="b" t="t" l="l"/>
            <a:pathLst>
              <a:path h="8229600" w="5212080">
                <a:moveTo>
                  <a:pt x="0" y="0"/>
                </a:moveTo>
                <a:lnTo>
                  <a:pt x="5212080" y="0"/>
                </a:lnTo>
                <a:lnTo>
                  <a:pt x="5212080" y="8229600"/>
                </a:lnTo>
                <a:lnTo>
                  <a:pt x="0" y="8229600"/>
                </a:lnTo>
                <a:lnTo>
                  <a:pt x="0" y="0"/>
                </a:lnTo>
                <a:close/>
              </a:path>
            </a:pathLst>
          </a:custGeom>
          <a:blipFill>
            <a:blip r:embed="rId4"/>
            <a:stretch>
              <a:fillRect l="0" t="0" r="0" b="0"/>
            </a:stretch>
          </a:blipFill>
          <a:ln cap="sq">
            <a:noFill/>
            <a:prstDash val="solid"/>
            <a:miter/>
          </a:ln>
        </p:spPr>
      </p:sp>
      <p:sp>
        <p:nvSpPr>
          <p:cNvPr name="TextBox 6" id="6"/>
          <p:cNvSpPr txBox="true"/>
          <p:nvPr/>
        </p:nvSpPr>
        <p:spPr>
          <a:xfrm rot="0">
            <a:off x="10169844" y="3537732"/>
            <a:ext cx="7089456" cy="1642110"/>
          </a:xfrm>
          <a:prstGeom prst="rect">
            <a:avLst/>
          </a:prstGeom>
        </p:spPr>
        <p:txBody>
          <a:bodyPr anchor="t" rtlCol="false" tIns="0" lIns="0" bIns="0" rIns="0">
            <a:spAutoFit/>
          </a:bodyPr>
          <a:lstStyle/>
          <a:p>
            <a:pPr algn="r">
              <a:lnSpc>
                <a:spcPts val="13439"/>
              </a:lnSpc>
            </a:pPr>
            <a:r>
              <a:rPr lang="en-US" sz="9600" spc="-1248">
                <a:solidFill>
                  <a:srgbClr val="B63336"/>
                </a:solidFill>
                <a:latin typeface="Barber FIll"/>
                <a:ea typeface="Barber FIll"/>
                <a:cs typeface="Barber FIll"/>
                <a:sym typeface="Barber FIll"/>
              </a:rPr>
              <a:t>CẢM ƠN</a:t>
            </a:r>
          </a:p>
        </p:txBody>
      </p:sp>
      <p:sp>
        <p:nvSpPr>
          <p:cNvPr name="TextBox 7" id="7"/>
          <p:cNvSpPr txBox="true"/>
          <p:nvPr/>
        </p:nvSpPr>
        <p:spPr>
          <a:xfrm rot="0">
            <a:off x="9870508" y="5010150"/>
            <a:ext cx="7388792" cy="1226820"/>
          </a:xfrm>
          <a:prstGeom prst="rect">
            <a:avLst/>
          </a:prstGeom>
        </p:spPr>
        <p:txBody>
          <a:bodyPr anchor="t" rtlCol="false" tIns="0" lIns="0" bIns="0" rIns="0">
            <a:spAutoFit/>
          </a:bodyPr>
          <a:lstStyle/>
          <a:p>
            <a:pPr algn="r">
              <a:lnSpc>
                <a:spcPts val="10080"/>
              </a:lnSpc>
            </a:pPr>
            <a:r>
              <a:rPr lang="en-US" sz="7200" spc="-936">
                <a:solidFill>
                  <a:srgbClr val="4A4A4A"/>
                </a:solidFill>
                <a:latin typeface="Barber FIll"/>
                <a:ea typeface="Barber FIll"/>
                <a:cs typeface="Barber FIll"/>
                <a:sym typeface="Barber FIll"/>
              </a:rPr>
              <a:t>ĐÃ LẮNG NGHE</a:t>
            </a:r>
          </a:p>
        </p:txBody>
      </p:sp>
      <p:sp>
        <p:nvSpPr>
          <p:cNvPr name="TextBox 8" id="8"/>
          <p:cNvSpPr txBox="true"/>
          <p:nvPr/>
        </p:nvSpPr>
        <p:spPr>
          <a:xfrm rot="0">
            <a:off x="9333610" y="6371504"/>
            <a:ext cx="7925690" cy="853440"/>
          </a:xfrm>
          <a:prstGeom prst="rect">
            <a:avLst/>
          </a:prstGeom>
        </p:spPr>
        <p:txBody>
          <a:bodyPr anchor="t" rtlCol="false" tIns="0" lIns="0" bIns="0" rIns="0">
            <a:spAutoFit/>
          </a:bodyPr>
          <a:lstStyle/>
          <a:p>
            <a:pPr algn="r">
              <a:lnSpc>
                <a:spcPts val="3359"/>
              </a:lnSpc>
            </a:pPr>
            <a:r>
              <a:rPr lang="en-US" sz="2399" spc="-23">
                <a:solidFill>
                  <a:srgbClr val="4A4A4A"/>
                </a:solidFill>
                <a:latin typeface="True Typewriter"/>
                <a:ea typeface="True Typewriter"/>
                <a:cs typeface="True Typewriter"/>
                <a:sym typeface="True Typewriter"/>
              </a:rPr>
              <a:t>X</a:t>
            </a:r>
            <a:r>
              <a:rPr lang="en-US" sz="2399" spc="-23" strike="noStrike" u="none">
                <a:solidFill>
                  <a:srgbClr val="4A4A4A"/>
                </a:solidFill>
                <a:latin typeface="True Typewriter"/>
                <a:ea typeface="True Typewriter"/>
                <a:cs typeface="True Typewriter"/>
                <a:sym typeface="True Typewriter"/>
              </a:rPr>
              <a:t>in ch</a:t>
            </a:r>
            <a:r>
              <a:rPr lang="en-US" sz="2399" spc="-23" strike="noStrike" u="none">
                <a:solidFill>
                  <a:srgbClr val="4A4A4A"/>
                </a:solidFill>
                <a:latin typeface="True Typewriter"/>
                <a:ea typeface="True Typewriter"/>
                <a:cs typeface="True Typewriter"/>
                <a:sym typeface="True Typewriter"/>
              </a:rPr>
              <a:t>ân</a:t>
            </a:r>
            <a:r>
              <a:rPr lang="en-US" sz="2399" spc="-23" strike="noStrike" u="none">
                <a:solidFill>
                  <a:srgbClr val="4A4A4A"/>
                </a:solidFill>
                <a:latin typeface="True Typewriter"/>
                <a:ea typeface="True Typewriter"/>
                <a:cs typeface="True Typewriter"/>
                <a:sym typeface="True Typewriter"/>
              </a:rPr>
              <a:t> th</a:t>
            </a:r>
            <a:r>
              <a:rPr lang="en-US" sz="2399" spc="-23" strike="noStrike" u="none">
                <a:solidFill>
                  <a:srgbClr val="4A4A4A"/>
                </a:solidFill>
                <a:latin typeface="True Typewriter"/>
                <a:ea typeface="True Typewriter"/>
                <a:cs typeface="True Typewriter"/>
                <a:sym typeface="True Typewriter"/>
              </a:rPr>
              <a:t>à</a:t>
            </a:r>
            <a:r>
              <a:rPr lang="en-US" sz="2399" spc="-23" strike="noStrike" u="none">
                <a:solidFill>
                  <a:srgbClr val="4A4A4A"/>
                </a:solidFill>
                <a:latin typeface="True Typewriter"/>
                <a:ea typeface="True Typewriter"/>
                <a:cs typeface="True Typewriter"/>
                <a:sym typeface="True Typewriter"/>
              </a:rPr>
              <a:t>nh c</a:t>
            </a:r>
            <a:r>
              <a:rPr lang="en-US" sz="2399" spc="-23" strike="noStrike" u="none">
                <a:solidFill>
                  <a:srgbClr val="4A4A4A"/>
                </a:solidFill>
                <a:latin typeface="True Typewriter"/>
                <a:ea typeface="True Typewriter"/>
                <a:cs typeface="True Typewriter"/>
                <a:sym typeface="True Typewriter"/>
              </a:rPr>
              <a:t>ả</a:t>
            </a:r>
            <a:r>
              <a:rPr lang="en-US" sz="2399" spc="-23" strike="noStrike" u="none">
                <a:solidFill>
                  <a:srgbClr val="4A4A4A"/>
                </a:solidFill>
                <a:latin typeface="True Typewriter"/>
                <a:ea typeface="True Typewriter"/>
                <a:cs typeface="True Typewriter"/>
                <a:sym typeface="True Typewriter"/>
              </a:rPr>
              <a:t>m </a:t>
            </a:r>
            <a:r>
              <a:rPr lang="en-US" sz="2399" spc="-23" strike="noStrike" u="none">
                <a:solidFill>
                  <a:srgbClr val="4A4A4A"/>
                </a:solidFill>
                <a:latin typeface="True Typewriter"/>
                <a:ea typeface="True Typewriter"/>
                <a:cs typeface="True Typewriter"/>
                <a:sym typeface="True Typewriter"/>
              </a:rPr>
              <a:t>ơ</a:t>
            </a:r>
            <a:r>
              <a:rPr lang="en-US" sz="2399" spc="-23" strike="noStrike" u="none">
                <a:solidFill>
                  <a:srgbClr val="4A4A4A"/>
                </a:solidFill>
                <a:latin typeface="True Typewriter"/>
                <a:ea typeface="True Typewriter"/>
                <a:cs typeface="True Typewriter"/>
                <a:sym typeface="True Typewriter"/>
              </a:rPr>
              <a:t>n </a:t>
            </a:r>
            <a:r>
              <a:rPr lang="en-US" sz="2399" spc="-23" strike="noStrike" u="none">
                <a:solidFill>
                  <a:srgbClr val="4A4A4A"/>
                </a:solidFill>
                <a:latin typeface="True Typewriter"/>
                <a:ea typeface="True Typewriter"/>
                <a:cs typeface="True Typewriter"/>
                <a:sym typeface="True Typewriter"/>
              </a:rPr>
              <a:t>qu</a:t>
            </a:r>
            <a:r>
              <a:rPr lang="en-US" sz="2399" spc="-23" strike="noStrike" u="none">
                <a:solidFill>
                  <a:srgbClr val="4A4A4A"/>
                </a:solidFill>
                <a:latin typeface="True Typewriter"/>
                <a:ea typeface="True Typewriter"/>
                <a:cs typeface="True Typewriter"/>
                <a:sym typeface="True Typewriter"/>
              </a:rPr>
              <a:t>ý </a:t>
            </a:r>
            <a:r>
              <a:rPr lang="en-US" sz="2399" spc="-23" strike="noStrike" u="none">
                <a:solidFill>
                  <a:srgbClr val="4A4A4A"/>
                </a:solidFill>
                <a:latin typeface="True Typewriter"/>
                <a:ea typeface="True Typewriter"/>
                <a:cs typeface="True Typewriter"/>
                <a:sym typeface="True Typewriter"/>
              </a:rPr>
              <a:t>k</a:t>
            </a:r>
            <a:r>
              <a:rPr lang="en-US" sz="2399" spc="-23" strike="noStrike" u="none">
                <a:solidFill>
                  <a:srgbClr val="4A4A4A"/>
                </a:solidFill>
                <a:latin typeface="True Typewriter"/>
                <a:ea typeface="True Typewriter"/>
                <a:cs typeface="True Typewriter"/>
                <a:sym typeface="True Typewriter"/>
              </a:rPr>
              <a:t>h</a:t>
            </a:r>
            <a:r>
              <a:rPr lang="en-US" sz="2399" spc="-23" strike="noStrike" u="none">
                <a:solidFill>
                  <a:srgbClr val="4A4A4A"/>
                </a:solidFill>
                <a:latin typeface="True Typewriter"/>
                <a:ea typeface="True Typewriter"/>
                <a:cs typeface="True Typewriter"/>
                <a:sym typeface="True Typewriter"/>
              </a:rPr>
              <a:t>á</a:t>
            </a:r>
            <a:r>
              <a:rPr lang="en-US" sz="2399" spc="-23" strike="noStrike" u="none">
                <a:solidFill>
                  <a:srgbClr val="4A4A4A"/>
                </a:solidFill>
                <a:latin typeface="True Typewriter"/>
                <a:ea typeface="True Typewriter"/>
                <a:cs typeface="True Typewriter"/>
                <a:sym typeface="True Typewriter"/>
              </a:rPr>
              <a:t>n </a:t>
            </a:r>
            <a:r>
              <a:rPr lang="en-US" sz="2399" spc="-23" strike="noStrike" u="none">
                <a:solidFill>
                  <a:srgbClr val="4A4A4A"/>
                </a:solidFill>
                <a:latin typeface="True Typewriter"/>
                <a:ea typeface="True Typewriter"/>
                <a:cs typeface="True Typewriter"/>
                <a:sym typeface="True Typewriter"/>
              </a:rPr>
              <a:t>g</a:t>
            </a:r>
            <a:r>
              <a:rPr lang="en-US" sz="2399" spc="-23" strike="noStrike" u="none">
                <a:solidFill>
                  <a:srgbClr val="4A4A4A"/>
                </a:solidFill>
                <a:latin typeface="True Typewriter"/>
                <a:ea typeface="True Typewriter"/>
                <a:cs typeface="True Typewriter"/>
                <a:sym typeface="True Typewriter"/>
              </a:rPr>
              <a:t>i</a:t>
            </a:r>
            <a:r>
              <a:rPr lang="en-US" sz="2399" spc="-23" strike="noStrike" u="none">
                <a:solidFill>
                  <a:srgbClr val="4A4A4A"/>
                </a:solidFill>
                <a:latin typeface="True Typewriter"/>
                <a:ea typeface="True Typewriter"/>
                <a:cs typeface="True Typewriter"/>
                <a:sym typeface="True Typewriter"/>
              </a:rPr>
              <a:t>ả</a:t>
            </a:r>
            <a:r>
              <a:rPr lang="en-US" sz="2399" spc="-23" strike="noStrike" u="none">
                <a:solidFill>
                  <a:srgbClr val="4A4A4A"/>
                </a:solidFill>
                <a:latin typeface="True Typewriter"/>
                <a:ea typeface="True Typewriter"/>
                <a:cs typeface="True Typewriter"/>
                <a:sym typeface="True Typewriter"/>
              </a:rPr>
              <a:t> </a:t>
            </a:r>
            <a:r>
              <a:rPr lang="en-US" sz="2399" spc="-23" strike="noStrike" u="none">
                <a:solidFill>
                  <a:srgbClr val="4A4A4A"/>
                </a:solidFill>
                <a:latin typeface="True Typewriter"/>
                <a:ea typeface="True Typewriter"/>
                <a:cs typeface="True Typewriter"/>
                <a:sym typeface="True Typewriter"/>
              </a:rPr>
              <a:t>đã</a:t>
            </a:r>
            <a:r>
              <a:rPr lang="en-US" sz="2399" spc="-23" strike="noStrike" u="none">
                <a:solidFill>
                  <a:srgbClr val="4A4A4A"/>
                </a:solidFill>
                <a:latin typeface="True Typewriter"/>
                <a:ea typeface="True Typewriter"/>
                <a:cs typeface="True Typewriter"/>
                <a:sym typeface="True Typewriter"/>
              </a:rPr>
              <a:t> </a:t>
            </a:r>
            <a:r>
              <a:rPr lang="en-US" sz="2399" spc="-23" strike="noStrike" u="none">
                <a:solidFill>
                  <a:srgbClr val="4A4A4A"/>
                </a:solidFill>
                <a:latin typeface="True Typewriter"/>
                <a:ea typeface="True Typewriter"/>
                <a:cs typeface="True Typewriter"/>
                <a:sym typeface="True Typewriter"/>
              </a:rPr>
              <a:t>dà</a:t>
            </a:r>
            <a:r>
              <a:rPr lang="en-US" sz="2399" spc="-23" strike="noStrike" u="none">
                <a:solidFill>
                  <a:srgbClr val="4A4A4A"/>
                </a:solidFill>
                <a:latin typeface="True Typewriter"/>
                <a:ea typeface="True Typewriter"/>
                <a:cs typeface="True Typewriter"/>
                <a:sym typeface="True Typewriter"/>
              </a:rPr>
              <a:t>nh th</a:t>
            </a:r>
            <a:r>
              <a:rPr lang="en-US" sz="2399" spc="-23" strike="noStrike" u="none">
                <a:solidFill>
                  <a:srgbClr val="4A4A4A"/>
                </a:solidFill>
                <a:latin typeface="True Typewriter"/>
                <a:ea typeface="True Typewriter"/>
                <a:cs typeface="True Typewriter"/>
                <a:sym typeface="True Typewriter"/>
              </a:rPr>
              <a:t>ờ</a:t>
            </a:r>
            <a:r>
              <a:rPr lang="en-US" sz="2399" spc="-23" strike="noStrike" u="none">
                <a:solidFill>
                  <a:srgbClr val="4A4A4A"/>
                </a:solidFill>
                <a:latin typeface="True Typewriter"/>
                <a:ea typeface="True Typewriter"/>
                <a:cs typeface="True Typewriter"/>
                <a:sym typeface="True Typewriter"/>
              </a:rPr>
              <a:t>i gian t</a:t>
            </a:r>
            <a:r>
              <a:rPr lang="en-US" sz="2399" spc="-23" strike="noStrike" u="none">
                <a:solidFill>
                  <a:srgbClr val="4A4A4A"/>
                </a:solidFill>
                <a:latin typeface="True Typewriter"/>
                <a:ea typeface="True Typewriter"/>
                <a:cs typeface="True Typewriter"/>
                <a:sym typeface="True Typewriter"/>
              </a:rPr>
              <a:t>he</a:t>
            </a:r>
            <a:r>
              <a:rPr lang="en-US" sz="2399" spc="-23" strike="noStrike" u="none">
                <a:solidFill>
                  <a:srgbClr val="4A4A4A"/>
                </a:solidFill>
                <a:latin typeface="True Typewriter"/>
                <a:ea typeface="True Typewriter"/>
                <a:cs typeface="True Typewriter"/>
                <a:sym typeface="True Typewriter"/>
              </a:rPr>
              <a:t>o d</a:t>
            </a:r>
            <a:r>
              <a:rPr lang="en-US" sz="2399" spc="-23" strike="noStrike" u="none">
                <a:solidFill>
                  <a:srgbClr val="4A4A4A"/>
                </a:solidFill>
                <a:latin typeface="True Typewriter"/>
                <a:ea typeface="True Typewriter"/>
                <a:cs typeface="True Typewriter"/>
                <a:sym typeface="True Typewriter"/>
              </a:rPr>
              <a:t>õi</a:t>
            </a:r>
            <a:r>
              <a:rPr lang="en-US" sz="2399" spc="-23" strike="noStrike" u="none">
                <a:solidFill>
                  <a:srgbClr val="4A4A4A"/>
                </a:solidFill>
                <a:latin typeface="True Typewriter"/>
                <a:ea typeface="True Typewriter"/>
                <a:cs typeface="True Typewriter"/>
                <a:sym typeface="True Typewriter"/>
              </a:rPr>
              <a:t> </a:t>
            </a:r>
            <a:r>
              <a:rPr lang="en-US" sz="2399" spc="-23" strike="noStrike" u="none">
                <a:solidFill>
                  <a:srgbClr val="4A4A4A"/>
                </a:solidFill>
                <a:latin typeface="True Typewriter"/>
                <a:ea typeface="True Typewriter"/>
                <a:cs typeface="True Typewriter"/>
                <a:sym typeface="True Typewriter"/>
              </a:rPr>
              <a:t>b</a:t>
            </a:r>
            <a:r>
              <a:rPr lang="en-US" sz="2399" spc="-23" strike="noStrike" u="none">
                <a:solidFill>
                  <a:srgbClr val="4A4A4A"/>
                </a:solidFill>
                <a:latin typeface="True Typewriter"/>
                <a:ea typeface="True Typewriter"/>
                <a:cs typeface="True Typewriter"/>
                <a:sym typeface="True Typewriter"/>
              </a:rPr>
              <a:t>ài th</a:t>
            </a:r>
            <a:r>
              <a:rPr lang="en-US" sz="2399" spc="-23" strike="noStrike" u="none">
                <a:solidFill>
                  <a:srgbClr val="4A4A4A"/>
                </a:solidFill>
                <a:latin typeface="True Typewriter"/>
                <a:ea typeface="True Typewriter"/>
                <a:cs typeface="True Typewriter"/>
                <a:sym typeface="True Typewriter"/>
              </a:rPr>
              <a:t>uy</a:t>
            </a:r>
            <a:r>
              <a:rPr lang="en-US" sz="2399" spc="-23" strike="noStrike" u="none">
                <a:solidFill>
                  <a:srgbClr val="4A4A4A"/>
                </a:solidFill>
                <a:latin typeface="True Typewriter"/>
                <a:ea typeface="True Typewriter"/>
                <a:cs typeface="True Typewriter"/>
                <a:sym typeface="True Typewriter"/>
              </a:rPr>
              <a:t>ế</a:t>
            </a:r>
            <a:r>
              <a:rPr lang="en-US" sz="2399" spc="-23" strike="noStrike" u="none">
                <a:solidFill>
                  <a:srgbClr val="4A4A4A"/>
                </a:solidFill>
                <a:latin typeface="True Typewriter"/>
                <a:ea typeface="True Typewriter"/>
                <a:cs typeface="True Typewriter"/>
                <a:sym typeface="True Typewriter"/>
              </a:rPr>
              <a:t>t</a:t>
            </a:r>
            <a:r>
              <a:rPr lang="en-US" sz="2399" spc="-23" strike="noStrike" u="none">
                <a:solidFill>
                  <a:srgbClr val="4A4A4A"/>
                </a:solidFill>
                <a:latin typeface="True Typewriter"/>
                <a:ea typeface="True Typewriter"/>
                <a:cs typeface="True Typewriter"/>
                <a:sym typeface="True Typewriter"/>
              </a:rPr>
              <a:t> tr</a:t>
            </a:r>
            <a:r>
              <a:rPr lang="en-US" sz="2399" spc="-23" strike="noStrike" u="none">
                <a:solidFill>
                  <a:srgbClr val="4A4A4A"/>
                </a:solidFill>
                <a:latin typeface="True Typewriter"/>
                <a:ea typeface="True Typewriter"/>
                <a:cs typeface="True Typewriter"/>
                <a:sym typeface="True Typewriter"/>
              </a:rPr>
              <a:t>ìn</a:t>
            </a:r>
            <a:r>
              <a:rPr lang="en-US" sz="2399" spc="-23" strike="noStrike" u="none">
                <a:solidFill>
                  <a:srgbClr val="4A4A4A"/>
                </a:solidFill>
                <a:latin typeface="True Typewriter"/>
                <a:ea typeface="True Typewriter"/>
                <a:cs typeface="True Typewriter"/>
                <a:sym typeface="True Typewriter"/>
              </a:rPr>
              <a:t>h v</a:t>
            </a:r>
            <a:r>
              <a:rPr lang="en-US" sz="2399" spc="-23" strike="noStrike" u="none">
                <a:solidFill>
                  <a:srgbClr val="4A4A4A"/>
                </a:solidFill>
                <a:latin typeface="True Typewriter"/>
                <a:ea typeface="True Typewriter"/>
                <a:cs typeface="True Typewriter"/>
                <a:sym typeface="True Typewriter"/>
              </a:rPr>
              <a:t>ề</a:t>
            </a:r>
            <a:r>
              <a:rPr lang="en-US" sz="2399" spc="-23" strike="noStrike" u="none">
                <a:solidFill>
                  <a:srgbClr val="4A4A4A"/>
                </a:solidFill>
                <a:latin typeface="True Typewriter"/>
                <a:ea typeface="True Typewriter"/>
                <a:cs typeface="True Typewriter"/>
                <a:sym typeface="True Typewriter"/>
              </a:rPr>
              <a:t> </a:t>
            </a:r>
            <a:r>
              <a:rPr lang="en-US" sz="2399" spc="-23" strike="noStrike" u="none">
                <a:solidFill>
                  <a:srgbClr val="4A4A4A"/>
                </a:solidFill>
                <a:latin typeface="True Typewriter"/>
                <a:ea typeface="True Typewriter"/>
                <a:cs typeface="True Typewriter"/>
                <a:sym typeface="True Typewriter"/>
              </a:rPr>
              <a:t>cuộ</a:t>
            </a:r>
            <a:r>
              <a:rPr lang="en-US" sz="2399" spc="-23" strike="noStrike" u="none">
                <a:solidFill>
                  <a:srgbClr val="4A4A4A"/>
                </a:solidFill>
                <a:latin typeface="True Typewriter"/>
                <a:ea typeface="True Typewriter"/>
                <a:cs typeface="True Typewriter"/>
                <a:sym typeface="True Typewriter"/>
              </a:rPr>
              <a:t>c </a:t>
            </a:r>
            <a:r>
              <a:rPr lang="en-US" sz="2399" spc="-23" strike="noStrike" u="none">
                <a:solidFill>
                  <a:srgbClr val="4A4A4A"/>
                </a:solidFill>
                <a:latin typeface="True Typewriter"/>
                <a:ea typeface="True Typewriter"/>
                <a:cs typeface="True Typewriter"/>
                <a:sym typeface="True Typewriter"/>
              </a:rPr>
              <a:t>đ</a:t>
            </a:r>
            <a:r>
              <a:rPr lang="en-US" sz="2399" spc="-23" strike="noStrike" u="none">
                <a:solidFill>
                  <a:srgbClr val="4A4A4A"/>
                </a:solidFill>
                <a:latin typeface="True Typewriter"/>
                <a:ea typeface="True Typewriter"/>
                <a:cs typeface="True Typewriter"/>
                <a:sym typeface="True Typewriter"/>
              </a:rPr>
              <a:t>ời </a:t>
            </a:r>
            <a:r>
              <a:rPr lang="en-US" sz="2399" spc="-23" strike="noStrike" u="none">
                <a:solidFill>
                  <a:srgbClr val="4A4A4A"/>
                </a:solidFill>
                <a:latin typeface="True Typewriter"/>
                <a:ea typeface="True Typewriter"/>
                <a:cs typeface="True Typewriter"/>
                <a:sym typeface="True Typewriter"/>
              </a:rPr>
              <a:t>Chủ</a:t>
            </a:r>
            <a:r>
              <a:rPr lang="en-US" sz="2399" spc="-23" strike="noStrike" u="none">
                <a:solidFill>
                  <a:srgbClr val="4A4A4A"/>
                </a:solidFill>
                <a:latin typeface="True Typewriter"/>
                <a:ea typeface="True Typewriter"/>
                <a:cs typeface="True Typewriter"/>
                <a:sym typeface="True Typewriter"/>
              </a:rPr>
              <a:t> </a:t>
            </a:r>
            <a:r>
              <a:rPr lang="en-US" sz="2399" spc="-23" strike="noStrike" u="none">
                <a:solidFill>
                  <a:srgbClr val="4A4A4A"/>
                </a:solidFill>
                <a:latin typeface="True Typewriter"/>
                <a:ea typeface="True Typewriter"/>
                <a:cs typeface="True Typewriter"/>
                <a:sym typeface="True Typewriter"/>
              </a:rPr>
              <a:t>tị</a:t>
            </a:r>
            <a:r>
              <a:rPr lang="en-US" sz="2399" spc="-23" strike="noStrike" u="none">
                <a:solidFill>
                  <a:srgbClr val="4A4A4A"/>
                </a:solidFill>
                <a:latin typeface="True Typewriter"/>
                <a:ea typeface="True Typewriter"/>
                <a:cs typeface="True Typewriter"/>
                <a:sym typeface="True Typewriter"/>
              </a:rPr>
              <a:t>ch </a:t>
            </a:r>
            <a:r>
              <a:rPr lang="en-US" sz="2399" spc="-23" strike="noStrike" u="none">
                <a:solidFill>
                  <a:srgbClr val="4A4A4A"/>
                </a:solidFill>
                <a:latin typeface="True Typewriter"/>
                <a:ea typeface="True Typewriter"/>
                <a:cs typeface="True Typewriter"/>
                <a:sym typeface="True Typewriter"/>
              </a:rPr>
              <a:t>Hồ</a:t>
            </a:r>
            <a:r>
              <a:rPr lang="en-US" sz="2399" spc="-23" strike="noStrike" u="none">
                <a:solidFill>
                  <a:srgbClr val="4A4A4A"/>
                </a:solidFill>
                <a:latin typeface="True Typewriter"/>
                <a:ea typeface="True Typewriter"/>
                <a:cs typeface="True Typewriter"/>
                <a:sym typeface="True Typewriter"/>
              </a:rPr>
              <a:t> </a:t>
            </a:r>
            <a:r>
              <a:rPr lang="en-US" sz="2399" spc="-23" strike="noStrike" u="none">
                <a:solidFill>
                  <a:srgbClr val="4A4A4A"/>
                </a:solidFill>
                <a:latin typeface="True Typewriter"/>
                <a:ea typeface="True Typewriter"/>
                <a:cs typeface="True Typewriter"/>
                <a:sym typeface="True Typewriter"/>
              </a:rPr>
              <a:t>C</a:t>
            </a:r>
            <a:r>
              <a:rPr lang="en-US" sz="2399" spc="-23" strike="noStrike" u="none">
                <a:solidFill>
                  <a:srgbClr val="4A4A4A"/>
                </a:solidFill>
                <a:latin typeface="True Typewriter"/>
                <a:ea typeface="True Typewriter"/>
                <a:cs typeface="True Typewriter"/>
                <a:sym typeface="True Typewriter"/>
              </a:rPr>
              <a:t>h</a:t>
            </a:r>
            <a:r>
              <a:rPr lang="en-US" sz="2399" spc="-23" strike="noStrike" u="none">
                <a:solidFill>
                  <a:srgbClr val="4A4A4A"/>
                </a:solidFill>
                <a:latin typeface="True Typewriter"/>
                <a:ea typeface="True Typewriter"/>
                <a:cs typeface="True Typewriter"/>
                <a:sym typeface="True Typewriter"/>
              </a:rPr>
              <a:t>í</a:t>
            </a:r>
            <a:r>
              <a:rPr lang="en-US" sz="2399" spc="-23" strike="noStrike" u="none">
                <a:solidFill>
                  <a:srgbClr val="4A4A4A"/>
                </a:solidFill>
                <a:latin typeface="True Typewriter"/>
                <a:ea typeface="True Typewriter"/>
                <a:cs typeface="True Typewriter"/>
                <a:sym typeface="True Typewriter"/>
              </a:rPr>
              <a:t> </a:t>
            </a:r>
            <a:r>
              <a:rPr lang="en-US" sz="2399" spc="-23" strike="noStrike" u="none">
                <a:solidFill>
                  <a:srgbClr val="4A4A4A"/>
                </a:solidFill>
                <a:latin typeface="True Typewriter"/>
                <a:ea typeface="True Typewriter"/>
                <a:cs typeface="True Typewriter"/>
                <a:sym typeface="True Typewriter"/>
              </a:rPr>
              <a:t>M</a:t>
            </a:r>
            <a:r>
              <a:rPr lang="en-US" sz="2399" spc="-23" strike="noStrike" u="none">
                <a:solidFill>
                  <a:srgbClr val="4A4A4A"/>
                </a:solidFill>
                <a:latin typeface="True Typewriter"/>
                <a:ea typeface="True Typewriter"/>
                <a:cs typeface="True Typewriter"/>
                <a:sym typeface="True Typewriter"/>
              </a:rPr>
              <a:t>in</a:t>
            </a:r>
            <a:r>
              <a:rPr lang="en-US" sz="2399" spc="-23" strike="noStrike" u="none">
                <a:solidFill>
                  <a:srgbClr val="4A4A4A"/>
                </a:solidFill>
                <a:latin typeface="True Typewriter"/>
                <a:ea typeface="True Typewriter"/>
                <a:cs typeface="True Typewriter"/>
                <a:sym typeface="True Typewriter"/>
              </a:rPr>
              <a:t>h</a:t>
            </a:r>
            <a:r>
              <a:rPr lang="en-US" sz="2399" spc="-23" strike="noStrike" u="none">
                <a:solidFill>
                  <a:srgbClr val="4A4A4A"/>
                </a:solidFill>
                <a:latin typeface="True Typewriter"/>
                <a:ea typeface="True Typewriter"/>
                <a:cs typeface="True Typewriter"/>
                <a:sym typeface="True Typewriter"/>
              </a:rPr>
              <a:t>.</a:t>
            </a:r>
          </a:p>
        </p:txBody>
      </p:sp>
      <p:sp>
        <p:nvSpPr>
          <p:cNvPr name="TextBox 9" id="9"/>
          <p:cNvSpPr txBox="true"/>
          <p:nvPr/>
        </p:nvSpPr>
        <p:spPr>
          <a:xfrm rot="0">
            <a:off x="2160607" y="5757871"/>
            <a:ext cx="2858878" cy="1467073"/>
          </a:xfrm>
          <a:prstGeom prst="rect">
            <a:avLst/>
          </a:prstGeom>
        </p:spPr>
        <p:txBody>
          <a:bodyPr anchor="t" rtlCol="false" tIns="0" lIns="0" bIns="0" rIns="0">
            <a:spAutoFit/>
          </a:bodyPr>
          <a:lstStyle/>
          <a:p>
            <a:pPr algn="l">
              <a:lnSpc>
                <a:spcPts val="5971"/>
              </a:lnSpc>
            </a:pPr>
            <a:r>
              <a:rPr lang="en-US" sz="4265" spc="-42">
                <a:solidFill>
                  <a:srgbClr val="FFFEF6"/>
                </a:solidFill>
                <a:latin typeface="Luxurious Script"/>
                <a:ea typeface="Luxurious Script"/>
                <a:cs typeface="Luxurious Script"/>
                <a:sym typeface="Luxurious Script"/>
              </a:rPr>
              <a:t>“Không có gì quý hơn độc lập tự do”</a:t>
            </a:r>
          </a:p>
        </p:txBody>
      </p:sp>
      <p:sp>
        <p:nvSpPr>
          <p:cNvPr name="TextBox 10" id="10"/>
          <p:cNvSpPr txBox="true"/>
          <p:nvPr/>
        </p:nvSpPr>
        <p:spPr>
          <a:xfrm rot="0">
            <a:off x="14950243" y="678404"/>
            <a:ext cx="2309057" cy="350296"/>
          </a:xfrm>
          <a:prstGeom prst="rect">
            <a:avLst/>
          </a:prstGeom>
        </p:spPr>
        <p:txBody>
          <a:bodyPr anchor="t" rtlCol="false" tIns="0" lIns="0" bIns="0" rIns="0">
            <a:spAutoFit/>
          </a:bodyPr>
          <a:lstStyle/>
          <a:p>
            <a:pPr algn="r" marL="0" indent="0" lvl="0">
              <a:lnSpc>
                <a:spcPts val="2520"/>
              </a:lnSpc>
              <a:spcBef>
                <a:spcPct val="0"/>
              </a:spcBef>
            </a:pPr>
            <a:r>
              <a:rPr lang="en-US" sz="1800" strike="noStrike" u="none">
                <a:solidFill>
                  <a:srgbClr val="4A4A4A"/>
                </a:solidFill>
                <a:latin typeface="True Typewriter"/>
                <a:ea typeface="True Typewriter"/>
                <a:cs typeface="True Typewriter"/>
                <a:sym typeface="True Typewriter"/>
              </a:rPr>
              <a:t>LỊCH SỬ VIỆT NAM</a:t>
            </a:r>
          </a:p>
        </p:txBody>
      </p:sp>
      <p:sp>
        <p:nvSpPr>
          <p:cNvPr name="TextBox 11" id="11"/>
          <p:cNvSpPr txBox="true"/>
          <p:nvPr/>
        </p:nvSpPr>
        <p:spPr>
          <a:xfrm rot="0">
            <a:off x="14372078" y="9182100"/>
            <a:ext cx="2887222" cy="344805"/>
          </a:xfrm>
          <a:prstGeom prst="rect">
            <a:avLst/>
          </a:prstGeom>
        </p:spPr>
        <p:txBody>
          <a:bodyPr anchor="t" rtlCol="false" tIns="0" lIns="0" bIns="0" rIns="0">
            <a:spAutoFit/>
          </a:bodyPr>
          <a:lstStyle/>
          <a:p>
            <a:pPr algn="r">
              <a:lnSpc>
                <a:spcPts val="2520"/>
              </a:lnSpc>
              <a:spcBef>
                <a:spcPct val="0"/>
              </a:spcBef>
            </a:pPr>
            <a:r>
              <a:rPr lang="en-US" sz="1800">
                <a:solidFill>
                  <a:srgbClr val="4A4A4A"/>
                </a:solidFill>
                <a:latin typeface="True Typewriter"/>
                <a:ea typeface="True Typewriter"/>
                <a:cs typeface="True Typewriter"/>
                <a:sym typeface="True Typewriter"/>
              </a:rPr>
              <a:t>WWW.REALLYGREATSITE.COM</a:t>
            </a:r>
          </a:p>
        </p:txBody>
      </p:sp>
      <p:pic>
        <p:nvPicPr>
          <p:cNvPr name="Picture 12" id="12"/>
          <p:cNvPicPr>
            <a:picLocks noChangeAspect="true"/>
          </p:cNvPicPr>
          <p:nvPr/>
        </p:nvPicPr>
        <p:blipFill>
          <a:blip r:embed="rId5"/>
          <a:srcRect l="0" t="0" r="0" b="0"/>
          <a:stretch>
            <a:fillRect/>
          </a:stretch>
        </p:blipFill>
        <p:spPr>
          <a:xfrm flipH="false" flipV="false" rot="0">
            <a:off x="-1869508" y="7698911"/>
            <a:ext cx="11013508" cy="6291466"/>
          </a:xfrm>
          <a:prstGeom prst="rect">
            <a:avLst/>
          </a:prstGeom>
        </p:spPr>
      </p:pic>
      <p:sp>
        <p:nvSpPr>
          <p:cNvPr name="Freeform 13" id="13"/>
          <p:cNvSpPr/>
          <p:nvPr/>
        </p:nvSpPr>
        <p:spPr>
          <a:xfrm flipH="false" flipV="false" rot="0">
            <a:off x="-2129627" y="7032188"/>
            <a:ext cx="5766873" cy="3969439"/>
          </a:xfrm>
          <a:custGeom>
            <a:avLst/>
            <a:gdLst/>
            <a:ahLst/>
            <a:cxnLst/>
            <a:rect r="r" b="b" t="t" l="l"/>
            <a:pathLst>
              <a:path h="3969439" w="5766873">
                <a:moveTo>
                  <a:pt x="0" y="0"/>
                </a:moveTo>
                <a:lnTo>
                  <a:pt x="5766873" y="0"/>
                </a:lnTo>
                <a:lnTo>
                  <a:pt x="5766873" y="3969439"/>
                </a:lnTo>
                <a:lnTo>
                  <a:pt x="0" y="3969439"/>
                </a:lnTo>
                <a:lnTo>
                  <a:pt x="0" y="0"/>
                </a:lnTo>
                <a:close/>
              </a:path>
            </a:pathLst>
          </a:custGeom>
          <a:blipFill>
            <a:blip r:embed="rId6"/>
            <a:stretch>
              <a:fillRect l="-64044" t="-24852" r="-62162" b="-60006"/>
            </a:stretch>
          </a:blipFill>
        </p:spPr>
      </p:sp>
      <p:sp>
        <p:nvSpPr>
          <p:cNvPr name="TextBox 14" id="14"/>
          <p:cNvSpPr txBox="true"/>
          <p:nvPr/>
        </p:nvSpPr>
        <p:spPr>
          <a:xfrm rot="0">
            <a:off x="9441988" y="9182100"/>
            <a:ext cx="3958538" cy="344805"/>
          </a:xfrm>
          <a:prstGeom prst="rect">
            <a:avLst/>
          </a:prstGeom>
        </p:spPr>
        <p:txBody>
          <a:bodyPr anchor="t" rtlCol="false" tIns="0" lIns="0" bIns="0" rIns="0">
            <a:spAutoFit/>
          </a:bodyPr>
          <a:lstStyle/>
          <a:p>
            <a:pPr algn="l">
              <a:lnSpc>
                <a:spcPts val="2520"/>
              </a:lnSpc>
              <a:spcBef>
                <a:spcPct val="0"/>
              </a:spcBef>
            </a:pPr>
            <a:r>
              <a:rPr lang="en-US" sz="1800">
                <a:solidFill>
                  <a:srgbClr val="4A4A4A"/>
                </a:solidFill>
                <a:latin typeface="True Typewriter"/>
                <a:ea typeface="True Typewriter"/>
                <a:cs typeface="True Typewriter"/>
                <a:sym typeface="True Typewriter"/>
              </a:rPr>
              <a:t>GIÁO VIÊN THỰC HIỆN: NGUYỄN HƯƠNG LY</a:t>
            </a:r>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DAHV6ctdw7M</dc:identifier>
  <dcterms:modified xsi:type="dcterms:W3CDTF">2011-08-01T06:04:30Z</dcterms:modified>
  <cp:revision>1</cp:revision>
  <dc:title>Yellow Blue and Green Modern Client Relationship Management Infographic Presentation</dc:title>
</cp:coreProperties>
</file>